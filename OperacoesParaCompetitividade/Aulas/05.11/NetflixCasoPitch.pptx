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50914"/>
                </a:solidFill>
                <a:latin typeface="Helvetica Neue"/>
              </a:rPr>
              <a:t>NETFLIX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Caso de cancelamento de assinaturas ·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Helvetica Neue"/>
              </a:rPr>
              <a:t>Plano de recuperação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Helvetica Neue"/>
              </a:rPr>
              <a:t>de assinantes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4D4D4"/>
                </a:solidFill>
                <a:latin typeface="Helvetica Neue"/>
              </a:rPr>
              <a:t>Ishikawa  ›  Pareto  ›  5W2H  ›  PDCA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4114800" cy="36576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Helvetica Neue"/>
              </a:rPr>
              <a:t>Operações para Competitividade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10.05.2026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54864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Helvetica Neue"/>
              </a:rPr>
              <a:t>O que sabemos do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697480" cy="155448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864" cy="15544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-200K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0914"/>
                </a:solidFill>
                <a:latin typeface="Helvetica Neue"/>
              </a:rPr>
              <a:t>assinantes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cancelamentos no trimestre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697480" cy="155448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54864" cy="15544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1ª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0914"/>
                </a:solidFill>
                <a:latin typeface="Helvetica Neue"/>
              </a:rPr>
              <a:t>vez em 10+ anos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443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queda relevante na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828800"/>
            <a:ext cx="2697480" cy="155448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828800"/>
            <a:ext cx="54864" cy="15544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574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0914"/>
                </a:solidFill>
                <a:latin typeface="Helvetica Neue"/>
              </a:rPr>
              <a:t>ex-assinantes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443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ouvidos em pesquisa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828800"/>
            <a:ext cx="2697480" cy="155448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828800"/>
            <a:ext cx="54864" cy="15544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0574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65176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0914"/>
                </a:solidFill>
                <a:latin typeface="Helvetica Neue"/>
              </a:rPr>
              <a:t>categorias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4436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Helvetica Neue"/>
              </a:rPr>
              <a:t>de motivos de cancelamento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40480"/>
            <a:ext cx="11201400" cy="237744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Helvetica Neue"/>
              </a:rPr>
              <a:t>PERGUNTA DA DIRETORIA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348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Como reverter a queda da base e onde concentrar esforço?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4D4D4"/>
                </a:solidFill>
                <a:latin typeface="Helvetica Neue"/>
              </a:rPr>
              <a:t>Hipótese preliminar da diretoria: Conteúdo + Preço respondem por ≈ 4/5 dos cancelamentos.</a:t>
            </a:r>
          </a:p>
          <a:p>
            <a:pPr algn="l"/>
            <a:r>
              <a:rPr sz="1500" b="0">
                <a:solidFill>
                  <a:srgbClr val="D4D4D4"/>
                </a:solidFill>
                <a:latin typeface="Helvetica Neue"/>
              </a:rPr>
              <a:t>A análise abaixo testa essa hipótese e, com ela confirmada, propõe o plano de ação.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Estudo de Caso Netflix · OC · 10.05.2026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54864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1. Diagrama de Ishikawa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Mapeamento qualitativo · 6 categorias · todas as 10 causas relatadas posicionadas</a:t>
            </a:r>
          </a:p>
        </p:txBody>
      </p:sp>
      <p:pic>
        <p:nvPicPr>
          <p:cNvPr id="6" name="Picture 5" descr="ishi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112014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Estudo de Caso Netflix · OC · 10.05.2026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54864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2. Diagrama de Pareto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Priorização quantitativa · Preço + Conteúdo = 80,0% exatos · hipótese da diretoria confirmada</a:t>
            </a:r>
          </a:p>
        </p:txBody>
      </p:sp>
      <p:pic>
        <p:nvPicPr>
          <p:cNvPr id="6" name="Picture 5" descr="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863840" cy="3726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600200"/>
            <a:ext cx="3474720" cy="443484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737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50914"/>
                </a:solidFill>
                <a:latin typeface="Helvetica Neue"/>
              </a:rPr>
              <a:t>DADOS BRUTOS DA PESQUISA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0574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 Neue"/>
              </a:rPr>
              <a:t>Categoria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20574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2057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20574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% acum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35000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 Neue"/>
              </a:rPr>
              <a:t>Preço elevado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5560" y="235000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210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23500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42.0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235000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42.0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395728"/>
            <a:ext cx="45720" cy="1828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64261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Helvetica Neue"/>
              </a:rPr>
              <a:t>Conteúdo repetitivo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6426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190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26426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38.0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264261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Helvetica Neue"/>
              </a:rPr>
              <a:t>80.0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2688336"/>
            <a:ext cx="45720" cy="18288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93522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Probl. técnicos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9352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29352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293522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84.0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278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Marketing ineficaz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22783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32278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3.0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322783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87.0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5204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Atendimento lento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5204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35204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2.8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35204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89.8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81304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Cancel. séries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381304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38130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2.6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381304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92.4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105656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Interface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1056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52760" y="41056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2.4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01400" y="410565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94.8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39826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Conteúdo crianças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43982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4398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2.2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439826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97.0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6908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Sem regionalizado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46908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60" y="46908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1.8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01400" y="46908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98.8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98348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4D4D4"/>
                </a:solidFill>
                <a:latin typeface="Helvetica Neue"/>
              </a:rPr>
              <a:t>Concorrência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498348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2760" y="4983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01400" y="4983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4D4D4"/>
                </a:solidFill>
                <a:latin typeface="Helvetica Neue"/>
              </a:rPr>
              <a:t>100.0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669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50914"/>
                </a:solidFill>
                <a:latin typeface="Helvetica Neue"/>
              </a:rPr>
              <a:t>Total: 500 reclamações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Estudo de Caso Netflix · OC · 10.05.2026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54864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3. Plano de ação 5W2H · Preço elevado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Causa #1 · 210 reclamações · 42% do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201400" cy="5029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73352"/>
            <a:ext cx="9464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DETALHAMENTO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221992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Lançar plano básico com anúncios a preço reduzido e formalizar plano padrão extra-membro para uso compartilhado, oferecendo alternativas mais baratas antes do cancelamento.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60904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60904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25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25496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Recuperar a base sensível a preço (210 reclamações) sem comprometer o ticket médio dos planos premium. Capturar o churn por preço e convertê-lo para um tier mais barato em vez de perder o cliente.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64408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64408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29000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Diretoria de Produto (responsável final), área de Pricing (modelagem), área de Receita Publicitária (venda de inventário) e Marketing (lançamento).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67912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67912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325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032504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Mercados mais sensíveis a preço em primeiro rollout, com expansão progressiva para outras regiões após validação de indicadores.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71416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71416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360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636008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Anúncio público no curto prazo após aprovação, abertura para novos assinantes na sequência e migração de cancelamentos pendentes em paralelo.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074920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395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239512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Parceria com plataforma de ad-serving para inventário publicitário, pricing escalonado por dispositivo e fluxo de downgrade dentro do cancelamento ("antes de sair, conheça o plano básico").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78424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678424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43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HOW MUCH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843016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Aporte inicial relevante em tecnologia e go-to-market. Retorno esperado por duas vias: receita publicitária do novo plano e retenção de canceladores por preço migrados ao tier mais barato.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Estudo de Caso Netflix · OC · 10.05.2026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54864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3. Plano de ação 5W2H · Conteúdo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Causa #2 · 190 reclamações · 38% do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201400" cy="5029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73352"/>
            <a:ext cx="9464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DETALHAMENTO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219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221992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Reformular o pipeline de catálogo: priorizar produções originais regionais, retomar de forma cirúrgica séries canceladas com forte engajamento e reforçar a curadoria por algoritmo de recomendação.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60904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60904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2549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825496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Atacar a causa #2 (190 reclamações por conteúdo repetitivo ou sem qualidade). Conteúdo é o motor primário de retenção em streaming, e a perda aqui se traduz em churn de longo prazo.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64408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64408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29000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Diretoria de Conteúdo (responsável final), Diretores Regionais de Conteúdo nos principais mercados, área de Data Science (curadoria algorítmica) e Comunicação.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67912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67912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3250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032504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Estúdios e parceiros regionais nos principais mercados de consumo, com distribuição global na plataforma e priorização do catálogo regional na home de cada país.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71416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471416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360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WHEN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636008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Plano editorial anunciado no curto prazo, primeiras estreias na sequência e reativação das séries canceladas em fase posterior, conforme avanço da produção.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074920"/>
            <a:ext cx="11201400" cy="603504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074920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395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239512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Investimento direto em produções locais, parcerias com produtoras independentes, retomada cirúrgica de séries com bom histórico de engajamento e ajuste do algoritmo de recomendação para destacar novidades regionais.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78424"/>
            <a:ext cx="11201400" cy="603504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678424"/>
            <a:ext cx="45720" cy="6035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43016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Helvetica Neue"/>
              </a:rPr>
              <a:t>HOW MUCH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843016"/>
            <a:ext cx="94640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Aporte adicional relevante ao orçamento de conteúdo, calibrado pela diretoria. Retorno esperado: redução material do churn relacionado a conteúdo e maior retenção da base de assinantes.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Estudo de Caso Netflix · OC · 10.05.2026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65760"/>
            <a:ext cx="54864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Helvetica Neue"/>
              </a:rPr>
              <a:t>4. PDCA · Ciclo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Helvetica Neue"/>
              </a:rPr>
              <a:t>Moldura para executar o plano e corrigir rota até a meta de redução do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2697480" cy="402336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9748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50914"/>
                </a:solidFill>
                <a:latin typeface="Helvetica Neue"/>
              </a:rP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Planejar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19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Identificar o problema, mapear as causas e construir o plano de ação detalhado.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Helvetica Neue"/>
              </a:rPr>
              <a:t>= o que esta apresentação entregou: Ishikawa, Pareto e 5W2H das duas causas críticas.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697480" cy="402336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828800"/>
            <a:ext cx="269748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50914"/>
                </a:solidFill>
                <a:latin typeface="Helvetica Neue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00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Executar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703319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Implementar as ações definidas no 5W2H pelas áreas responsáveis, no ritmo planejado.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800600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Helvetica Neue"/>
              </a:rPr>
              <a:t>= rollout do plano para Preço (novo tier) e Conteúdo (catálogo regional).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2697480" cy="402336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828800"/>
            <a:ext cx="269748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50914"/>
                </a:solidFill>
                <a:latin typeface="Helvetica Neue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00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Verificar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19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Comparar o resultado real com a meta. Mediu? Bateu o que estava previsto?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Helvetica Neue"/>
              </a:rPr>
              <a:t>= acompanhar churn, retenção e migração entre planos após a implementação.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828800"/>
            <a:ext cx="2697480" cy="402336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828800"/>
            <a:ext cx="2697480" cy="5486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0574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E50914"/>
                </a:solidFill>
                <a:latin typeface="Helvetica Neue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8036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20040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Helvetica Neue"/>
              </a:rPr>
              <a:t>Agir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703319"/>
            <a:ext cx="2240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Se não bateu a meta, ação corretiva. Se bateu, padronizar e seguir.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800600"/>
            <a:ext cx="22402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Helvetica Neue"/>
              </a:rPr>
              <a:t>= ajustar oferta de plano ou catálogo e reiniciar o ciclo até estabilizar a base.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Estudo de Caso Netflix · OC · 10.05.2026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