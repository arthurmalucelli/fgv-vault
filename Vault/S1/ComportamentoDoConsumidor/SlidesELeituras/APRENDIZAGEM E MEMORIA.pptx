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y="6858000" cx="9144000"/>
  <p:notesSz cx="666272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127">
          <p15:clr>
            <a:srgbClr val="000000"/>
          </p15:clr>
        </p15:guide>
        <p15:guide id="2" pos="2099">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127" orient="horz"/>
        <p:guide pos="2099"/>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887662" cy="4968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773487" y="0"/>
            <a:ext cx="2887662" cy="4968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66750" y="4714875"/>
            <a:ext cx="5329237" cy="44672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428162"/>
            <a:ext cx="2887662" cy="4968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773487" y="9428162"/>
            <a:ext cx="2887662" cy="4968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418d44e080_0_45: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418d44e080_0_45: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418d44e080_0_45: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418d44e080_0_51: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418d44e080_0_51: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418d44e080_0_51: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2: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418d44e080_0_7: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418d44e080_0_7: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418d44e080_0_7: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418d44e080_0_0: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418d44e080_0_0: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418d44e080_0_0: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86aee235e9_0_0: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86aee235e9_0_0: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86aee235e9_0_0: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ecc163b995_2_19: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ecc163b995_2_19: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5f6c07a16_0_0: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95f6c07a16_0_0: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5f6c07a16_0_11: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95f6c07a16_0_11: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5f6c07a16_0_16: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95f6c07a16_0_16: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5f6c07a16_0_22: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95f6c07a16_0_22: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5f6c07a16_0_30: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5f6c07a16_0_30: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95f6c07a16_0_30: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5f6c07a16_0_38: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95f6c07a16_0_38: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95f6c07a16_0_38: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5f6c07a16_0_46: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395f6c07a16_0_46: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5f6c07a16_0_51: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395f6c07a16_0_51: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4: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4: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418d44e080_0_14: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418d44e080_0_14: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418d44e080_0_14: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418d44e080_0_21: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418d44e080_0_21: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418d44e080_0_21: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418d44e080_0_28: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418d44e080_0_28: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418d44e080_0_34: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418d44e080_0_34: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418d44e080_0_39: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418d44e080_0_39: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4191989157_0_0: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4191989157_0_0: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4191989157_0_0: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4191989157_0_7: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4191989157_0_7: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4191989157_0_7: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4191989157_0_14: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4191989157_0_14: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4191989157_0_14: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ecc163b995_2_12: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ecc163b995_2_12: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ecc163b995_2_12: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6: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6: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0: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0: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4: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9: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9: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0: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0: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1: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1: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2: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2: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20ac5281a3_0_0: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20ac5281a3_0_0: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g120ac5281a3_0_0: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20ac5281a3_0_7: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20ac5281a3_0_7: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g120ac5281a3_0_7: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20ac5281a3_0_14: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20ac5281a3_0_14: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g120ac5281a3_0_14: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3: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23: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8: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8: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9: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9: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4: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4: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476cb9a0d4_0_0:notes"/>
          <p:cNvSpPr/>
          <p:nvPr>
            <p:ph idx="2" type="sldImg"/>
          </p:nvPr>
        </p:nvSpPr>
        <p:spPr>
          <a:xfrm>
            <a:off x="850900" y="744537"/>
            <a:ext cx="4962600" cy="37227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476cb9a0d4_0_0:notes"/>
          <p:cNvSpPr txBox="1"/>
          <p:nvPr>
            <p:ph idx="1" type="body"/>
          </p:nvPr>
        </p:nvSpPr>
        <p:spPr>
          <a:xfrm>
            <a:off x="666750" y="4714875"/>
            <a:ext cx="53292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g476cb9a0d4_0_0:notes"/>
          <p:cNvSpPr txBox="1"/>
          <p:nvPr>
            <p:ph idx="12" type="sldNum"/>
          </p:nvPr>
        </p:nvSpPr>
        <p:spPr>
          <a:xfrm>
            <a:off x="3773487" y="9428162"/>
            <a:ext cx="28878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5: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25: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6: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26: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0: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30: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1: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31: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2: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32: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3: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33: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4: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34: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5: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35: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6:notes"/>
          <p:cNvSpPr txBox="1"/>
          <p:nvPr>
            <p:ph idx="1" type="body"/>
          </p:nvPr>
        </p:nvSpPr>
        <p:spPr>
          <a:xfrm>
            <a:off x="666750" y="4714875"/>
            <a:ext cx="5329237" cy="44672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36:notes"/>
          <p:cNvSpPr/>
          <p:nvPr>
            <p:ph idx="2" type="sldImg"/>
          </p:nvPr>
        </p:nvSpPr>
        <p:spPr>
          <a:xfrm>
            <a:off x="850900" y="744537"/>
            <a:ext cx="496252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2"/>
          <p:cNvSpPr txBox="1"/>
          <p:nvPr>
            <p:ph type="title"/>
          </p:nvPr>
        </p:nvSpPr>
        <p:spPr>
          <a:xfrm>
            <a:off x="1447800" y="274637"/>
            <a:ext cx="731361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 type="body"/>
          </p:nvPr>
        </p:nvSpPr>
        <p:spPr>
          <a:xfrm>
            <a:off x="1447800" y="1600200"/>
            <a:ext cx="7313612"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 name="Google Shape;21;p2"/>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3"/>
          <p:cNvSpPr txBox="1"/>
          <p:nvPr>
            <p:ph type="title"/>
          </p:nvPr>
        </p:nvSpPr>
        <p:spPr>
          <a:xfrm rot="5400000">
            <a:off x="4922044" y="2286794"/>
            <a:ext cx="5851525" cy="18272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 type="body"/>
          </p:nvPr>
        </p:nvSpPr>
        <p:spPr>
          <a:xfrm rot="5400000">
            <a:off x="1189037" y="533401"/>
            <a:ext cx="5851525" cy="5334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 name="Google Shape;26;p3"/>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8" name="Shape 28"/>
        <p:cNvGrpSpPr/>
        <p:nvPr/>
      </p:nvGrpSpPr>
      <p:grpSpPr>
        <a:xfrm>
          <a:off x="0" y="0"/>
          <a:ext cx="0" cy="0"/>
          <a:chOff x="0" y="0"/>
          <a:chExt cx="0" cy="0"/>
        </a:xfrm>
      </p:grpSpPr>
      <p:sp>
        <p:nvSpPr>
          <p:cNvPr id="29" name="Google Shape;29;p4"/>
          <p:cNvSpPr txBox="1"/>
          <p:nvPr>
            <p:ph type="title"/>
          </p:nvPr>
        </p:nvSpPr>
        <p:spPr>
          <a:xfrm>
            <a:off x="1447800" y="274637"/>
            <a:ext cx="731361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 type="body"/>
          </p:nvPr>
        </p:nvSpPr>
        <p:spPr>
          <a:xfrm rot="5400000">
            <a:off x="2841625" y="206375"/>
            <a:ext cx="4525962" cy="73136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4"/>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36" name="Google Shape;36;p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37" name="Google Shape;37;p5"/>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9" name="Shape 39"/>
        <p:cNvGrpSpPr/>
        <p:nvPr/>
      </p:nvGrpSpPr>
      <p:grpSpPr>
        <a:xfrm>
          <a:off x="0" y="0"/>
          <a:ext cx="0" cy="0"/>
          <a:chOff x="0" y="0"/>
          <a:chExt cx="0" cy="0"/>
        </a:xfrm>
      </p:grpSpPr>
      <p:sp>
        <p:nvSpPr>
          <p:cNvPr id="40" name="Google Shape;40;p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2" name="Google Shape;42;p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3" name="Google Shape;43;p6"/>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7"/>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1447800" y="274637"/>
            <a:ext cx="731361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5" name="Google Shape;55;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6" name="Google Shape;56;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7" name="Google Shape;57;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8" name="Google Shape;58;p9"/>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10"/>
          <p:cNvSpPr txBox="1"/>
          <p:nvPr>
            <p:ph type="title"/>
          </p:nvPr>
        </p:nvSpPr>
        <p:spPr>
          <a:xfrm>
            <a:off x="1447800" y="274637"/>
            <a:ext cx="731361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0"/>
          <p:cNvSpPr txBox="1"/>
          <p:nvPr>
            <p:ph idx="1" type="body"/>
          </p:nvPr>
        </p:nvSpPr>
        <p:spPr>
          <a:xfrm>
            <a:off x="1447800" y="1600200"/>
            <a:ext cx="3579813"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3" name="Google Shape;63;p10"/>
          <p:cNvSpPr txBox="1"/>
          <p:nvPr>
            <p:ph idx="2" type="body"/>
          </p:nvPr>
        </p:nvSpPr>
        <p:spPr>
          <a:xfrm>
            <a:off x="5180013" y="1600200"/>
            <a:ext cx="35814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4" name="Google Shape;64;p10"/>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69" name="Google Shape;69;p11"/>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1pPr>
            <a:lvl2pPr indent="0" lvl="1"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2pPr>
            <a:lvl3pPr indent="0" lvl="2"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3pPr>
            <a:lvl4pPr indent="0" lvl="3"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4pPr>
            <a:lvl5pPr indent="0" lvl="4"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5pPr>
            <a:lvl6pPr indent="0" lvl="5"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6pPr>
            <a:lvl7pPr indent="0" lvl="6"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7pPr>
            <a:lvl8pPr indent="0" lvl="7"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8pPr>
            <a:lvl9pPr indent="0" lvl="8" marL="0" marR="0" algn="r">
              <a:lnSpc>
                <a:spcPct val="100000"/>
              </a:lnSpc>
              <a:spcBef>
                <a:spcPts val="0"/>
              </a:spcBef>
              <a:spcAft>
                <a:spcPts val="0"/>
              </a:spcAft>
              <a:buClr>
                <a:srgbClr val="CC0000"/>
              </a:buClr>
              <a:buSzPts val="1200"/>
              <a:buFont typeface="Arial"/>
              <a:buNone/>
              <a:defRPr b="1" i="0" sz="1200" u="non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0" name="Shape 80"/>
        <p:cNvGrpSpPr/>
        <p:nvPr/>
      </p:nvGrpSpPr>
      <p:grpSpPr>
        <a:xfrm>
          <a:off x="0" y="0"/>
          <a:ext cx="0" cy="0"/>
          <a:chOff x="0" y="0"/>
          <a:chExt cx="0" cy="0"/>
        </a:xfrm>
      </p:grpSpPr>
      <p:sp>
        <p:nvSpPr>
          <p:cNvPr id="81" name="Google Shape;81;p1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41960" lvl="0" marL="457200" algn="l">
              <a:spcBef>
                <a:spcPts val="1120"/>
              </a:spcBef>
              <a:spcAft>
                <a:spcPts val="0"/>
              </a:spcAft>
              <a:buSzPts val="3360"/>
              <a:buFont typeface="Arial"/>
              <a:buChar char="•"/>
              <a:defRPr sz="2800"/>
            </a:lvl1pPr>
            <a:lvl2pPr indent="-441960" lvl="1" marL="914400" algn="l">
              <a:spcBef>
                <a:spcPts val="560"/>
              </a:spcBef>
              <a:spcAft>
                <a:spcPts val="0"/>
              </a:spcAft>
              <a:buSzPts val="3360"/>
              <a:buFont typeface="Arial"/>
              <a:buChar char="•"/>
              <a:defRPr sz="2800"/>
            </a:lvl2pPr>
            <a:lvl3pPr indent="-441960" lvl="2" marL="1371600" algn="l">
              <a:spcBef>
                <a:spcPts val="560"/>
              </a:spcBef>
              <a:spcAft>
                <a:spcPts val="0"/>
              </a:spcAft>
              <a:buSzPts val="3360"/>
              <a:buFont typeface="Arial"/>
              <a:buChar char="•"/>
              <a:defRPr sz="2800"/>
            </a:lvl3pPr>
            <a:lvl4pPr indent="-365760" lvl="3" marL="1828800" algn="l">
              <a:spcBef>
                <a:spcPts val="360"/>
              </a:spcBef>
              <a:spcAft>
                <a:spcPts val="0"/>
              </a:spcAft>
              <a:buSzPts val="2160"/>
              <a:buChar char="•"/>
              <a:defRPr/>
            </a:lvl4pPr>
            <a:lvl5pPr indent="-365760" lvl="4" marL="2286000" algn="l">
              <a:spcBef>
                <a:spcPts val="360"/>
              </a:spcBef>
              <a:spcAft>
                <a:spcPts val="0"/>
              </a:spcAft>
              <a:buSzPts val="2160"/>
              <a:buChar char="•"/>
              <a:defRPr/>
            </a:lvl5pPr>
            <a:lvl6pPr indent="-365760" lvl="5" marL="2743200" algn="l">
              <a:spcBef>
                <a:spcPts val="360"/>
              </a:spcBef>
              <a:spcAft>
                <a:spcPts val="0"/>
              </a:spcAft>
              <a:buSzPts val="2160"/>
              <a:buChar char="•"/>
              <a:defRPr/>
            </a:lvl6pPr>
            <a:lvl7pPr indent="-365760" lvl="6" marL="3200400" algn="l">
              <a:spcBef>
                <a:spcPts val="360"/>
              </a:spcBef>
              <a:spcAft>
                <a:spcPts val="0"/>
              </a:spcAft>
              <a:buSzPts val="2160"/>
              <a:buChar char="•"/>
              <a:defRPr/>
            </a:lvl7pPr>
            <a:lvl8pPr indent="-365760" lvl="7" marL="3657600" algn="l">
              <a:spcBef>
                <a:spcPts val="360"/>
              </a:spcBef>
              <a:spcAft>
                <a:spcPts val="0"/>
              </a:spcAft>
              <a:buSzPts val="2160"/>
              <a:buChar char="•"/>
              <a:defRPr/>
            </a:lvl8pPr>
            <a:lvl9pPr indent="-365760" lvl="8" marL="4114800" algn="l">
              <a:spcBef>
                <a:spcPts val="360"/>
              </a:spcBef>
              <a:spcAft>
                <a:spcPts val="0"/>
              </a:spcAft>
              <a:buSzPts val="2160"/>
              <a:buChar char="•"/>
              <a:defRPr/>
            </a:lvl9pPr>
          </a:lstStyle>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800"/>
              </a:spcBef>
              <a:spcAft>
                <a:spcPts val="0"/>
              </a:spcAft>
              <a:buSzPts val="2400"/>
              <a:buFont typeface="Arial"/>
              <a:buNone/>
              <a:defRPr sz="2000"/>
            </a:lvl1pPr>
            <a:lvl2pPr indent="-228600" lvl="1" marL="914400" algn="l">
              <a:spcBef>
                <a:spcPts val="360"/>
              </a:spcBef>
              <a:spcAft>
                <a:spcPts val="0"/>
              </a:spcAft>
              <a:buSzPts val="2160"/>
              <a:buFont typeface="Arial"/>
              <a:buNone/>
              <a:defRPr sz="1800"/>
            </a:lvl2pPr>
            <a:lvl3pPr indent="-228600" lvl="2" marL="1371600" algn="l">
              <a:spcBef>
                <a:spcPts val="320"/>
              </a:spcBef>
              <a:spcAft>
                <a:spcPts val="0"/>
              </a:spcAft>
              <a:buSzPts val="1920"/>
              <a:buFont typeface="Arial"/>
              <a:buNone/>
              <a:defRPr sz="1600"/>
            </a:lvl3pPr>
            <a:lvl4pPr indent="-228600" lvl="3" marL="1828800" algn="l">
              <a:spcBef>
                <a:spcPts val="280"/>
              </a:spcBef>
              <a:spcAft>
                <a:spcPts val="0"/>
              </a:spcAft>
              <a:buSzPts val="1680"/>
              <a:buFont typeface="Arial"/>
              <a:buNone/>
              <a:defRPr sz="1400"/>
            </a:lvl4pPr>
            <a:lvl5pPr indent="-228600" lvl="4" marL="2286000" algn="l">
              <a:spcBef>
                <a:spcPts val="280"/>
              </a:spcBef>
              <a:spcAft>
                <a:spcPts val="0"/>
              </a:spcAft>
              <a:buSzPts val="1680"/>
              <a:buFont typeface="Arial"/>
              <a:buNone/>
              <a:defRPr sz="1400"/>
            </a:lvl5pPr>
            <a:lvl6pPr indent="-228600" lvl="5" marL="2743200" algn="l">
              <a:spcBef>
                <a:spcPts val="280"/>
              </a:spcBef>
              <a:spcAft>
                <a:spcPts val="0"/>
              </a:spcAft>
              <a:buSzPts val="1680"/>
              <a:buFont typeface="Arial"/>
              <a:buNone/>
              <a:defRPr sz="1400"/>
            </a:lvl6pPr>
            <a:lvl7pPr indent="-228600" lvl="6" marL="3200400" algn="l">
              <a:spcBef>
                <a:spcPts val="280"/>
              </a:spcBef>
              <a:spcAft>
                <a:spcPts val="0"/>
              </a:spcAft>
              <a:buSzPts val="1680"/>
              <a:buFont typeface="Arial"/>
              <a:buNone/>
              <a:defRPr sz="1400"/>
            </a:lvl7pPr>
            <a:lvl8pPr indent="-228600" lvl="7" marL="3657600" algn="l">
              <a:spcBef>
                <a:spcPts val="280"/>
              </a:spcBef>
              <a:spcAft>
                <a:spcPts val="0"/>
              </a:spcAft>
              <a:buSzPts val="1680"/>
              <a:buFont typeface="Arial"/>
              <a:buNone/>
              <a:defRPr sz="1400"/>
            </a:lvl8pPr>
            <a:lvl9pPr indent="-228600" lvl="8" marL="4114800" algn="l">
              <a:spcBef>
                <a:spcPts val="280"/>
              </a:spcBef>
              <a:spcAft>
                <a:spcPts val="0"/>
              </a:spcAft>
              <a:buSzPts val="1680"/>
              <a:buFont typeface="Arial"/>
              <a:buNone/>
              <a:defRPr sz="1400"/>
            </a:lvl9pPr>
          </a:lstStyle>
          <a:p/>
        </p:txBody>
      </p:sp>
      <p:sp>
        <p:nvSpPr>
          <p:cNvPr id="97" name="Google Shape;97;p15"/>
          <p:cNvSpPr txBox="1"/>
          <p:nvPr>
            <p:ph idx="12" type="sldNum"/>
          </p:nvPr>
        </p:nvSpPr>
        <p:spPr>
          <a:xfrm>
            <a:off x="6553200" y="6477000"/>
            <a:ext cx="2133600" cy="2286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1pPr>
            <a:lvl2pPr indent="0" lvl="1"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2pPr>
            <a:lvl3pPr indent="0" lvl="2"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3pPr>
            <a:lvl4pPr indent="0" lvl="3"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4pPr>
            <a:lvl5pPr indent="0" lvl="4"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5pPr>
            <a:lvl6pPr indent="0" lvl="5"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6pPr>
            <a:lvl7pPr indent="0" lvl="6"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7pPr>
            <a:lvl8pPr indent="0" lvl="7"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8pPr>
            <a:lvl9pPr indent="0" lvl="8"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
        <p:nvSpPr>
          <p:cNvPr id="98" name="Google Shape;98;p15"/>
          <p:cNvSpPr txBox="1"/>
          <p:nvPr>
            <p:ph idx="11" type="ftr"/>
          </p:nvPr>
        </p:nvSpPr>
        <p:spPr>
          <a:xfrm>
            <a:off x="381000" y="6324600"/>
            <a:ext cx="5791200" cy="533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447800" y="274637"/>
            <a:ext cx="7313612"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6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1447800" y="1600200"/>
            <a:ext cx="7313612" cy="4525962"/>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457200" y="6400800"/>
            <a:ext cx="6096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6781800" y="6524625"/>
            <a:ext cx="2133600" cy="33337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1pPr>
            <a:lvl2pPr indent="0" lvl="1"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2pPr>
            <a:lvl3pPr indent="0" lvl="2"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3pPr>
            <a:lvl4pPr indent="0" lvl="3"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4pPr>
            <a:lvl5pPr indent="0" lvl="4"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5pPr>
            <a:lvl6pPr indent="0" lvl="5"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6pPr>
            <a:lvl7pPr indent="0" lvl="6"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7pPr>
            <a:lvl8pPr indent="0" lvl="7"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8pPr>
            <a:lvl9pPr indent="0" lvl="8" marL="0" marR="0" rtl="0" algn="r">
              <a:lnSpc>
                <a:spcPct val="100000"/>
              </a:lnSpc>
              <a:spcBef>
                <a:spcPts val="0"/>
              </a:spcBef>
              <a:spcAft>
                <a:spcPts val="0"/>
              </a:spcAft>
              <a:buClr>
                <a:srgbClr val="CC0000"/>
              </a:buClr>
              <a:buSzPts val="1200"/>
              <a:buFont typeface="Arial"/>
              <a:buNone/>
              <a:defRPr b="1" i="0" sz="1200" u="none" cap="none" strike="noStrike">
                <a:solidFill>
                  <a:srgbClr val="CC00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b="0" sz="1400">
              <a:solidFill>
                <a:srgbClr val="000000"/>
              </a:solidFill>
            </a:endParaRPr>
          </a:p>
        </p:txBody>
      </p:sp>
      <p:sp>
        <p:nvSpPr>
          <p:cNvPr id="14" name="Google Shape;14;p1"/>
          <p:cNvSpPr txBox="1"/>
          <p:nvPr/>
        </p:nvSpPr>
        <p:spPr>
          <a:xfrm>
            <a:off x="457200" y="1219200"/>
            <a:ext cx="5562600" cy="152400"/>
          </a:xfrm>
          <a:prstGeom prst="rect">
            <a:avLst/>
          </a:prstGeom>
          <a:gradFill>
            <a:gsLst>
              <a:gs pos="0">
                <a:srgbClr val="CC3300"/>
              </a:gs>
              <a:gs pos="100000">
                <a:srgbClr val="CC9900"/>
              </a:gs>
            </a:gsLst>
            <a:lin ang="0" scaled="0"/>
          </a:gradFill>
          <a:ln>
            <a:noFill/>
          </a:ln>
        </p:spPr>
        <p:txBody>
          <a:bodyPr anchorCtr="0" anchor="ctr" bIns="228600" lIns="91425" spcFirstLastPara="1" rIns="91425" wrap="square" tIns="2286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 name="Google Shape;15;p1"/>
          <p:cNvSpPr txBox="1"/>
          <p:nvPr/>
        </p:nvSpPr>
        <p:spPr>
          <a:xfrm>
            <a:off x="457200" y="1219200"/>
            <a:ext cx="5562600" cy="152400"/>
          </a:xfrm>
          <a:prstGeom prst="rect">
            <a:avLst/>
          </a:prstGeom>
          <a:gradFill>
            <a:gsLst>
              <a:gs pos="0">
                <a:srgbClr val="000066"/>
              </a:gs>
              <a:gs pos="100000">
                <a:srgbClr val="CC3300"/>
              </a:gs>
            </a:gsLst>
            <a:lin ang="0" scaled="0"/>
          </a:gradFill>
          <a:ln>
            <a:noFill/>
          </a:ln>
        </p:spPr>
        <p:txBody>
          <a:bodyPr anchorCtr="0" anchor="ctr" bIns="228600" lIns="91425" spcFirstLastPara="1" rIns="91425" wrap="square" tIns="2286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 name="Google Shape;16;p1"/>
          <p:cNvSpPr txBox="1"/>
          <p:nvPr/>
        </p:nvSpPr>
        <p:spPr>
          <a:xfrm flipH="1">
            <a:off x="3124200" y="6400800"/>
            <a:ext cx="5562600" cy="152400"/>
          </a:xfrm>
          <a:prstGeom prst="rect">
            <a:avLst/>
          </a:prstGeom>
          <a:gradFill>
            <a:gsLst>
              <a:gs pos="0">
                <a:srgbClr val="CC3300"/>
              </a:gs>
              <a:gs pos="100000">
                <a:srgbClr val="CC9900"/>
              </a:gs>
            </a:gsLst>
            <a:lin ang="0" scaled="0"/>
          </a:gradFill>
          <a:ln>
            <a:noFill/>
          </a:ln>
        </p:spPr>
        <p:txBody>
          <a:bodyPr anchorCtr="0" anchor="ctr" bIns="228600" lIns="91425" spcFirstLastPara="1" rIns="91425" wrap="square" tIns="2286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 name="Google Shape;17;p1"/>
          <p:cNvSpPr txBox="1"/>
          <p:nvPr/>
        </p:nvSpPr>
        <p:spPr>
          <a:xfrm>
            <a:off x="457200" y="6248400"/>
            <a:ext cx="55626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cxnSp>
        <p:nvCxnSpPr>
          <p:cNvPr id="72" name="Google Shape;72;p12"/>
          <p:cNvCxnSpPr/>
          <p:nvPr/>
        </p:nvCxnSpPr>
        <p:spPr>
          <a:xfrm>
            <a:off x="457200" y="1143000"/>
            <a:ext cx="8077200" cy="0"/>
          </a:xfrm>
          <a:prstGeom prst="straightConnector1">
            <a:avLst/>
          </a:prstGeom>
          <a:noFill/>
          <a:ln cap="flat" cmpd="sng" w="63500">
            <a:solidFill>
              <a:srgbClr val="6699FF"/>
            </a:solidFill>
            <a:prstDash val="solid"/>
            <a:miter lim="800000"/>
            <a:headEnd len="med" w="med" type="none"/>
            <a:tailEnd len="med" w="med" type="none"/>
          </a:ln>
        </p:spPr>
      </p:cxnSp>
      <p:sp>
        <p:nvSpPr>
          <p:cNvPr id="73" name="Google Shape;73;p12"/>
          <p:cNvSpPr txBox="1"/>
          <p:nvPr/>
        </p:nvSpPr>
        <p:spPr>
          <a:xfrm>
            <a:off x="0" y="5486400"/>
            <a:ext cx="228600" cy="1371600"/>
          </a:xfrm>
          <a:prstGeom prst="rect">
            <a:avLst/>
          </a:prstGeom>
          <a:solidFill>
            <a:srgbClr val="00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 name="Google Shape;74;p12"/>
          <p:cNvSpPr txBox="1"/>
          <p:nvPr/>
        </p:nvSpPr>
        <p:spPr>
          <a:xfrm>
            <a:off x="0" y="4114800"/>
            <a:ext cx="228600" cy="1371600"/>
          </a:xfrm>
          <a:prstGeom prst="rect">
            <a:avLst/>
          </a:prstGeom>
          <a:solidFill>
            <a:srgbClr val="9966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 name="Google Shape;75;p12"/>
          <p:cNvSpPr txBox="1"/>
          <p:nvPr/>
        </p:nvSpPr>
        <p:spPr>
          <a:xfrm>
            <a:off x="0" y="2743200"/>
            <a:ext cx="228600" cy="1371600"/>
          </a:xfrm>
          <a:prstGeom prst="rect">
            <a:avLst/>
          </a:prstGeom>
          <a:solidFill>
            <a:srgbClr val="0099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 name="Google Shape;76;p12"/>
          <p:cNvSpPr txBox="1"/>
          <p:nvPr/>
        </p:nvSpPr>
        <p:spPr>
          <a:xfrm>
            <a:off x="0" y="1371600"/>
            <a:ext cx="228600" cy="1371600"/>
          </a:xfrm>
          <a:prstGeom prst="rect">
            <a:avLst/>
          </a:prstGeom>
          <a:solidFill>
            <a:srgbClr val="CC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 name="Google Shape;77;p12"/>
          <p:cNvSpPr txBox="1"/>
          <p:nvPr/>
        </p:nvSpPr>
        <p:spPr>
          <a:xfrm>
            <a:off x="0" y="0"/>
            <a:ext cx="228600" cy="1371600"/>
          </a:xfrm>
          <a:prstGeom prst="rect">
            <a:avLst/>
          </a:prstGeom>
          <a:solidFill>
            <a:srgbClr val="8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 name="Google Shape;78;p12"/>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1pPr>
            <a:lvl2pPr lvl="1"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2pPr>
            <a:lvl3pPr lvl="2"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3pPr>
            <a:lvl4pPr lvl="3"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4pPr>
            <a:lvl5pPr lvl="4"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6pPr>
            <a:lvl7pPr lvl="6"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7pPr>
            <a:lvl8pPr lvl="7"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8pPr>
            <a:lvl9pPr lvl="8"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9pPr>
          </a:lstStyle>
          <a:p/>
        </p:txBody>
      </p:sp>
      <p:sp>
        <p:nvSpPr>
          <p:cNvPr id="79" name="Google Shape;79;p12"/>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11480" lvl="0" marL="457200" marR="0" rtl="0" algn="l">
              <a:spcBef>
                <a:spcPts val="96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1pPr>
            <a:lvl2pPr indent="-411480" lvl="1" marL="914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2pPr>
            <a:lvl3pPr indent="-411480" lvl="2" marL="1371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3pPr>
            <a:lvl4pPr indent="-411480" lvl="3" marL="1828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4pPr>
            <a:lvl5pPr indent="-411480" lvl="4" marL="22860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5pPr>
            <a:lvl6pPr indent="-411480" lvl="5" marL="27432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6pPr>
            <a:lvl7pPr indent="-411480" lvl="6" marL="3200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7pPr>
            <a:lvl8pPr indent="-411480" lvl="7" marL="3657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8pPr>
            <a:lvl9pPr indent="-411480" lvl="8" marL="4114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cxnSp>
        <p:nvCxnSpPr>
          <p:cNvPr id="84" name="Google Shape;84;p14"/>
          <p:cNvCxnSpPr/>
          <p:nvPr/>
        </p:nvCxnSpPr>
        <p:spPr>
          <a:xfrm>
            <a:off x="457200" y="1143000"/>
            <a:ext cx="8077200" cy="0"/>
          </a:xfrm>
          <a:prstGeom prst="straightConnector1">
            <a:avLst/>
          </a:prstGeom>
          <a:noFill/>
          <a:ln cap="flat" cmpd="sng" w="63500">
            <a:solidFill>
              <a:srgbClr val="6699FF"/>
            </a:solidFill>
            <a:prstDash val="solid"/>
            <a:miter lim="800000"/>
            <a:headEnd len="med" w="med" type="none"/>
            <a:tailEnd len="med" w="med" type="none"/>
          </a:ln>
        </p:spPr>
      </p:cxnSp>
      <p:sp>
        <p:nvSpPr>
          <p:cNvPr id="85" name="Google Shape;85;p14"/>
          <p:cNvSpPr txBox="1"/>
          <p:nvPr/>
        </p:nvSpPr>
        <p:spPr>
          <a:xfrm>
            <a:off x="0" y="5486400"/>
            <a:ext cx="228600" cy="1371600"/>
          </a:xfrm>
          <a:prstGeom prst="rect">
            <a:avLst/>
          </a:prstGeom>
          <a:solidFill>
            <a:srgbClr val="00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 name="Google Shape;86;p14"/>
          <p:cNvSpPr txBox="1"/>
          <p:nvPr/>
        </p:nvSpPr>
        <p:spPr>
          <a:xfrm>
            <a:off x="0" y="4114800"/>
            <a:ext cx="228600" cy="1371600"/>
          </a:xfrm>
          <a:prstGeom prst="rect">
            <a:avLst/>
          </a:prstGeom>
          <a:solidFill>
            <a:srgbClr val="9966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 name="Google Shape;87;p14"/>
          <p:cNvSpPr txBox="1"/>
          <p:nvPr/>
        </p:nvSpPr>
        <p:spPr>
          <a:xfrm>
            <a:off x="0" y="2743200"/>
            <a:ext cx="228600" cy="1371600"/>
          </a:xfrm>
          <a:prstGeom prst="rect">
            <a:avLst/>
          </a:prstGeom>
          <a:solidFill>
            <a:srgbClr val="0099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 name="Google Shape;88;p14"/>
          <p:cNvSpPr txBox="1"/>
          <p:nvPr/>
        </p:nvSpPr>
        <p:spPr>
          <a:xfrm>
            <a:off x="0" y="1371600"/>
            <a:ext cx="228600" cy="1371600"/>
          </a:xfrm>
          <a:prstGeom prst="rect">
            <a:avLst/>
          </a:prstGeom>
          <a:solidFill>
            <a:srgbClr val="CC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 name="Google Shape;89;p14"/>
          <p:cNvSpPr txBox="1"/>
          <p:nvPr/>
        </p:nvSpPr>
        <p:spPr>
          <a:xfrm>
            <a:off x="0" y="0"/>
            <a:ext cx="228600" cy="1371600"/>
          </a:xfrm>
          <a:prstGeom prst="rect">
            <a:avLst/>
          </a:prstGeom>
          <a:solidFill>
            <a:srgbClr val="8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 name="Google Shape;90;p1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1pPr>
            <a:lvl2pPr lvl="1"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2pPr>
            <a:lvl3pPr lvl="2"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3pPr>
            <a:lvl4pPr lvl="3"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4pPr>
            <a:lvl5pPr lvl="4"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6pPr>
            <a:lvl7pPr lvl="6"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7pPr>
            <a:lvl8pPr lvl="7"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8pPr>
            <a:lvl9pPr lvl="8"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9pPr>
          </a:lstStyle>
          <a:p/>
        </p:txBody>
      </p:sp>
      <p:sp>
        <p:nvSpPr>
          <p:cNvPr id="91" name="Google Shape;91;p14"/>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11480" lvl="0" marL="457200" marR="0" rtl="0" algn="l">
              <a:spcBef>
                <a:spcPts val="96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1pPr>
            <a:lvl2pPr indent="-411480" lvl="1" marL="914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2pPr>
            <a:lvl3pPr indent="-411480" lvl="2" marL="1371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3pPr>
            <a:lvl4pPr indent="-411480" lvl="3" marL="1828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4pPr>
            <a:lvl5pPr indent="-411480" lvl="4" marL="22860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5pPr>
            <a:lvl6pPr indent="-411480" lvl="5" marL="27432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6pPr>
            <a:lvl7pPr indent="-411480" lvl="6" marL="3200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7pPr>
            <a:lvl8pPr indent="-411480" lvl="7" marL="3657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8pPr>
            <a:lvl9pPr indent="-411480" lvl="8" marL="4114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9pPr>
          </a:lstStyle>
          <a:p/>
        </p:txBody>
      </p:sp>
      <p:sp>
        <p:nvSpPr>
          <p:cNvPr id="92" name="Google Shape;92;p14"/>
          <p:cNvSpPr txBox="1"/>
          <p:nvPr>
            <p:ph idx="12" type="sldNum"/>
          </p:nvPr>
        </p:nvSpPr>
        <p:spPr>
          <a:xfrm>
            <a:off x="6553200" y="6477000"/>
            <a:ext cx="2133600" cy="2286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1pPr>
            <a:lvl2pPr indent="0" lvl="1"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2pPr>
            <a:lvl3pPr indent="0" lvl="2"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3pPr>
            <a:lvl4pPr indent="0" lvl="3"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4pPr>
            <a:lvl5pPr indent="0" lvl="4"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5pPr>
            <a:lvl6pPr indent="0" lvl="5"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6pPr>
            <a:lvl7pPr indent="0" lvl="6"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7pPr>
            <a:lvl8pPr indent="0" lvl="7"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8pPr>
            <a:lvl9pPr indent="0" lvl="8"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b="0" sz="1400">
              <a:solidFill>
                <a:srgbClr val="000000"/>
              </a:solidFill>
            </a:endParaRPr>
          </a:p>
        </p:txBody>
      </p:sp>
      <p:sp>
        <p:nvSpPr>
          <p:cNvPr id="93" name="Google Shape;93;p14"/>
          <p:cNvSpPr txBox="1"/>
          <p:nvPr>
            <p:ph idx="11" type="ftr"/>
          </p:nvPr>
        </p:nvSpPr>
        <p:spPr>
          <a:xfrm>
            <a:off x="381000" y="6324600"/>
            <a:ext cx="5791200" cy="533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www.youtube.com/watch?v=YhYZJL-Ni7U"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www.youtube.com/watch?v=YMsqEmhaszE" TargetMode="Externa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5.jpg"/><Relationship Id="rId5"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8.jpg"/><Relationship Id="rId5" Type="http://schemas.openxmlformats.org/officeDocument/2006/relationships/image" Target="../media/image2.jpg"/><Relationship Id="rId6" Type="http://schemas.openxmlformats.org/officeDocument/2006/relationships/image" Target="../media/image7.jpg"/><Relationship Id="rId7" Type="http://schemas.openxmlformats.org/officeDocument/2006/relationships/image" Target="../media/image14.png"/><Relationship Id="rId8"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35.png"/><Relationship Id="rId4" Type="http://schemas.openxmlformats.org/officeDocument/2006/relationships/image" Target="../media/image4.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hyperlink" Target="http://www.youtube.com/watch?v=01r5E8-gFVA" TargetMode="External"/><Relationship Id="rId4"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hyperlink" Target="http://www.youtube.com/watch?v=cFoDe9KoK74" TargetMode="External"/><Relationship Id="rId4" Type="http://schemas.openxmlformats.org/officeDocument/2006/relationships/image" Target="../media/image3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hyperlink" Target="https://www.youtube.com/watch?v=Wx1bql2elJQ" TargetMode="Externa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hyperlink" Target="http://www.youtube.com/watch?v=J-5k6SYdw_A" TargetMode="External"/><Relationship Id="rId4" Type="http://schemas.openxmlformats.org/officeDocument/2006/relationships/image" Target="../media/image4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hyperlink" Target="http://www.youtube.com/watch?v=0oD-dJlb1DA" TargetMode="External"/><Relationship Id="rId4" Type="http://schemas.openxmlformats.org/officeDocument/2006/relationships/image" Target="../media/image1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hyperlink" Target="http://www.youtube.com/watch?v=SzKhQ5al4GU" TargetMode="External"/><Relationship Id="rId4" Type="http://schemas.openxmlformats.org/officeDocument/2006/relationships/image" Target="../media/image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3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hyperlink" Target="https://www.youtube.com/watch?v=kIevG2-BBr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23.jpg"/><Relationship Id="rId4" Type="http://schemas.openxmlformats.org/officeDocument/2006/relationships/image" Target="../media/image5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9.jpg"/><Relationship Id="rId6"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3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51.png"/><Relationship Id="rId4" Type="http://schemas.openxmlformats.org/officeDocument/2006/relationships/image" Target="../media/image4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52.jpg"/><Relationship Id="rId4" Type="http://schemas.openxmlformats.org/officeDocument/2006/relationships/image" Target="../media/image44.png"/><Relationship Id="rId5" Type="http://schemas.openxmlformats.org/officeDocument/2006/relationships/hyperlink" Target="https://www.youtube.com/watch?v=lpLypCLT0v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hyperlink" Target="http://www.youtube.com/watch?v=hqHhpj7g05o" TargetMode="External"/><Relationship Id="rId4" Type="http://schemas.openxmlformats.org/officeDocument/2006/relationships/image" Target="../media/image3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hyperlink" Target="http://www.youtube.com/watch?v=9YWlfRTBhAQ" TargetMode="External"/><Relationship Id="rId4" Type="http://schemas.openxmlformats.org/officeDocument/2006/relationships/image" Target="../media/image4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hyperlink" Target="http://www.youtube.com/watch?v=j4lvQfhuNmg" TargetMode="External"/><Relationship Id="rId4" Type="http://schemas.openxmlformats.org/officeDocument/2006/relationships/image" Target="../media/image3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4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4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6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hyperlink" Target="http://www.youtube.com/watch?v=a_BZFkw6iiY" TargetMode="External"/><Relationship Id="rId4" Type="http://schemas.openxmlformats.org/officeDocument/2006/relationships/image" Target="../media/image6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5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5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5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45.png"/><Relationship Id="rId4" Type="http://schemas.openxmlformats.org/officeDocument/2006/relationships/image" Target="../media/image53.png"/><Relationship Id="rId5" Type="http://schemas.openxmlformats.org/officeDocument/2006/relationships/image" Target="../media/image56.png"/><Relationship Id="rId6"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Como os consumidores aprendem a consumir?</a:t>
            </a:r>
            <a:endParaRPr/>
          </a:p>
        </p:txBody>
      </p:sp>
      <p:sp>
        <p:nvSpPr>
          <p:cNvPr id="105" name="Google Shape;105;p16"/>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106" name="Google Shape;106;p16"/>
          <p:cNvPicPr preferRelativeResize="0"/>
          <p:nvPr/>
        </p:nvPicPr>
        <p:blipFill>
          <a:blip r:embed="rId3">
            <a:alphaModFix/>
          </a:blip>
          <a:stretch>
            <a:fillRect/>
          </a:stretch>
        </p:blipFill>
        <p:spPr>
          <a:xfrm>
            <a:off x="3500438" y="2357438"/>
            <a:ext cx="2143125" cy="214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Por que é importante aprender?</a:t>
            </a:r>
            <a:endParaRPr/>
          </a:p>
        </p:txBody>
      </p:sp>
      <p:sp>
        <p:nvSpPr>
          <p:cNvPr id="113" name="Google Shape;113;p17"/>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114" name="Google Shape;114;p17"/>
          <p:cNvPicPr preferRelativeResize="0"/>
          <p:nvPr/>
        </p:nvPicPr>
        <p:blipFill>
          <a:blip r:embed="rId3">
            <a:alphaModFix/>
          </a:blip>
          <a:stretch>
            <a:fillRect/>
          </a:stretch>
        </p:blipFill>
        <p:spPr>
          <a:xfrm>
            <a:off x="3115450" y="2583370"/>
            <a:ext cx="3382550" cy="1691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Aprendizagem</a:t>
            </a:r>
            <a:endParaRPr/>
          </a:p>
        </p:txBody>
      </p:sp>
      <p:sp>
        <p:nvSpPr>
          <p:cNvPr id="120" name="Google Shape;120;p18"/>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Mudança no comportamento causada pela experiência, pela observação</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Aprendizagem incidental: aquisição casual e não intencional de conhecimento</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457200" y="277812"/>
            <a:ext cx="8229600" cy="865187"/>
          </a:xfrm>
          <a:prstGeom prst="rect">
            <a:avLst/>
          </a:prstGeom>
          <a:solidFill>
            <a:schemeClr val="accent1"/>
          </a:solid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CC0066"/>
              </a:buClr>
              <a:buSzPts val="2800"/>
              <a:buFont typeface="Arial"/>
              <a:buNone/>
            </a:pPr>
            <a:r>
              <a:rPr b="1" i="0" lang="en-US" sz="2800" u="none">
                <a:solidFill>
                  <a:srgbClr val="CC0066"/>
                </a:solidFill>
                <a:latin typeface="Arial"/>
                <a:ea typeface="Arial"/>
                <a:cs typeface="Arial"/>
                <a:sym typeface="Arial"/>
              </a:rPr>
              <a:t>Teorias de Aprendizagem Comportamental (behavioristas)</a:t>
            </a:r>
            <a:endParaRPr/>
          </a:p>
        </p:txBody>
      </p:sp>
      <p:sp>
        <p:nvSpPr>
          <p:cNvPr id="126" name="Google Shape;126;p19"/>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Condicionamento clássico</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Condicionamento instrumental (operante)</a:t>
            </a:r>
            <a:endParaRPr/>
          </a:p>
        </p:txBody>
      </p:sp>
      <p:sp>
        <p:nvSpPr>
          <p:cNvPr id="127" name="Google Shape;127;p19"/>
          <p:cNvSpPr/>
          <p:nvPr/>
        </p:nvSpPr>
        <p:spPr>
          <a:xfrm>
            <a:off x="838200" y="3533775"/>
            <a:ext cx="1828800" cy="1038225"/>
          </a:xfrm>
          <a:prstGeom prst="ellipse">
            <a:avLst/>
          </a:prstGeom>
          <a:solidFill>
            <a:srgbClr val="FFFF00"/>
          </a:solidFill>
          <a:ln cap="flat" cmpd="sng" w="25400">
            <a:solidFill>
              <a:schemeClr val="dk1"/>
            </a:solidFill>
            <a:prstDash val="solid"/>
            <a:miter lim="800000"/>
            <a:headEnd len="sm" w="sm" type="none"/>
            <a:tailEnd len="sm" w="sm" type="none"/>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Estímulo</a:t>
            </a:r>
            <a:endParaRPr/>
          </a:p>
        </p:txBody>
      </p:sp>
      <p:sp>
        <p:nvSpPr>
          <p:cNvPr id="128" name="Google Shape;128;p19"/>
          <p:cNvSpPr txBox="1"/>
          <p:nvPr/>
        </p:nvSpPr>
        <p:spPr>
          <a:xfrm>
            <a:off x="3429000" y="3657600"/>
            <a:ext cx="1905000" cy="738187"/>
          </a:xfrm>
          <a:prstGeom prst="rect">
            <a:avLst/>
          </a:prstGeom>
          <a:solidFill>
            <a:srgbClr val="FF0000"/>
          </a:solidFill>
          <a:ln cap="flat" cmpd="sng" w="25400">
            <a:solidFill>
              <a:schemeClr val="dk1"/>
            </a:solidFill>
            <a:prstDash val="solid"/>
            <a:round/>
            <a:headEnd len="sm" w="sm" type="none"/>
            <a:tailEnd len="sm" w="sm" type="none"/>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Consumidor</a:t>
            </a:r>
            <a:endParaRPr/>
          </a:p>
        </p:txBody>
      </p:sp>
      <p:sp>
        <p:nvSpPr>
          <p:cNvPr id="129" name="Google Shape;129;p19"/>
          <p:cNvSpPr/>
          <p:nvPr/>
        </p:nvSpPr>
        <p:spPr>
          <a:xfrm>
            <a:off x="6172200" y="3505200"/>
            <a:ext cx="1828800" cy="1038225"/>
          </a:xfrm>
          <a:prstGeom prst="ellipse">
            <a:avLst/>
          </a:prstGeom>
          <a:solidFill>
            <a:schemeClr val="accent1"/>
          </a:solidFill>
          <a:ln cap="flat" cmpd="sng" w="25400">
            <a:solidFill>
              <a:schemeClr val="dk1"/>
            </a:solidFill>
            <a:prstDash val="solid"/>
            <a:miter lim="800000"/>
            <a:headEnd len="sm" w="sm" type="none"/>
            <a:tailEnd len="sm" w="sm" type="none"/>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Resposta</a:t>
            </a:r>
            <a:endParaRPr/>
          </a:p>
        </p:txBody>
      </p:sp>
      <p:sp>
        <p:nvSpPr>
          <p:cNvPr id="130" name="Google Shape;130;p19"/>
          <p:cNvSpPr/>
          <p:nvPr/>
        </p:nvSpPr>
        <p:spPr>
          <a:xfrm>
            <a:off x="2819400" y="3938587"/>
            <a:ext cx="457200" cy="228600"/>
          </a:xfrm>
          <a:prstGeom prst="rightArrow">
            <a:avLst>
              <a:gd fmla="val 50000" name="adj1"/>
              <a:gd fmla="val 50000" name="adj2"/>
            </a:avLst>
          </a:prstGeom>
          <a:solidFill>
            <a:schemeClr val="accent1"/>
          </a:solidFill>
          <a:ln cap="flat" cmpd="sng" w="25400">
            <a:solidFill>
              <a:schemeClr val="dk1"/>
            </a:solidFill>
            <a:prstDash val="solid"/>
            <a:round/>
            <a:headEnd len="sm" w="sm" type="none"/>
            <a:tailEnd len="sm" w="sm" type="none"/>
          </a:ln>
        </p:spPr>
        <p:txBody>
          <a:bodyPr anchorCtr="0" anchor="t" bIns="228600" lIns="91425" spcFirstLastPara="1" rIns="91425" wrap="square" tIns="2286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 name="Google Shape;131;p19"/>
          <p:cNvSpPr/>
          <p:nvPr/>
        </p:nvSpPr>
        <p:spPr>
          <a:xfrm>
            <a:off x="5470525" y="3938587"/>
            <a:ext cx="457200" cy="228600"/>
          </a:xfrm>
          <a:prstGeom prst="rightArrow">
            <a:avLst>
              <a:gd fmla="val 50000" name="adj1"/>
              <a:gd fmla="val 50000" name="adj2"/>
            </a:avLst>
          </a:prstGeom>
          <a:solidFill>
            <a:schemeClr val="accent1"/>
          </a:solidFill>
          <a:ln cap="flat" cmpd="sng" w="25400">
            <a:solidFill>
              <a:schemeClr val="dk1"/>
            </a:solidFill>
            <a:prstDash val="solid"/>
            <a:round/>
            <a:headEnd len="sm" w="sm" type="none"/>
            <a:tailEnd len="sm" w="sm" type="none"/>
          </a:ln>
        </p:spPr>
        <p:txBody>
          <a:bodyPr anchorCtr="0" anchor="t" bIns="228600" lIns="91425" spcFirstLastPara="1" rIns="91425" wrap="square" tIns="2286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PAVLOV</a:t>
            </a:r>
            <a:endParaRPr/>
          </a:p>
        </p:txBody>
      </p:sp>
      <p:sp>
        <p:nvSpPr>
          <p:cNvPr id="138" name="Google Shape;138;p20"/>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rPr lang="en-US" sz="1400"/>
              <a:t>A ideia básica do condicionamento clássico consiste </a:t>
            </a:r>
            <a:endParaRPr sz="1400"/>
          </a:p>
          <a:p>
            <a:pPr indent="0" lvl="0" marL="0" rtl="0" algn="l">
              <a:spcBef>
                <a:spcPts val="1120"/>
              </a:spcBef>
              <a:spcAft>
                <a:spcPts val="0"/>
              </a:spcAft>
              <a:buNone/>
            </a:pPr>
            <a:r>
              <a:rPr lang="en-US" sz="1400"/>
              <a:t>em que algumas respostas comportamentais </a:t>
            </a:r>
            <a:endParaRPr sz="1400"/>
          </a:p>
          <a:p>
            <a:pPr indent="0" lvl="0" marL="0" rtl="0" algn="l">
              <a:spcBef>
                <a:spcPts val="1120"/>
              </a:spcBef>
              <a:spcAft>
                <a:spcPts val="0"/>
              </a:spcAft>
              <a:buNone/>
            </a:pPr>
            <a:r>
              <a:rPr lang="en-US" sz="1400"/>
              <a:t>são reflexos incondicionados, ou seja, </a:t>
            </a:r>
            <a:endParaRPr sz="1400"/>
          </a:p>
          <a:p>
            <a:pPr indent="0" lvl="0" marL="0" rtl="0" algn="l">
              <a:spcBef>
                <a:spcPts val="1120"/>
              </a:spcBef>
              <a:spcAft>
                <a:spcPts val="0"/>
              </a:spcAft>
              <a:buNone/>
            </a:pPr>
            <a:r>
              <a:rPr lang="en-US" sz="1400"/>
              <a:t>são inatas em vez de aprendidas, </a:t>
            </a:r>
            <a:endParaRPr sz="1400"/>
          </a:p>
          <a:p>
            <a:pPr indent="0" lvl="0" marL="0" rtl="0" algn="l">
              <a:spcBef>
                <a:spcPts val="1120"/>
              </a:spcBef>
              <a:spcAft>
                <a:spcPts val="0"/>
              </a:spcAft>
              <a:buNone/>
            </a:pPr>
            <a:r>
              <a:rPr lang="en-US" sz="1400"/>
              <a:t>enquanto que outras são reflexos condicionados, </a:t>
            </a:r>
            <a:endParaRPr sz="1400"/>
          </a:p>
          <a:p>
            <a:pPr indent="0" lvl="0" marL="0" rtl="0" algn="l">
              <a:spcBef>
                <a:spcPts val="1120"/>
              </a:spcBef>
              <a:spcAft>
                <a:spcPts val="0"/>
              </a:spcAft>
              <a:buNone/>
            </a:pPr>
            <a:r>
              <a:rPr lang="en-US" sz="1400"/>
              <a:t>aprendidos através do emparelhamento </a:t>
            </a:r>
            <a:endParaRPr sz="1400"/>
          </a:p>
          <a:p>
            <a:pPr indent="0" lvl="0" marL="0" rtl="0" algn="l">
              <a:spcBef>
                <a:spcPts val="1120"/>
              </a:spcBef>
              <a:spcAft>
                <a:spcPts val="0"/>
              </a:spcAft>
              <a:buNone/>
            </a:pPr>
            <a:r>
              <a:rPr lang="en-US" sz="1400"/>
              <a:t>com situações agradáveis ou aversivas </a:t>
            </a:r>
            <a:endParaRPr sz="1400"/>
          </a:p>
          <a:p>
            <a:pPr indent="0" lvl="0" marL="0" rtl="0" algn="l">
              <a:spcBef>
                <a:spcPts val="1120"/>
              </a:spcBef>
              <a:spcAft>
                <a:spcPts val="0"/>
              </a:spcAft>
              <a:buNone/>
            </a:pPr>
            <a:r>
              <a:rPr lang="en-US" sz="1400"/>
              <a:t>simultâneas ou imediatamente posteriores.</a:t>
            </a:r>
            <a:endParaRPr sz="1400"/>
          </a:p>
        </p:txBody>
      </p:sp>
      <p:pic>
        <p:nvPicPr>
          <p:cNvPr id="139" name="Google Shape;139;p20"/>
          <p:cNvPicPr preferRelativeResize="0"/>
          <p:nvPr/>
        </p:nvPicPr>
        <p:blipFill>
          <a:blip r:embed="rId3">
            <a:alphaModFix/>
          </a:blip>
          <a:stretch>
            <a:fillRect/>
          </a:stretch>
        </p:blipFill>
        <p:spPr>
          <a:xfrm>
            <a:off x="5329849" y="1681250"/>
            <a:ext cx="3176900" cy="36999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00"/>
              </a:buClr>
              <a:buSzPts val="3200"/>
              <a:buFont typeface="Arial"/>
              <a:buNone/>
            </a:pPr>
            <a:r>
              <a:rPr b="1" i="0" lang="en-US" sz="3200" u="none">
                <a:solidFill>
                  <a:srgbClr val="CC0000"/>
                </a:solidFill>
                <a:latin typeface="Arial"/>
                <a:ea typeface="Arial"/>
                <a:cs typeface="Arial"/>
                <a:sym typeface="Arial"/>
              </a:rPr>
              <a:t>1. Condicionamento clássico (Pavlov)</a:t>
            </a:r>
            <a:endParaRPr/>
          </a:p>
        </p:txBody>
      </p:sp>
      <p:sp>
        <p:nvSpPr>
          <p:cNvPr id="145" name="Google Shape;145;p21"/>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457200" lvl="0" marL="457200" rtl="0" algn="l">
              <a:lnSpc>
                <a:spcPct val="100000"/>
              </a:lnSpc>
              <a:spcBef>
                <a:spcPts val="0"/>
              </a:spcBef>
              <a:spcAft>
                <a:spcPts val="0"/>
              </a:spcAft>
              <a:buSzPts val="2400"/>
              <a:buFont typeface="Arial"/>
              <a:buNone/>
            </a:pPr>
            <a:r>
              <a:t/>
            </a:r>
            <a:endParaRPr b="1" i="0" sz="2000" u="none">
              <a:solidFill>
                <a:srgbClr val="000066"/>
              </a:solidFill>
              <a:latin typeface="Arial"/>
              <a:ea typeface="Arial"/>
              <a:cs typeface="Arial"/>
              <a:sym typeface="Arial"/>
            </a:endParaRPr>
          </a:p>
          <a:p>
            <a:pPr indent="-457200" lvl="1" marL="914400" rtl="0" algn="l">
              <a:lnSpc>
                <a:spcPct val="100000"/>
              </a:lnSpc>
              <a:spcBef>
                <a:spcPts val="4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ENC (estímulo não condicionado), EC (estímulo condicionado), RC (resposta condicionada)</a:t>
            </a:r>
            <a:endParaRPr/>
          </a:p>
          <a:p>
            <a:pPr indent="-457200" lvl="2" marL="1314450" rtl="0" algn="l">
              <a:lnSpc>
                <a:spcPct val="100000"/>
              </a:lnSpc>
              <a:spcBef>
                <a:spcPts val="4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Marca = EC</a:t>
            </a:r>
            <a:endParaRPr/>
          </a:p>
          <a:p>
            <a:pPr indent="-304800" lvl="1" marL="914400" rtl="0" algn="l">
              <a:lnSpc>
                <a:spcPct val="100000"/>
              </a:lnSpc>
              <a:spcBef>
                <a:spcPts val="400"/>
              </a:spcBef>
              <a:spcAft>
                <a:spcPts val="0"/>
              </a:spcAft>
              <a:buClr>
                <a:schemeClr val="folHlink"/>
              </a:buClr>
              <a:buSzPts val="2400"/>
              <a:buFont typeface="Arial"/>
              <a:buNone/>
            </a:pPr>
            <a:r>
              <a:t/>
            </a:r>
            <a:endParaRPr b="1" i="0" sz="2000" u="none">
              <a:solidFill>
                <a:srgbClr val="000066"/>
              </a:solidFill>
              <a:latin typeface="Arial"/>
              <a:ea typeface="Arial"/>
              <a:cs typeface="Arial"/>
              <a:sym typeface="Arial"/>
            </a:endParaRPr>
          </a:p>
          <a:p>
            <a:pPr indent="-457200" lvl="1" marL="914400" rtl="0" algn="l">
              <a:lnSpc>
                <a:spcPct val="100000"/>
              </a:lnSpc>
              <a:spcBef>
                <a:spcPts val="4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Repetição: </a:t>
            </a:r>
            <a:r>
              <a:rPr b="0" i="0" lang="en-US" sz="2000" u="none">
                <a:solidFill>
                  <a:srgbClr val="000066"/>
                </a:solidFill>
                <a:latin typeface="Arial"/>
                <a:ea typeface="Arial"/>
                <a:cs typeface="Arial"/>
                <a:sym typeface="Arial"/>
              </a:rPr>
              <a:t>é mais provável que os efeitos do condicionamento ocorram após os EC e ENC terem sido combinados repetidamente</a:t>
            </a:r>
            <a:endParaRPr/>
          </a:p>
          <a:p>
            <a:pPr indent="-304800" lvl="1" marL="914400" rtl="0" algn="l">
              <a:lnSpc>
                <a:spcPct val="100000"/>
              </a:lnSpc>
              <a:spcBef>
                <a:spcPts val="400"/>
              </a:spcBef>
              <a:spcAft>
                <a:spcPts val="0"/>
              </a:spcAft>
              <a:buClr>
                <a:schemeClr val="folHlink"/>
              </a:buClr>
              <a:buSzPts val="2400"/>
              <a:buFont typeface="Arial"/>
              <a:buNone/>
            </a:pPr>
            <a:r>
              <a:t/>
            </a:r>
            <a:endParaRPr b="1" i="0" sz="2000" u="none">
              <a:solidFill>
                <a:srgbClr val="000066"/>
              </a:solidFill>
              <a:latin typeface="Arial"/>
              <a:ea typeface="Arial"/>
              <a:cs typeface="Arial"/>
              <a:sym typeface="Arial"/>
            </a:endParaRPr>
          </a:p>
          <a:p>
            <a:pPr indent="-457200" lvl="1" marL="914400" rtl="0" algn="l">
              <a:lnSpc>
                <a:spcPct val="100000"/>
              </a:lnSpc>
              <a:spcBef>
                <a:spcPts val="4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Generalização de estímulo (efeito halo)</a:t>
            </a:r>
            <a:endParaRPr/>
          </a:p>
          <a:p>
            <a:pPr indent="-304800" lvl="0" marL="457200" rtl="0" algn="l">
              <a:lnSpc>
                <a:spcPct val="100000"/>
              </a:lnSpc>
              <a:spcBef>
                <a:spcPts val="800"/>
              </a:spcBef>
              <a:spcAft>
                <a:spcPts val="0"/>
              </a:spcAft>
              <a:buClr>
                <a:schemeClr val="folHlink"/>
              </a:buClr>
              <a:buSzPts val="2400"/>
              <a:buFont typeface="Arial"/>
              <a:buNone/>
            </a:pPr>
            <a:r>
              <a:t/>
            </a:r>
            <a:endParaRPr b="1" i="0" sz="2000" u="none">
              <a:solidFill>
                <a:srgbClr val="CC0000"/>
              </a:solidFill>
              <a:latin typeface="Arial"/>
              <a:ea typeface="Arial"/>
              <a:cs typeface="Arial"/>
              <a:sym typeface="Arial"/>
            </a:endParaRPr>
          </a:p>
          <a:p>
            <a:pPr indent="-304800" lvl="1" marL="914400" rtl="0" algn="l">
              <a:lnSpc>
                <a:spcPct val="100000"/>
              </a:lnSpc>
              <a:spcBef>
                <a:spcPts val="400"/>
              </a:spcBef>
              <a:spcAft>
                <a:spcPts val="0"/>
              </a:spcAft>
              <a:buClr>
                <a:schemeClr val="folHlink"/>
              </a:buClr>
              <a:buSzPts val="2400"/>
              <a:buFont typeface="Arial"/>
              <a:buNone/>
            </a:pPr>
            <a:r>
              <a:t/>
            </a:r>
            <a:endParaRPr b="1" i="0" sz="2000" u="none">
              <a:solidFill>
                <a:srgbClr val="000066"/>
              </a:solidFill>
              <a:latin typeface="Arial"/>
              <a:ea typeface="Arial"/>
              <a:cs typeface="Arial"/>
              <a:sym typeface="Arial"/>
            </a:endParaRPr>
          </a:p>
          <a:p>
            <a:pPr indent="-457200" lvl="0" marL="457200" rtl="0" algn="l">
              <a:lnSpc>
                <a:spcPct val="100000"/>
              </a:lnSpc>
              <a:spcBef>
                <a:spcPts val="800"/>
              </a:spcBef>
              <a:spcAft>
                <a:spcPts val="0"/>
              </a:spcAft>
              <a:buClr>
                <a:schemeClr val="folHlink"/>
              </a:buClr>
              <a:buSzPts val="2400"/>
              <a:buFont typeface="Arial"/>
              <a:buChar char="•"/>
            </a:pPr>
            <a:r>
              <a:rPr b="1" i="0" lang="en-US" sz="2000" u="sng">
                <a:solidFill>
                  <a:srgbClr val="000066"/>
                </a:solidFill>
                <a:hlinkClick r:id="rId3">
                  <a:extLst>
                    <a:ext uri="{A12FA001-AC4F-418D-AE19-62706E023703}">
                      <ahyp:hlinkClr val="tx"/>
                    </a:ext>
                  </a:extLst>
                </a:hlinkClick>
              </a:rPr>
              <a:t>http://www.youtube.com/watch?v=YhYZJL-Ni7U</a:t>
            </a:r>
            <a:r>
              <a:rPr b="1" i="0" lang="en-US" sz="2000" u="none">
                <a:solidFill>
                  <a:srgbClr val="000066"/>
                </a:solidFill>
                <a:latin typeface="Arial"/>
                <a:ea typeface="Arial"/>
                <a:cs typeface="Arial"/>
                <a:sym typeface="Arial"/>
              </a:rPr>
              <a:t> </a:t>
            </a:r>
            <a:endParaRPr/>
          </a:p>
          <a:p>
            <a:pPr indent="-190500" lvl="0" marL="342900" rtl="0" algn="l">
              <a:spcBef>
                <a:spcPts val="800"/>
              </a:spcBef>
              <a:spcAft>
                <a:spcPts val="0"/>
              </a:spcAft>
              <a:buSzPts val="2400"/>
              <a:buFont typeface="Arial"/>
              <a:buNone/>
            </a:pPr>
            <a:r>
              <a:t/>
            </a:r>
            <a:endParaRPr b="1" i="0" sz="2000" u="none">
              <a:solidFill>
                <a:srgbClr val="000066"/>
              </a:solidFill>
              <a:latin typeface="Arial"/>
              <a:ea typeface="Arial"/>
              <a:cs typeface="Arial"/>
              <a:sym typeface="Arial"/>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22"/>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O Condicionamento Clássico de Pavlov também é chamado de Condicionamento Pavloviano e Condicionamento respondente.&#10;&#10;Tópicos do vídeo:&#10;&#10;- A descoberta do Condicionamento Clássico pelo fisiologista russo ganhador do prêmio Nobel Ivan Pavlov e a influência disso na Psicologia Comportamental (Behaviorismo).&#10;&#10;- Princípios básicos do Condicionamento Clássico: &#10;&#10;Estímulo incondicionado, resposta condicionada, estímulo neutro estímulo condicionado, resposta condicionada e emparelhamento de estímulos.&#10;&#10;- Como funciona o condicionamento pavloviano (processo)&#10;&#10;- Exemplos de condicionamento clássico / condicionamento respondente.&#10;&#10;- Aplicações práticas do condicionamento clássico: treinamento de cães, tratamento de fobias, tratamento de ansiedade social&#10;&#10;-----------------------------------------------------------------------------------------------------&#10;&#10;► Vídeos relacionados:&#10;&#10;• Estímulo incondicionado e Resposta Condicionada&#10;(Ou ele sumiu, ou eu não fiz e achei que tinha feito. Vídeo sobre falsas memórias em breve :P)&#10;&#10;• Estímulo Condicionado e Resposta Condicionada (com Exemplos) &#10;https://www.youtube.com/watch?v=1QxpUWPep9o&#10;&#10;• 3 experimentos clássicos do condicionamento clássico:&#10;&#10;1 - Ivan Pavlov e o condicionamento clássico em cães&#10;2 - John B Watson e o Pequeno Albert&#10;3 - John Garcia e a aversão condicionada ao sabor&#10;&#10;https://www.youtube.com/watch?v=NjCWFsKWiuQ&#10;&#10;&#10;-----------------------------------------------------------------------------------------------------&#10;&#10;Referências&#10;&#10;Garcia, J., &amp; Koelling, R. A. (1966). Relation of cue to consequence in avoidance learning.Psychonomic Science, 4, 123-124.&#10;&#10;Gustavson, C. R., Garcia, J., Hankins, W. G., &amp; Rusiniak, K. W. (1974). Coyote predation control by aversive conditioning. Science, 184, 581-583.&#10;&#10;Nevid, J. S. (2013). Psychology: Concepts and Applications. Belmont, CA: Wadsworth.&#10;&#10;Watson, J. B. &amp; Rayner, R. (1920). Conditioned emotional reactions. Journal of Experimental Psychology, 3(1), 1–14.&#10;&#10;______________________________________________________&#10;&#10;Site: http://psicoativo.com&#10;&#10;Redes sociais:&#10;&#10;https://www.facebook.com/psicoativo.site&#10;https://twitter.com/psicoativos&#10;https://plus.google.com/+Psicoativos&#10;https://www.instagram.com/psico.ativo&#10;&#10;Grupo de Psicologia no Facebook&#10;https://www.facebook.com/groups/psicoativos/&#10;&#10;Comunidade de Psicologia no Google+&#10;https://plus.google.com/u/0/communities/110863968129008356273" id="153" name="Google Shape;153;p22" title="Condicionamento Clássico Explicado | (Condicionamento Pavloviano)">
            <a:hlinkClick r:id="rId3"/>
          </p:cNvPr>
          <p:cNvPicPr preferRelativeResize="0"/>
          <p:nvPr/>
        </p:nvPicPr>
        <p:blipFill>
          <a:blip r:embed="rId4">
            <a:alphaModFix/>
          </a:blip>
          <a:stretch>
            <a:fillRect/>
          </a:stretch>
        </p:blipFill>
        <p:spPr>
          <a:xfrm>
            <a:off x="1438635" y="1078975"/>
            <a:ext cx="6345590" cy="4759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Exemplo: TGIT ABC</a:t>
            </a:r>
            <a:endParaRPr/>
          </a:p>
        </p:txBody>
      </p:sp>
      <p:sp>
        <p:nvSpPr>
          <p:cNvPr id="160" name="Google Shape;160;p23"/>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161" name="Google Shape;161;p23"/>
          <p:cNvPicPr preferRelativeResize="0"/>
          <p:nvPr/>
        </p:nvPicPr>
        <p:blipFill>
          <a:blip r:embed="rId3">
            <a:alphaModFix/>
          </a:blip>
          <a:stretch>
            <a:fillRect/>
          </a:stretch>
        </p:blipFill>
        <p:spPr>
          <a:xfrm>
            <a:off x="779061" y="1584061"/>
            <a:ext cx="4791825" cy="3247200"/>
          </a:xfrm>
          <a:prstGeom prst="rect">
            <a:avLst/>
          </a:prstGeom>
          <a:noFill/>
          <a:ln>
            <a:noFill/>
          </a:ln>
        </p:spPr>
      </p:pic>
      <p:pic>
        <p:nvPicPr>
          <p:cNvPr id="162" name="Google Shape;162;p23"/>
          <p:cNvPicPr preferRelativeResize="0"/>
          <p:nvPr/>
        </p:nvPicPr>
        <p:blipFill>
          <a:blip r:embed="rId4">
            <a:alphaModFix/>
          </a:blip>
          <a:stretch>
            <a:fillRect/>
          </a:stretch>
        </p:blipFill>
        <p:spPr>
          <a:xfrm>
            <a:off x="5925425" y="1674100"/>
            <a:ext cx="2140450" cy="1605325"/>
          </a:xfrm>
          <a:prstGeom prst="rect">
            <a:avLst/>
          </a:prstGeom>
          <a:noFill/>
          <a:ln>
            <a:noFill/>
          </a:ln>
        </p:spPr>
      </p:pic>
      <p:pic>
        <p:nvPicPr>
          <p:cNvPr id="163" name="Google Shape;163;p23"/>
          <p:cNvPicPr preferRelativeResize="0"/>
          <p:nvPr/>
        </p:nvPicPr>
        <p:blipFill>
          <a:blip r:embed="rId5">
            <a:alphaModFix/>
          </a:blip>
          <a:stretch>
            <a:fillRect/>
          </a:stretch>
        </p:blipFill>
        <p:spPr>
          <a:xfrm>
            <a:off x="6072306" y="3346625"/>
            <a:ext cx="1517025" cy="2835550"/>
          </a:xfrm>
          <a:prstGeom prst="rect">
            <a:avLst/>
          </a:prstGeom>
          <a:noFill/>
          <a:ln>
            <a:noFill/>
          </a:ln>
        </p:spPr>
      </p:pic>
      <p:sp>
        <p:nvSpPr>
          <p:cNvPr id="164" name="Google Shape;164;p23"/>
          <p:cNvSpPr/>
          <p:nvPr/>
        </p:nvSpPr>
        <p:spPr>
          <a:xfrm>
            <a:off x="1540225" y="5230075"/>
            <a:ext cx="3213000" cy="819900"/>
          </a:xfrm>
          <a:prstGeom prst="rightArrow">
            <a:avLst>
              <a:gd fmla="val 50000" name="adj1"/>
              <a:gd fmla="val 50000" name="adj2"/>
            </a:avLst>
          </a:prstGeom>
          <a:solidFill>
            <a:schemeClr val="l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t>ASSOCIAÇÃO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EC simultâneo ao ENC</a:t>
            </a:r>
            <a:endParaRPr/>
          </a:p>
        </p:txBody>
      </p:sp>
      <p:sp>
        <p:nvSpPr>
          <p:cNvPr id="170" name="Google Shape;170;p24"/>
          <p:cNvSpPr txBox="1"/>
          <p:nvPr>
            <p:ph idx="1"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sp>
        <p:nvSpPr>
          <p:cNvPr id="171" name="Google Shape;171;p24"/>
          <p:cNvSpPr txBox="1"/>
          <p:nvPr/>
        </p:nvSpPr>
        <p:spPr>
          <a:xfrm>
            <a:off x="609600" y="5876925"/>
            <a:ext cx="1038300" cy="83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4800"/>
              <a:buFont typeface="Arial"/>
              <a:buNone/>
            </a:pPr>
            <a:r>
              <a:rPr b="0" i="0" lang="en-US" sz="4800" u="none">
                <a:solidFill>
                  <a:schemeClr val="dk1"/>
                </a:solidFill>
                <a:latin typeface="Arial"/>
                <a:ea typeface="Arial"/>
                <a:cs typeface="Arial"/>
                <a:sym typeface="Arial"/>
              </a:rPr>
              <a:t>EC</a:t>
            </a:r>
            <a:endParaRPr/>
          </a:p>
        </p:txBody>
      </p:sp>
      <p:pic>
        <p:nvPicPr>
          <p:cNvPr descr="http://static1.purepeople.com.br/articles/4/90/44/@/70144-tony-ramos-620x0-1.jpg" id="172" name="Google Shape;172;p24"/>
          <p:cNvPicPr preferRelativeResize="0"/>
          <p:nvPr/>
        </p:nvPicPr>
        <p:blipFill rotWithShape="1">
          <a:blip r:embed="rId3">
            <a:alphaModFix/>
          </a:blip>
          <a:srcRect b="0" l="0" r="0" t="0"/>
          <a:stretch/>
        </p:blipFill>
        <p:spPr>
          <a:xfrm>
            <a:off x="1335087" y="1354137"/>
            <a:ext cx="5905500" cy="4429125"/>
          </a:xfrm>
          <a:prstGeom prst="rect">
            <a:avLst/>
          </a:prstGeom>
          <a:noFill/>
          <a:ln>
            <a:noFill/>
          </a:ln>
        </p:spPr>
      </p:pic>
      <p:cxnSp>
        <p:nvCxnSpPr>
          <p:cNvPr id="173" name="Google Shape;173;p24"/>
          <p:cNvCxnSpPr/>
          <p:nvPr/>
        </p:nvCxnSpPr>
        <p:spPr>
          <a:xfrm flipH="1" rot="10800000">
            <a:off x="838200" y="5686362"/>
            <a:ext cx="496800" cy="96900"/>
          </a:xfrm>
          <a:prstGeom prst="straightConnector1">
            <a:avLst/>
          </a:prstGeom>
          <a:noFill/>
          <a:ln cap="flat" cmpd="sng" w="25400">
            <a:solidFill>
              <a:schemeClr val="dk1"/>
            </a:solidFill>
            <a:prstDash val="solid"/>
            <a:miter lim="800000"/>
            <a:headEnd len="med" w="med" type="none"/>
            <a:tailEnd len="med" w="med" type="triangle"/>
          </a:ln>
        </p:spPr>
      </p:cxn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Efeito halo (generalização do estímulo)</a:t>
            </a:r>
            <a:endParaRPr/>
          </a:p>
        </p:txBody>
      </p:sp>
      <p:sp>
        <p:nvSpPr>
          <p:cNvPr id="179" name="Google Shape;179;p25"/>
          <p:cNvSpPr txBox="1"/>
          <p:nvPr>
            <p:ph idx="1"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129540" lvl="0" marL="342900" rtl="0" algn="l">
              <a:spcBef>
                <a:spcPts val="0"/>
              </a:spcBef>
              <a:spcAft>
                <a:spcPts val="0"/>
              </a:spcAft>
              <a:buSzPts val="3360"/>
              <a:buFont typeface="Arial"/>
              <a:buNone/>
            </a:pPr>
            <a:r>
              <a:t/>
            </a:r>
            <a:endParaRPr sz="2800"/>
          </a:p>
        </p:txBody>
      </p:sp>
      <p:pic>
        <p:nvPicPr>
          <p:cNvPr descr="http://assets.angeloni.com.br/files/images/5/4D/EC/3465600_1_A.jpg" id="180" name="Google Shape;180;p25"/>
          <p:cNvPicPr preferRelativeResize="0"/>
          <p:nvPr/>
        </p:nvPicPr>
        <p:blipFill rotWithShape="1">
          <a:blip r:embed="rId3">
            <a:alphaModFix/>
          </a:blip>
          <a:srcRect b="0" l="0" r="0" t="0"/>
          <a:stretch/>
        </p:blipFill>
        <p:spPr>
          <a:xfrm>
            <a:off x="3581400" y="4114800"/>
            <a:ext cx="2590800" cy="2590800"/>
          </a:xfrm>
          <a:prstGeom prst="rect">
            <a:avLst/>
          </a:prstGeom>
          <a:noFill/>
          <a:ln>
            <a:noFill/>
          </a:ln>
        </p:spPr>
      </p:pic>
      <p:pic>
        <p:nvPicPr>
          <p:cNvPr descr="http://i110.twenga.com/alimentos-bebidas/milho/maizena-amido-de-milho-tp_7620472271499426200vb.jpg" id="181" name="Google Shape;181;p25"/>
          <p:cNvPicPr preferRelativeResize="0"/>
          <p:nvPr/>
        </p:nvPicPr>
        <p:blipFill rotWithShape="1">
          <a:blip r:embed="rId4">
            <a:alphaModFix/>
          </a:blip>
          <a:srcRect b="0" l="0" r="0" t="0"/>
          <a:stretch/>
        </p:blipFill>
        <p:spPr>
          <a:xfrm>
            <a:off x="228600" y="1295400"/>
            <a:ext cx="2762250" cy="2762250"/>
          </a:xfrm>
          <a:prstGeom prst="rect">
            <a:avLst/>
          </a:prstGeom>
          <a:noFill/>
          <a:ln>
            <a:noFill/>
          </a:ln>
        </p:spPr>
      </p:pic>
      <p:pic>
        <p:nvPicPr>
          <p:cNvPr descr="http://www.fugini.com.br/media/uploads/produtos/amidaojpg.jpg" id="182" name="Google Shape;182;p25"/>
          <p:cNvPicPr preferRelativeResize="0"/>
          <p:nvPr/>
        </p:nvPicPr>
        <p:blipFill rotWithShape="1">
          <a:blip r:embed="rId5">
            <a:alphaModFix/>
          </a:blip>
          <a:srcRect b="0" l="0" r="0" t="0"/>
          <a:stretch/>
        </p:blipFill>
        <p:spPr>
          <a:xfrm>
            <a:off x="3505200" y="1371600"/>
            <a:ext cx="2509837" cy="2638426"/>
          </a:xfrm>
          <a:prstGeom prst="rect">
            <a:avLst/>
          </a:prstGeom>
          <a:noFill/>
          <a:ln>
            <a:noFill/>
          </a:ln>
        </p:spPr>
      </p:pic>
      <p:pic>
        <p:nvPicPr>
          <p:cNvPr descr="http://1.bp.blogspot.com/-XgKZgoNtzYM/UavUuPPTaEI/AAAAAAAAQgI/sjaVKo0Pi_w/s1600/b03be101%5B1%5D.jpg" id="183" name="Google Shape;183;p25"/>
          <p:cNvPicPr preferRelativeResize="0"/>
          <p:nvPr/>
        </p:nvPicPr>
        <p:blipFill rotWithShape="1">
          <a:blip r:embed="rId6">
            <a:alphaModFix/>
          </a:blip>
          <a:srcRect b="0" l="0" r="0" t="0"/>
          <a:stretch/>
        </p:blipFill>
        <p:spPr>
          <a:xfrm>
            <a:off x="220662" y="4038600"/>
            <a:ext cx="2903537" cy="2903536"/>
          </a:xfrm>
          <a:prstGeom prst="rect">
            <a:avLst/>
          </a:prstGeom>
          <a:noFill/>
          <a:ln>
            <a:noFill/>
          </a:ln>
        </p:spPr>
      </p:pic>
      <p:pic>
        <p:nvPicPr>
          <p:cNvPr id="184" name="Google Shape;184;p25"/>
          <p:cNvPicPr preferRelativeResize="0"/>
          <p:nvPr/>
        </p:nvPicPr>
        <p:blipFill rotWithShape="1">
          <a:blip r:embed="rId7">
            <a:alphaModFix/>
          </a:blip>
          <a:srcRect b="0" l="0" r="0" t="0"/>
          <a:stretch/>
        </p:blipFill>
        <p:spPr>
          <a:xfrm>
            <a:off x="6453187" y="1319212"/>
            <a:ext cx="2690812" cy="2690812"/>
          </a:xfrm>
          <a:prstGeom prst="rect">
            <a:avLst/>
          </a:prstGeom>
          <a:noFill/>
          <a:ln>
            <a:noFill/>
          </a:ln>
        </p:spPr>
      </p:pic>
      <p:pic>
        <p:nvPicPr>
          <p:cNvPr id="185" name="Google Shape;185;p25"/>
          <p:cNvPicPr preferRelativeResize="0"/>
          <p:nvPr/>
        </p:nvPicPr>
        <p:blipFill rotWithShape="1">
          <a:blip r:embed="rId8">
            <a:alphaModFix/>
          </a:blip>
          <a:srcRect b="0" l="0" r="0" t="0"/>
          <a:stretch/>
        </p:blipFill>
        <p:spPr>
          <a:xfrm>
            <a:off x="6475412" y="4419600"/>
            <a:ext cx="3048000" cy="2286000"/>
          </a:xfrm>
          <a:prstGeom prst="rect">
            <a:avLst/>
          </a:prstGeom>
          <a:noFill/>
          <a:ln>
            <a:noFill/>
          </a:ln>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Estratégias baseadas na generalização Condicio</a:t>
            </a:r>
            <a:r>
              <a:rPr lang="en-US"/>
              <a:t>namento Clássico)</a:t>
            </a:r>
            <a:endParaRPr/>
          </a:p>
        </p:txBody>
      </p:sp>
      <p:sp>
        <p:nvSpPr>
          <p:cNvPr id="191" name="Google Shape;191;p26"/>
          <p:cNvSpPr txBox="1"/>
          <p:nvPr>
            <p:ph idx="1"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Marca de família ou Extensão de linha</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Licenciamento</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Embalagem semelhante</a:t>
            </a:r>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722312" y="4406900"/>
            <a:ext cx="7772400" cy="136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sz="4000" cap="none"/>
          </a:p>
        </p:txBody>
      </p:sp>
      <p:sp>
        <p:nvSpPr>
          <p:cNvPr id="197" name="Google Shape;197;p27"/>
          <p:cNvSpPr txBox="1"/>
          <p:nvPr>
            <p:ph idx="1" type="body"/>
          </p:nvPr>
        </p:nvSpPr>
        <p:spPr>
          <a:xfrm>
            <a:off x="722312" y="2906712"/>
            <a:ext cx="7772400" cy="15003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400"/>
              <a:buFont typeface="Arial"/>
              <a:buNone/>
            </a:pPr>
            <a:r>
              <a:t/>
            </a:r>
            <a:endParaRPr sz="2000"/>
          </a:p>
        </p:txBody>
      </p:sp>
      <p:pic>
        <p:nvPicPr>
          <p:cNvPr id="198" name="Google Shape;198;p27"/>
          <p:cNvPicPr preferRelativeResize="0"/>
          <p:nvPr/>
        </p:nvPicPr>
        <p:blipFill rotWithShape="1">
          <a:blip r:embed="rId3">
            <a:alphaModFix/>
          </a:blip>
          <a:srcRect b="0" l="0" r="0" t="0"/>
          <a:stretch/>
        </p:blipFill>
        <p:spPr>
          <a:xfrm>
            <a:off x="2743200" y="381000"/>
            <a:ext cx="3733799" cy="5765799"/>
          </a:xfrm>
          <a:prstGeom prst="rect">
            <a:avLst/>
          </a:prstGeom>
          <a:noFill/>
          <a:ln>
            <a:noFill/>
          </a:ln>
        </p:spPr>
      </p:pic>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457200" y="277812"/>
            <a:ext cx="8229600" cy="8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Brand Extention</a:t>
            </a:r>
            <a:endParaRPr/>
          </a:p>
        </p:txBody>
      </p:sp>
      <p:sp>
        <p:nvSpPr>
          <p:cNvPr id="204" name="Google Shape;204;p28"/>
          <p:cNvSpPr txBox="1"/>
          <p:nvPr/>
        </p:nvSpPr>
        <p:spPr>
          <a:xfrm>
            <a:off x="974725" y="1301750"/>
            <a:ext cx="2901900" cy="731700"/>
          </a:xfrm>
          <a:prstGeom prst="rect">
            <a:avLst/>
          </a:prstGeom>
          <a:noFill/>
          <a:ln>
            <a:noFill/>
          </a:ln>
        </p:spPr>
        <p:txBody>
          <a:bodyPr anchorCtr="0" anchor="t" bIns="228600" lIns="91425" spcFirstLastPara="1" rIns="91425" wrap="square" tIns="2286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Generalização de estímulo</a:t>
            </a:r>
            <a:endParaRPr/>
          </a:p>
        </p:txBody>
      </p:sp>
      <p:pic>
        <p:nvPicPr>
          <p:cNvPr id="205" name="Google Shape;205;p28"/>
          <p:cNvPicPr preferRelativeResize="0"/>
          <p:nvPr/>
        </p:nvPicPr>
        <p:blipFill rotWithShape="1">
          <a:blip r:embed="rId3">
            <a:alphaModFix/>
          </a:blip>
          <a:srcRect b="0" l="0" r="0" t="0"/>
          <a:stretch/>
        </p:blipFill>
        <p:spPr>
          <a:xfrm>
            <a:off x="1008062" y="2560637"/>
            <a:ext cx="4275137" cy="2674937"/>
          </a:xfrm>
          <a:prstGeom prst="rect">
            <a:avLst/>
          </a:prstGeom>
          <a:noFill/>
          <a:ln>
            <a:noFill/>
          </a:ln>
        </p:spPr>
      </p:pic>
      <p:pic>
        <p:nvPicPr>
          <p:cNvPr id="206" name="Google Shape;206;p28"/>
          <p:cNvPicPr preferRelativeResize="0"/>
          <p:nvPr/>
        </p:nvPicPr>
        <p:blipFill rotWithShape="1">
          <a:blip r:embed="rId4">
            <a:alphaModFix/>
          </a:blip>
          <a:srcRect b="0" l="0" r="0" t="0"/>
          <a:stretch/>
        </p:blipFill>
        <p:spPr>
          <a:xfrm>
            <a:off x="6324600" y="1524000"/>
            <a:ext cx="2514600" cy="2514600"/>
          </a:xfrm>
          <a:prstGeom prst="rect">
            <a:avLst/>
          </a:prstGeom>
          <a:noFill/>
          <a:ln>
            <a:noFill/>
          </a:ln>
        </p:spPr>
      </p:pic>
      <p:pic>
        <p:nvPicPr>
          <p:cNvPr id="207" name="Google Shape;207;p28"/>
          <p:cNvPicPr preferRelativeResize="0"/>
          <p:nvPr/>
        </p:nvPicPr>
        <p:blipFill rotWithShape="1">
          <a:blip r:embed="rId5">
            <a:alphaModFix/>
          </a:blip>
          <a:srcRect b="0" l="0" r="0" t="0"/>
          <a:stretch/>
        </p:blipFill>
        <p:spPr>
          <a:xfrm>
            <a:off x="6553200" y="4032250"/>
            <a:ext cx="2057400" cy="240506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Brand Extension</a:t>
            </a:r>
            <a:endParaRPr/>
          </a:p>
        </p:txBody>
      </p:sp>
      <p:sp>
        <p:nvSpPr>
          <p:cNvPr id="214" name="Google Shape;214;p29"/>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215" name="Google Shape;215;p29"/>
          <p:cNvPicPr preferRelativeResize="0"/>
          <p:nvPr/>
        </p:nvPicPr>
        <p:blipFill>
          <a:blip r:embed="rId3">
            <a:alphaModFix/>
          </a:blip>
          <a:stretch>
            <a:fillRect/>
          </a:stretch>
        </p:blipFill>
        <p:spPr>
          <a:xfrm>
            <a:off x="664354" y="1635129"/>
            <a:ext cx="5558703" cy="1508975"/>
          </a:xfrm>
          <a:prstGeom prst="rect">
            <a:avLst/>
          </a:prstGeom>
          <a:noFill/>
          <a:ln>
            <a:noFill/>
          </a:ln>
        </p:spPr>
      </p:pic>
      <p:pic>
        <p:nvPicPr>
          <p:cNvPr id="216" name="Google Shape;216;p29"/>
          <p:cNvPicPr preferRelativeResize="0"/>
          <p:nvPr/>
        </p:nvPicPr>
        <p:blipFill>
          <a:blip r:embed="rId4">
            <a:alphaModFix/>
          </a:blip>
          <a:stretch>
            <a:fillRect/>
          </a:stretch>
        </p:blipFill>
        <p:spPr>
          <a:xfrm>
            <a:off x="3449300" y="3535234"/>
            <a:ext cx="4105275" cy="15089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Substituição de Marca com uso de efeito Halo</a:t>
            </a:r>
            <a:endParaRPr/>
          </a:p>
        </p:txBody>
      </p:sp>
      <p:sp>
        <p:nvSpPr>
          <p:cNvPr id="223" name="Google Shape;223;p30"/>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224" name="Google Shape;224;p30"/>
          <p:cNvPicPr preferRelativeResize="0"/>
          <p:nvPr/>
        </p:nvPicPr>
        <p:blipFill>
          <a:blip r:embed="rId3">
            <a:alphaModFix/>
          </a:blip>
          <a:stretch>
            <a:fillRect/>
          </a:stretch>
        </p:blipFill>
        <p:spPr>
          <a:xfrm>
            <a:off x="739675" y="1628213"/>
            <a:ext cx="2343150" cy="1952625"/>
          </a:xfrm>
          <a:prstGeom prst="rect">
            <a:avLst/>
          </a:prstGeom>
          <a:noFill/>
          <a:ln>
            <a:noFill/>
          </a:ln>
        </p:spPr>
      </p:pic>
      <p:pic>
        <p:nvPicPr>
          <p:cNvPr id="225" name="Google Shape;225;p30"/>
          <p:cNvPicPr preferRelativeResize="0"/>
          <p:nvPr/>
        </p:nvPicPr>
        <p:blipFill>
          <a:blip r:embed="rId4">
            <a:alphaModFix/>
          </a:blip>
          <a:stretch>
            <a:fillRect/>
          </a:stretch>
        </p:blipFill>
        <p:spPr>
          <a:xfrm>
            <a:off x="3419538" y="3051450"/>
            <a:ext cx="5457825" cy="2933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457200" y="277812"/>
            <a:ext cx="8229600" cy="8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Brand Extention</a:t>
            </a:r>
            <a:endParaRPr/>
          </a:p>
        </p:txBody>
      </p:sp>
      <p:pic>
        <p:nvPicPr>
          <p:cNvPr id="231" name="Google Shape;231;p31"/>
          <p:cNvPicPr preferRelativeResize="0"/>
          <p:nvPr/>
        </p:nvPicPr>
        <p:blipFill rotWithShape="1">
          <a:blip r:embed="rId3">
            <a:alphaModFix/>
          </a:blip>
          <a:srcRect b="0" l="0" r="0" t="0"/>
          <a:stretch/>
        </p:blipFill>
        <p:spPr>
          <a:xfrm>
            <a:off x="1598612" y="1752600"/>
            <a:ext cx="6173788" cy="47132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txBox="1"/>
          <p:nvPr>
            <p:ph type="title"/>
          </p:nvPr>
        </p:nvSpPr>
        <p:spPr>
          <a:xfrm>
            <a:off x="457200" y="277812"/>
            <a:ext cx="8229600" cy="865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Brand Extention</a:t>
            </a:r>
            <a:endParaRPr/>
          </a:p>
        </p:txBody>
      </p:sp>
      <p:pic>
        <p:nvPicPr>
          <p:cNvPr id="237" name="Google Shape;237;p32"/>
          <p:cNvPicPr preferRelativeResize="0"/>
          <p:nvPr/>
        </p:nvPicPr>
        <p:blipFill rotWithShape="1">
          <a:blip r:embed="rId3">
            <a:alphaModFix/>
          </a:blip>
          <a:srcRect b="0" l="0" r="0" t="0"/>
          <a:stretch/>
        </p:blipFill>
        <p:spPr>
          <a:xfrm>
            <a:off x="457200" y="1751012"/>
            <a:ext cx="8650287" cy="480218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Teorias behavioristas</a:t>
            </a:r>
            <a:endParaRPr/>
          </a:p>
        </p:txBody>
      </p:sp>
      <p:sp>
        <p:nvSpPr>
          <p:cNvPr id="243" name="Google Shape;243;p33"/>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Aprendizado ocorre como resultado de eventos externos (estímulo – resposta)</a:t>
            </a:r>
            <a:endParaRPr/>
          </a:p>
          <a:p>
            <a:pPr indent="-342900" lvl="0" marL="342900" rtl="0" algn="l">
              <a:lnSpc>
                <a:spcPct val="100000"/>
              </a:lnSpc>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As pessoas aprendem que suas ações resultam de recompensas ou punições.</a:t>
            </a:r>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sp>
        <p:nvSpPr>
          <p:cNvPr id="244" name="Google Shape;244;p33"/>
          <p:cNvSpPr txBox="1"/>
          <p:nvPr/>
        </p:nvSpPr>
        <p:spPr>
          <a:xfrm>
            <a:off x="3355975" y="2363787"/>
            <a:ext cx="1441450" cy="757237"/>
          </a:xfrm>
          <a:prstGeom prst="rect">
            <a:avLst/>
          </a:prstGeom>
          <a:solidFill>
            <a:schemeClr val="accent1"/>
          </a:solidFill>
          <a:ln cap="flat" cmpd="sng" w="25400">
            <a:solidFill>
              <a:schemeClr val="dk1"/>
            </a:solidFill>
            <a:prstDash val="solid"/>
            <a:miter lim="800000"/>
            <a:headEnd len="sm" w="sm" type="none"/>
            <a:tailEnd len="sm" w="sm" type="none"/>
          </a:ln>
        </p:spPr>
        <p:txBody>
          <a:bodyPr anchorCtr="0" anchor="ctr" bIns="228600" lIns="91425" spcFirstLastPara="1" rIns="91425" wrap="square" tIns="2286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Consumidor</a:t>
            </a:r>
            <a:endParaRPr/>
          </a:p>
        </p:txBody>
      </p:sp>
      <p:sp>
        <p:nvSpPr>
          <p:cNvPr id="245" name="Google Shape;245;p33"/>
          <p:cNvSpPr/>
          <p:nvPr/>
        </p:nvSpPr>
        <p:spPr>
          <a:xfrm>
            <a:off x="1447800" y="2328862"/>
            <a:ext cx="1466850" cy="871537"/>
          </a:xfrm>
          <a:prstGeom prst="ellipse">
            <a:avLst/>
          </a:prstGeom>
          <a:solidFill>
            <a:schemeClr val="accent1"/>
          </a:solidFill>
          <a:ln cap="flat" cmpd="sng" w="25400">
            <a:solidFill>
              <a:schemeClr val="dk1"/>
            </a:solidFill>
            <a:prstDash val="solid"/>
            <a:miter lim="800000"/>
            <a:headEnd len="sm" w="sm" type="none"/>
            <a:tailEnd len="sm" w="sm" type="none"/>
          </a:ln>
        </p:spPr>
        <p:txBody>
          <a:bodyPr anchorCtr="0" anchor="ctr" bIns="228600" lIns="91425" spcFirstLastPara="1" rIns="91425" wrap="square" tIns="2286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Estímulo</a:t>
            </a:r>
            <a:endParaRPr/>
          </a:p>
        </p:txBody>
      </p:sp>
      <p:sp>
        <p:nvSpPr>
          <p:cNvPr id="246" name="Google Shape;246;p33"/>
          <p:cNvSpPr/>
          <p:nvPr/>
        </p:nvSpPr>
        <p:spPr>
          <a:xfrm>
            <a:off x="5207000" y="2286000"/>
            <a:ext cx="1574800" cy="871537"/>
          </a:xfrm>
          <a:prstGeom prst="ellipse">
            <a:avLst/>
          </a:prstGeom>
          <a:solidFill>
            <a:schemeClr val="accent1"/>
          </a:solidFill>
          <a:ln cap="flat" cmpd="sng" w="25400">
            <a:solidFill>
              <a:schemeClr val="dk1"/>
            </a:solidFill>
            <a:prstDash val="solid"/>
            <a:miter lim="800000"/>
            <a:headEnd len="sm" w="sm" type="none"/>
            <a:tailEnd len="sm" w="sm" type="none"/>
          </a:ln>
        </p:spPr>
        <p:txBody>
          <a:bodyPr anchorCtr="0" anchor="ctr" bIns="228600" lIns="91425" spcFirstLastPara="1" rIns="91425" wrap="square" tIns="2286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Resposta</a:t>
            </a:r>
            <a:endParaRPr/>
          </a:p>
        </p:txBody>
      </p:sp>
      <p:cxnSp>
        <p:nvCxnSpPr>
          <p:cNvPr id="247" name="Google Shape;247;p33"/>
          <p:cNvCxnSpPr/>
          <p:nvPr/>
        </p:nvCxnSpPr>
        <p:spPr>
          <a:xfrm>
            <a:off x="2911475" y="2743200"/>
            <a:ext cx="381000" cy="0"/>
          </a:xfrm>
          <a:prstGeom prst="straightConnector1">
            <a:avLst/>
          </a:prstGeom>
          <a:noFill/>
          <a:ln cap="flat" cmpd="sng" w="25400">
            <a:solidFill>
              <a:schemeClr val="dk1"/>
            </a:solidFill>
            <a:prstDash val="solid"/>
            <a:miter lim="800000"/>
            <a:headEnd len="med" w="med" type="none"/>
            <a:tailEnd len="med" w="med" type="triangle"/>
          </a:ln>
        </p:spPr>
      </p:cxnSp>
      <p:cxnSp>
        <p:nvCxnSpPr>
          <p:cNvPr id="248" name="Google Shape;248;p33"/>
          <p:cNvCxnSpPr/>
          <p:nvPr/>
        </p:nvCxnSpPr>
        <p:spPr>
          <a:xfrm>
            <a:off x="4800600" y="2743200"/>
            <a:ext cx="381000" cy="0"/>
          </a:xfrm>
          <a:prstGeom prst="straightConnector1">
            <a:avLst/>
          </a:prstGeom>
          <a:noFill/>
          <a:ln cap="flat" cmpd="sng" w="25400">
            <a:solidFill>
              <a:schemeClr val="dk1"/>
            </a:solidFill>
            <a:prstDash val="solid"/>
            <a:miter lim="800000"/>
            <a:headEnd len="med" w="med" type="none"/>
            <a:tailEnd len="med" w="med" type="triangle"/>
          </a:ln>
        </p:spPr>
      </p:cxn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B.F. Skinner</a:t>
            </a:r>
            <a:endParaRPr/>
          </a:p>
        </p:txBody>
      </p:sp>
      <p:sp>
        <p:nvSpPr>
          <p:cNvPr id="255" name="Google Shape;255;p34"/>
          <p:cNvSpPr txBox="1"/>
          <p:nvPr>
            <p:ph idx="1" type="body"/>
          </p:nvPr>
        </p:nvSpPr>
        <p:spPr>
          <a:xfrm>
            <a:off x="457200" y="1371600"/>
            <a:ext cx="41655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rPr lang="en-US" sz="2300"/>
              <a:t>Skinner considerava o livre arbítrio uma ilusão e ação humana dependente das conseqüências de ações anteriores. Se as conseqüências fossem ruins, havia uma grande chance de a ação não ser repetida; se as conseqüências fossem boas, a probabilidade de a ação ser repetida se torna mais forte. </a:t>
            </a:r>
            <a:endParaRPr sz="2300"/>
          </a:p>
        </p:txBody>
      </p:sp>
      <p:pic>
        <p:nvPicPr>
          <p:cNvPr id="256" name="Google Shape;256;p34"/>
          <p:cNvPicPr preferRelativeResize="0"/>
          <p:nvPr/>
        </p:nvPicPr>
        <p:blipFill>
          <a:blip r:embed="rId3">
            <a:alphaModFix/>
          </a:blip>
          <a:stretch>
            <a:fillRect/>
          </a:stretch>
        </p:blipFill>
        <p:spPr>
          <a:xfrm>
            <a:off x="6664125" y="1586938"/>
            <a:ext cx="1905000" cy="2085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5"/>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Um pouco sobre os experimentos do Behaviorista B. F. Skinner." id="264" name="Google Shape;264;p35" title="Experimentos de Skinner com pombos (legendado em português)">
            <a:hlinkClick r:id="rId3"/>
          </p:cNvPr>
          <p:cNvPicPr preferRelativeResize="0"/>
          <p:nvPr/>
        </p:nvPicPr>
        <p:blipFill>
          <a:blip r:embed="rId4">
            <a:alphaModFix/>
          </a:blip>
          <a:stretch>
            <a:fillRect/>
          </a:stretch>
        </p:blipFill>
        <p:spPr>
          <a:xfrm>
            <a:off x="982925" y="737200"/>
            <a:ext cx="7046400" cy="5284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00"/>
              </a:buClr>
              <a:buSzPts val="3200"/>
              <a:buFont typeface="Arial"/>
              <a:buNone/>
            </a:pPr>
            <a:r>
              <a:rPr b="1" i="0" lang="en-US" sz="3200" u="none">
                <a:solidFill>
                  <a:srgbClr val="CC0000"/>
                </a:solidFill>
                <a:latin typeface="Arial"/>
                <a:ea typeface="Arial"/>
                <a:cs typeface="Arial"/>
                <a:sym typeface="Arial"/>
              </a:rPr>
              <a:t>2. Condicionamento instrumental (operante) (</a:t>
            </a:r>
            <a:r>
              <a:rPr b="1" i="0" lang="en-US" sz="3200" u="none">
                <a:solidFill>
                  <a:srgbClr val="CC0066"/>
                </a:solidFill>
                <a:latin typeface="Arial"/>
                <a:ea typeface="Arial"/>
                <a:cs typeface="Arial"/>
                <a:sym typeface="Arial"/>
              </a:rPr>
              <a:t>Skinner</a:t>
            </a:r>
            <a:r>
              <a:rPr b="1" i="0" lang="en-US" sz="3200" u="none">
                <a:solidFill>
                  <a:srgbClr val="CC0000"/>
                </a:solidFill>
                <a:latin typeface="Arial"/>
                <a:ea typeface="Arial"/>
                <a:cs typeface="Arial"/>
                <a:sym typeface="Arial"/>
              </a:rPr>
              <a:t>)</a:t>
            </a:r>
            <a:endParaRPr/>
          </a:p>
        </p:txBody>
      </p:sp>
      <p:sp>
        <p:nvSpPr>
          <p:cNvPr id="270" name="Google Shape;270;p36"/>
          <p:cNvSpPr txBox="1"/>
          <p:nvPr>
            <p:ph idx="1"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Recompensa por comportamento desejado</a:t>
            </a:r>
            <a:endParaRPr/>
          </a:p>
          <a:p>
            <a:pPr indent="-285750" lvl="1" marL="74295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Ganhar uma recompensa ou evitar uma punição</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A resposta é dada porque é um instrumento para ganhar recompensa ou evitar punição.</a:t>
            </a:r>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pic>
        <p:nvPicPr>
          <p:cNvPr id="271" name="Google Shape;271;p36"/>
          <p:cNvPicPr preferRelativeResize="0"/>
          <p:nvPr/>
        </p:nvPicPr>
        <p:blipFill rotWithShape="1">
          <a:blip r:embed="rId3">
            <a:alphaModFix/>
          </a:blip>
          <a:srcRect b="0" l="0" r="0" t="0"/>
          <a:stretch/>
        </p:blipFill>
        <p:spPr>
          <a:xfrm>
            <a:off x="3276600" y="3898900"/>
            <a:ext cx="3810000" cy="2959100"/>
          </a:xfrm>
          <a:prstGeom prst="rect">
            <a:avLst/>
          </a:prstGeom>
          <a:noFill/>
          <a:ln>
            <a:noFill/>
          </a:ln>
        </p:spPr>
      </p:pic>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2800"/>
              <a:buFont typeface="Arial"/>
              <a:buNone/>
            </a:pPr>
            <a:r>
              <a:rPr b="1" i="0" lang="en-US" sz="2800" u="none">
                <a:solidFill>
                  <a:srgbClr val="CC0066"/>
                </a:solidFill>
                <a:latin typeface="Arial"/>
                <a:ea typeface="Arial"/>
                <a:cs typeface="Arial"/>
                <a:sym typeface="Arial"/>
              </a:rPr>
              <a:t>2. Condicionamento instrumental (operante) (Skinner)</a:t>
            </a:r>
            <a:endParaRPr/>
          </a:p>
        </p:txBody>
      </p:sp>
      <p:sp>
        <p:nvSpPr>
          <p:cNvPr id="277" name="Google Shape;277;p37"/>
          <p:cNvSpPr txBox="1"/>
          <p:nvPr>
            <p:ph idx="1"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Recompensa por comportamento desejado</a:t>
            </a:r>
            <a:endParaRPr/>
          </a:p>
          <a:p>
            <a:pPr indent="-285750" lvl="1" marL="74295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Resposta deliberada para um objetivo</a:t>
            </a:r>
            <a:endParaRPr/>
          </a:p>
          <a:p>
            <a:pPr indent="-102870" lvl="1" marL="742950" rtl="0" algn="l">
              <a:lnSpc>
                <a:spcPct val="100000"/>
              </a:lnSpc>
              <a:spcBef>
                <a:spcPts val="48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pic>
        <p:nvPicPr>
          <p:cNvPr descr="¹ PsycoTube | http://www.psycotube.blogspot.com &#10;² Palco da Mente | http://www.palcodamente.com &#10;³ i9books | http://www.i9books.blogspot.com" id="278" name="Google Shape;278;p37" title="Skinner - Modelagem (legendado)">
            <a:hlinkClick r:id="rId3"/>
          </p:cNvPr>
          <p:cNvPicPr preferRelativeResize="0"/>
          <p:nvPr/>
        </p:nvPicPr>
        <p:blipFill>
          <a:blip r:embed="rId4">
            <a:alphaModFix/>
          </a:blip>
          <a:stretch>
            <a:fillRect/>
          </a:stretch>
        </p:blipFill>
        <p:spPr>
          <a:xfrm>
            <a:off x="2286000" y="2576775"/>
            <a:ext cx="4572000" cy="3429000"/>
          </a:xfrm>
          <a:prstGeom prst="rect">
            <a:avLst/>
          </a:prstGeom>
          <a:noFill/>
          <a:ln>
            <a:noFill/>
          </a:ln>
        </p:spPr>
      </p:pic>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Programas de reforço</a:t>
            </a:r>
            <a:endParaRPr/>
          </a:p>
        </p:txBody>
      </p:sp>
      <p:sp>
        <p:nvSpPr>
          <p:cNvPr id="284" name="Google Shape;284;p38"/>
          <p:cNvSpPr txBox="1"/>
          <p:nvPr>
            <p:ph idx="1" type="body"/>
          </p:nvPr>
        </p:nvSpPr>
        <p:spPr>
          <a:xfrm>
            <a:off x="457200" y="1219200"/>
            <a:ext cx="8229600" cy="475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Reforço positivo: uso do produto tem o efeito desejado</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Reforço negativo: não uso do produto tem efeito indesejado</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sng">
                <a:solidFill>
                  <a:srgbClr val="000066"/>
                </a:solidFill>
                <a:hlinkClick r:id="rId3">
                  <a:extLst>
                    <a:ext uri="{A12FA001-AC4F-418D-AE19-62706E023703}">
                      <ahyp:hlinkClr val="tx"/>
                    </a:ext>
                  </a:extLst>
                </a:hlinkClick>
              </a:rPr>
              <a:t>https://www.youtube.com/watch?v=Wx1bql2elJQ</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8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Intervalo fixo: liquidações</a:t>
            </a:r>
            <a:endParaRPr/>
          </a:p>
          <a:p>
            <a:pPr indent="-342900" lvl="0" marL="342900" rtl="0" algn="l">
              <a:lnSpc>
                <a:spcPct val="100000"/>
              </a:lnSpc>
              <a:spcBef>
                <a:spcPts val="8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Intervalo variável: compradores secretos</a:t>
            </a:r>
            <a:endParaRPr/>
          </a:p>
          <a:p>
            <a:pPr indent="-342900" lvl="0" marL="342900" rtl="0" algn="l">
              <a:lnSpc>
                <a:spcPct val="100000"/>
              </a:lnSpc>
              <a:spcBef>
                <a:spcPts val="8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Proporção fixa: milhagem</a:t>
            </a:r>
            <a:endParaRPr/>
          </a:p>
          <a:p>
            <a:pPr indent="-342900" lvl="0" marL="342900" rtl="0" algn="l">
              <a:lnSpc>
                <a:spcPct val="100000"/>
              </a:lnSpc>
              <a:spcBef>
                <a:spcPts val="96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Proporção variável: máquinas caça-níquei</a:t>
            </a:r>
            <a:r>
              <a:rPr b="1" i="0" lang="en-US" sz="2400" u="none">
                <a:solidFill>
                  <a:srgbClr val="000066"/>
                </a:solidFill>
                <a:latin typeface="Arial"/>
                <a:ea typeface="Arial"/>
                <a:cs typeface="Arial"/>
                <a:sym typeface="Arial"/>
              </a:rPr>
              <a:t>s</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pic>
        <p:nvPicPr>
          <p:cNvPr id="285" name="Google Shape;285;p38"/>
          <p:cNvPicPr preferRelativeResize="0"/>
          <p:nvPr/>
        </p:nvPicPr>
        <p:blipFill rotWithShape="1">
          <a:blip r:embed="rId4">
            <a:alphaModFix/>
          </a:blip>
          <a:srcRect b="0" l="0" r="0" t="0"/>
          <a:stretch/>
        </p:blipFill>
        <p:spPr>
          <a:xfrm>
            <a:off x="5465942" y="5978400"/>
            <a:ext cx="3220858" cy="743275"/>
          </a:xfrm>
          <a:prstGeom prst="rect">
            <a:avLst/>
          </a:prstGeom>
          <a:noFill/>
          <a:ln>
            <a:noFill/>
          </a:ln>
        </p:spPr>
      </p:pic>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Reforço Negativo</a:t>
            </a:r>
            <a:endParaRPr/>
          </a:p>
        </p:txBody>
      </p:sp>
      <p:sp>
        <p:nvSpPr>
          <p:cNvPr id="292" name="Google Shape;292;p39"/>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O slogan desenvolvido pela Talent foi feito para dar um up nos negócios da Brastemp no começo dos nos 90 e, até hoje, pode ser ouvido em conversas quando alguém quer classificar algo medíocre. “É bom… Não é assim uma Brastemp, mas é bom”.&#10;&#10;Os primeiros filmes da campanha – intitulada “Não tem Comparação” – foram lançados em 1991/1992. Talvez, os mais lembrados sejam os protagonizados pelos atores Wandi Doratiotto e Arthur Kohl. A campanha levou Leão em Cannes, Profissionais do Ano, entre outros. A direção de criação foi de Ana Carmen longobardi e Mauro Perez. A criação foi assinada por Paschoal Fabra Neto e Ricardo Freire, este último anunciado recentemente no hall da fama do Clube da Criação de São Paulo." id="293" name="Google Shape;293;p39" title="BRASTEMP | 1992">
            <a:hlinkClick r:id="rId3"/>
          </p:cNvPr>
          <p:cNvPicPr preferRelativeResize="0"/>
          <p:nvPr/>
        </p:nvPicPr>
        <p:blipFill>
          <a:blip r:embed="rId4">
            <a:alphaModFix/>
          </a:blip>
          <a:stretch>
            <a:fillRect/>
          </a:stretch>
        </p:blipFill>
        <p:spPr>
          <a:xfrm>
            <a:off x="2286000" y="1714500"/>
            <a:ext cx="4572000" cy="3429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Reforço Negativo</a:t>
            </a:r>
            <a:endParaRPr/>
          </a:p>
        </p:txBody>
      </p:sp>
      <p:sp>
        <p:nvSpPr>
          <p:cNvPr id="300" name="Google Shape;300;p40"/>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Comercial com a atriz Rosi Campos da campanha da Brastemp, que foi ao ar na TV no início da década de 90. A campanha fez tanto sucesso que até o slogan &quot;Não é assim uma Brastemp&quot; entrou para o vocabulário popular." id="301" name="Google Shape;301;p40" title="Não é assim uma Brastemp (1992) - comercial com Rosi Campos">
            <a:hlinkClick r:id="rId3"/>
          </p:cNvPr>
          <p:cNvPicPr preferRelativeResize="0"/>
          <p:nvPr/>
        </p:nvPicPr>
        <p:blipFill>
          <a:blip r:embed="rId4">
            <a:alphaModFix/>
          </a:blip>
          <a:stretch>
            <a:fillRect/>
          </a:stretch>
        </p:blipFill>
        <p:spPr>
          <a:xfrm>
            <a:off x="2286000" y="1714500"/>
            <a:ext cx="4572000" cy="3429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1"/>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Reforço Positivo</a:t>
            </a:r>
            <a:endParaRPr/>
          </a:p>
        </p:txBody>
      </p:sp>
      <p:sp>
        <p:nvSpPr>
          <p:cNvPr id="308" name="Google Shape;308;p41"/>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Axe, sempre mirabolante e surpreendente!!!!!!!!! e o melhor sempre com estilo!!!!!&#10;Veja o melhor dos comerciais da AXE aqui!!!!!!!!&#10;Facebook Oseias Reis: https://www.facebook.com/oseias.reis.524&#10;Facebook Davi Santos: https://www.facebook.com/profile.php?id=100008208789093" id="309" name="Google Shape;309;p41" title="AXE - Melhores comerciais">
            <a:hlinkClick r:id="rId3"/>
          </p:cNvPr>
          <p:cNvPicPr preferRelativeResize="0"/>
          <p:nvPr/>
        </p:nvPicPr>
        <p:blipFill>
          <a:blip r:embed="rId4">
            <a:alphaModFix/>
          </a:blip>
          <a:stretch>
            <a:fillRect/>
          </a:stretch>
        </p:blipFill>
        <p:spPr>
          <a:xfrm>
            <a:off x="2286000" y="1714500"/>
            <a:ext cx="4572000" cy="3429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2"/>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sz="2800"/>
              <a:t>Indicação de livro: Hábitos Atômicos (J. Clear)</a:t>
            </a:r>
            <a:endParaRPr sz="2800"/>
          </a:p>
        </p:txBody>
      </p:sp>
      <p:sp>
        <p:nvSpPr>
          <p:cNvPr id="316" name="Google Shape;316;p42"/>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317" name="Google Shape;317;p42"/>
          <p:cNvPicPr preferRelativeResize="0"/>
          <p:nvPr/>
        </p:nvPicPr>
        <p:blipFill rotWithShape="1">
          <a:blip r:embed="rId3">
            <a:alphaModFix/>
          </a:blip>
          <a:srcRect b="0" l="0" r="31144" t="31703"/>
          <a:stretch/>
        </p:blipFill>
        <p:spPr>
          <a:xfrm>
            <a:off x="1423925" y="1900425"/>
            <a:ext cx="6296150" cy="4163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Associação</a:t>
            </a:r>
            <a:endParaRPr/>
          </a:p>
        </p:txBody>
      </p:sp>
      <p:sp>
        <p:nvSpPr>
          <p:cNvPr id="323" name="Google Shape;323;p43"/>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sp>
        <p:nvSpPr>
          <p:cNvPr descr="data:image/jpeg;base64,/9j/4AAQSkZJRgABAQAAAQABAAD/2wCEAAkGBggGERUIBwgVCQkQGBYSFRYSFg8VFRQPHxEbIBgRFhkXGzIeFyUkGRQaHy8gLycpMTgvIR4xNTAqNSYxLTUBCQoKBQUFDQUFDSkYEhgpKSkpKSkpKSkpKSkpKSkpKSkpKSkpKSkpKSkpKSkpKSkpKSkpKSkpKSkpKSkpKSkpKf/AABEIAMIBAwMBIgACEQEDEQH/xAAcAAEAAQUBAQAAAAAAAAAAAAAABwMEBQYIAgH/xAA8EAEAAQIDBAcGAggHAAAAAAAAAQIDBAURBhIhQQcTMVFhcYEiUnKRobEIFBYjMkOCosHRFSVCYmPh8P/EABQBAQAAAAAAAAAAAAAAAAAAAAD/xAAUEQEAAAAAAAAAAAAAAAAAAAAA/9oADAMBAAIRAxEAPwCDgAAAAAAAAAAAAAAAAAAAAAAAerdEVzpNW7H/AEuPy1ujhXMzPHs8JiNNJ8Z7VtEzTxhUnE3J4Tpp8NEc9e4FaMBrrPWxpGuvDnEcu95jDUxG9VO9PLTlwmYmfSOxT/M3Nd7WNfKn+3iRia44xpE/DTw4acOHAHujBzXG9NcUzzieUa8/lPCNScJETMTc0iPCe7X7Qp9fXOuunHwp+nc9Tirk8NYiOzsp/t6fQH2bEUTpVrVTGuunDjp2PX5PWd2a93zjw18uzmp1Ym5VwmeE+FPf5f8Ao4dhViblXszMaaacIpj7Rw8wUgAAAAAAAAAAAAAAAAAAAAAAAAAAAAAAAAAAAAAAAAAAAAAAAAAAAAAAAAAAAAAAAAAAAAAAAAAAAAAAAAAAAAAAAAAAAAAAAAAAAAAAAAAAAAAAAAAAAAAAAAAAAAAAAAAAAAAAAAAAAAAAAAAASf0O9F36V1/4xnFv/KbVWlNM/v7kdtPwxznnPDv0DSrmzl3AYSnOMyibNGImacNR2VXdP273Hsop1iNeczGnDWWFSN0846u/mk4LTdsYa1at0UxwiImjfnSOX7enpCOQAAAABVw+GvYuqLWGs1Xrk9kURNUz6RxbTlXRPthnGk2MjuWaJ53t2zGnfpcmJn5A1ES/lX4cc2vcc1zezhI7rdNd2r67sfWWwXeiDYDZCmL+02a1XPC9dptRV8NFuN+r0mQQAyuVbK55nen+GZTexdM86Ldc0+tWmkfNKGM6TthNmP1eyGytvFXo7LtyiKIie+Kq4m7V/K03aHpc2r2i1t3MxnBYef3eH1tU6d01RO/PlNQLXFdH2NyjjtBmGGyer3Lt2Ll7TwtWIqq+ejB423l1n2MFeuYmfeqppt0+lO9VM/OPJZzVNXGqdZn7vgAAAAAAAAAAAAAAAAAAMrstkN7afGWcpw87td+uKZn3aO2uv0piZ9HYOVZZhsns0YDA2uqw1qmKKKY5UxH1nnM9+rnDoDmzGb09dpvzZvbmvv7sdn8O99XTQIl6ZeivF7U1U51kVEXMdRTFFy3MxE3aI13aqJnhvRrppPbGmnGNJgrF7M51gKurxeU37FccqrV2PvHF2eaA44wGxW0eZzu4PI8Rd15xauxT61TGkfNtuVdAm12YccVatZdT/wAtyJnTytRV/R01op3r9rD0zdvXIt26eMzVMRER3zM8IBDWVfhtwdGlWb53Xe76bFFFEeW9XNWvyhuWVdDWxuU6TGUxi64536q7mv8ADM7n8qhtF027KZDrbs4uczvx/pw8RVGvjcnSj5TPki7aL8QW0OZ628nsUZVannGl27p8VUbselPqCfKpybZe1NyeoyrCxz/VWaP6Q0PaLp92bynW3ldFebXo9yOrt6+Ndcaz6Uy54zPN8fnNf5jM8bcxl73rlVVc+Uazw8loCQ9ounLarO9beEv05VYnlYj29PG5V7Xy3Wg4nFX8ZVN/E3qr12rjNVczVVM+MzxlSAAAAAAAAAAAAAAAAAAAAAAAXeVZpislvUZhgLs2cTZqiuiqOVUfeOUx3aug9len3IMyopoz7XKsZHCr2a67VU99NVMTVT5THDvlziA63npT2OiN79IbOnxVfbRhc06d9j8BE9RirmPr7rNuv73N2HMQCYM//EXmeK1t5FltGCp5V3Z62vzimNKY9d5GmebVZ1tLV1mcZncxnOIqqncif9tEezT6QxQAAAAAAAAAAAAAAAAAAAAAAAAAAAAAAAAAAAAAAAAAAAAAAAAAAAAAAAAAAAAAAAAAAAAAAAAAAAAAAAAAAAAAAAAAAAAAAAAAAAAAAAAAAAAAAAAAAAAAAAAAAAAAAAAAAAAAAAAAAAAAAAAAAAAAAAAAAAAAAAAAAAAAAAAAAAAAAAAAAAAAAAAAAAAAAD//2Q==" id="324" name="Google Shape;324;p43"/>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descr="data:image/jpeg;base64,/9j/4AAQSkZJRgABAQAAAQABAAD/2wCEAAkGBggGERUIBwgVCQkQGBYSFRYSFg8VFRQPHxEbIBgRFhkXGzIeFyUkGRQaHy8gLycpMTgvIR4xNTAqNSYxLTUBCQoKBQUFDQUFDSkYEhgpKSkpKSkpKSkpKSkpKSkpKSkpKSkpKSkpKSkpKSkpKSkpKSkpKSkpKSkpKSkpKSkpKf/AABEIAMIBAwMBIgACEQEDEQH/xAAcAAEAAQUBAQAAAAAAAAAAAAAABwMEBQYIAgH/xAA8EAEAAQIDBAcGAggHAAAAAAAAAQIDBAURBhIhQQcTMVFhcYEiUnKRobEIFBYjMkOCosHRFSVCYmPh8P/EABQBAQAAAAAAAAAAAAAAAAAAAAD/xAAUEQEAAAAAAAAAAAAAAAAAAAAA/9oADAMBAAIRAxEAPwCDgAAAAAAAAAAAAAAAAAAAAAAAerdEVzpNW7H/AEuPy1ujhXMzPHs8JiNNJ8Z7VtEzTxhUnE3J4Tpp8NEc9e4FaMBrrPWxpGuvDnEcu95jDUxG9VO9PLTlwmYmfSOxT/M3Nd7WNfKn+3iRia44xpE/DTw4acOHAHujBzXG9NcUzzieUa8/lPCNScJETMTc0iPCe7X7Qp9fXOuunHwp+nc9Tirk8NYiOzsp/t6fQH2bEUTpVrVTGuunDjp2PX5PWd2a93zjw18uzmp1Ym5VwmeE+FPf5f8Ao4dhViblXszMaaacIpj7Rw8wUgAAAAAAAAAAAAAAAAAAAAAAAAAAAAAAAAAAAAAAAAAAAAAAAAAAAAAAAAAAAAAAAAAAAAAAAAAAAAAAAAAAAAAAAAAAAAAAAAAAAAAAAAAAAAAAAAAAAAAAAAAAAAAAAAAAAAAAAAAAAAAAAAAASf0O9F36V1/4xnFv/KbVWlNM/v7kdtPwxznnPDv0DSrmzl3AYSnOMyibNGImacNR2VXdP273Hsop1iNeczGnDWWFSN0846u/mk4LTdsYa1at0UxwiImjfnSOX7enpCOQAAAABVw+GvYuqLWGs1Xrk9kURNUz6RxbTlXRPthnGk2MjuWaJ53t2zGnfpcmJn5A1ES/lX4cc2vcc1zezhI7rdNd2r67sfWWwXeiDYDZCmL+02a1XPC9dptRV8NFuN+r0mQQAyuVbK55nen+GZTexdM86Ldc0+tWmkfNKGM6TthNmP1eyGytvFXo7LtyiKIie+Kq4m7V/K03aHpc2r2i1t3MxnBYef3eH1tU6d01RO/PlNQLXFdH2NyjjtBmGGyer3Lt2Ll7TwtWIqq+ejB423l1n2MFeuYmfeqppt0+lO9VM/OPJZzVNXGqdZn7vgAAAAAAAAAAAAAAAAAAMrstkN7afGWcpw87td+uKZn3aO2uv0piZ9HYOVZZhsns0YDA2uqw1qmKKKY5UxH1nnM9+rnDoDmzGb09dpvzZvbmvv7sdn8O99XTQIl6ZeivF7U1U51kVEXMdRTFFy3MxE3aI13aqJnhvRrppPbGmnGNJgrF7M51gKurxeU37FccqrV2PvHF2eaA44wGxW0eZzu4PI8Rd15xauxT61TGkfNtuVdAm12YccVatZdT/wAtyJnTytRV/R01op3r9rD0zdvXIt26eMzVMRER3zM8IBDWVfhtwdGlWb53Xe76bFFFEeW9XNWvyhuWVdDWxuU6TGUxi64536q7mv8ADM7n8qhtF027KZDrbs4uczvx/pw8RVGvjcnSj5TPki7aL8QW0OZ628nsUZVannGl27p8VUbselPqCfKpybZe1NyeoyrCxz/VWaP6Q0PaLp92bynW3ldFebXo9yOrt6+Ndcaz6Uy54zPN8fnNf5jM8bcxl73rlVVc+Uazw8loCQ9ounLarO9beEv05VYnlYj29PG5V7Xy3Wg4nFX8ZVN/E3qr12rjNVczVVM+MzxlSAAAAAAAAAAAAAAAAAAAAAAAXeVZpislvUZhgLs2cTZqiuiqOVUfeOUx3aug9len3IMyopoz7XKsZHCr2a67VU99NVMTVT5THDvlziA63npT2OiN79IbOnxVfbRhc06d9j8BE9RirmPr7rNuv73N2HMQCYM//EXmeK1t5FltGCp5V3Z62vzimNKY9d5GmebVZ1tLV1mcZncxnOIqqncif9tEezT6QxQAAAAAAAAAAAAAAAAAAAAAAAAAAAAAAAAAAAAAAAAAAAAAAAAAAAAAAAAAAAAAAAAAAAAAAAAAAAAAAAAAAAAAAAAAAAAAAAAAAAAAAAAAAAAAAAAAAAAAAAAAAAAAAAAAAAAAAAAAAAAAAAAAAAAAAAAAAAAAAAAAAAAAAAAAAAAAAAAAAAAAAAAAAAAAAD//2Q==" id="325" name="Google Shape;325;p43"/>
          <p:cNvSpPr txBox="1"/>
          <p:nvPr/>
        </p:nvSpPr>
        <p:spPr>
          <a:xfrm>
            <a:off x="307975" y="7937"/>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26" name="Google Shape;326;p43"/>
          <p:cNvPicPr preferRelativeResize="0"/>
          <p:nvPr/>
        </p:nvPicPr>
        <p:blipFill rotWithShape="1">
          <a:blip r:embed="rId3">
            <a:alphaModFix/>
          </a:blip>
          <a:srcRect b="0" l="0" r="0" t="0"/>
          <a:stretch/>
        </p:blipFill>
        <p:spPr>
          <a:xfrm>
            <a:off x="1676400" y="1371600"/>
            <a:ext cx="5638800" cy="4224337"/>
          </a:xfrm>
          <a:prstGeom prst="rect">
            <a:avLst/>
          </a:prstGeom>
          <a:noFill/>
          <a:ln>
            <a:noFill/>
          </a:ln>
        </p:spPr>
      </p:pic>
      <p:sp>
        <p:nvSpPr>
          <p:cNvPr id="327" name="Google Shape;327;p43"/>
          <p:cNvSpPr txBox="1"/>
          <p:nvPr/>
        </p:nvSpPr>
        <p:spPr>
          <a:xfrm>
            <a:off x="990600" y="6400800"/>
            <a:ext cx="7315200" cy="3698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4">
                  <a:extLst>
                    <a:ext uri="{A12FA001-AC4F-418D-AE19-62706E023703}">
                      <ahyp:hlinkClr val="tx"/>
                    </a:ext>
                  </a:extLst>
                </a:hlinkClick>
              </a:rPr>
              <a:t>https://www.youtube.com/watch?v=kIevG2-BBrs</a:t>
            </a:r>
            <a:r>
              <a:rPr b="0" i="0" lang="en-US" sz="1800" u="none">
                <a:solidFill>
                  <a:schemeClr val="dk1"/>
                </a:solidFill>
                <a:latin typeface="Arial"/>
                <a:ea typeface="Arial"/>
                <a:cs typeface="Arial"/>
                <a:sym typeface="Arial"/>
              </a:rPr>
              <a:t> </a:t>
            </a:r>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Mascaramento de Marca</a:t>
            </a:r>
            <a:endParaRPr/>
          </a:p>
        </p:txBody>
      </p:sp>
      <p:sp>
        <p:nvSpPr>
          <p:cNvPr id="333" name="Google Shape;333;p44"/>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promoview.com.br/wp-content/uploads/2012/04/unilever.jpg" id="334" name="Google Shape;334;p44"/>
          <p:cNvPicPr preferRelativeResize="0"/>
          <p:nvPr/>
        </p:nvPicPr>
        <p:blipFill rotWithShape="1">
          <a:blip r:embed="rId3">
            <a:alphaModFix/>
          </a:blip>
          <a:srcRect b="0" l="0" r="0" t="0"/>
          <a:stretch/>
        </p:blipFill>
        <p:spPr>
          <a:xfrm>
            <a:off x="4762" y="1889125"/>
            <a:ext cx="5353050" cy="3724275"/>
          </a:xfrm>
          <a:prstGeom prst="rect">
            <a:avLst/>
          </a:prstGeom>
          <a:noFill/>
          <a:ln>
            <a:noFill/>
          </a:ln>
        </p:spPr>
      </p:pic>
      <p:pic>
        <p:nvPicPr>
          <p:cNvPr descr="http://www.unilever.com.br/Images/becel_proactive_450x450_tcm95-304530.jpg" id="335" name="Google Shape;335;p44"/>
          <p:cNvPicPr preferRelativeResize="0"/>
          <p:nvPr/>
        </p:nvPicPr>
        <p:blipFill rotWithShape="1">
          <a:blip r:embed="rId4">
            <a:alphaModFix/>
          </a:blip>
          <a:srcRect b="0" l="0" r="0" t="0"/>
          <a:stretch/>
        </p:blipFill>
        <p:spPr>
          <a:xfrm>
            <a:off x="4884737" y="1524000"/>
            <a:ext cx="4286250" cy="4286250"/>
          </a:xfrm>
          <a:prstGeom prst="rect">
            <a:avLst/>
          </a:prstGeom>
          <a:noFill/>
          <a:ln>
            <a:noFill/>
          </a:ln>
        </p:spPr>
      </p:pic>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txBox="1"/>
          <p:nvPr>
            <p:ph type="title"/>
          </p:nvPr>
        </p:nvSpPr>
        <p:spPr>
          <a:xfrm>
            <a:off x="457200" y="277812"/>
            <a:ext cx="8229600" cy="86518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Licenciamento</a:t>
            </a:r>
            <a:endParaRPr/>
          </a:p>
        </p:txBody>
      </p:sp>
      <p:pic>
        <p:nvPicPr>
          <p:cNvPr descr="caterpillartracteur2" id="341" name="Google Shape;341;p45"/>
          <p:cNvPicPr preferRelativeResize="0"/>
          <p:nvPr/>
        </p:nvPicPr>
        <p:blipFill rotWithShape="1">
          <a:blip r:embed="rId3">
            <a:alphaModFix/>
          </a:blip>
          <a:srcRect b="0" l="0" r="0" t="0"/>
          <a:stretch/>
        </p:blipFill>
        <p:spPr>
          <a:xfrm>
            <a:off x="1143000" y="2133600"/>
            <a:ext cx="2819400" cy="3200400"/>
          </a:xfrm>
          <a:prstGeom prst="rect">
            <a:avLst/>
          </a:prstGeom>
          <a:noFill/>
          <a:ln>
            <a:noFill/>
          </a:ln>
        </p:spPr>
      </p:pic>
      <p:pic>
        <p:nvPicPr>
          <p:cNvPr descr="caterpillarshirt" id="342" name="Google Shape;342;p45"/>
          <p:cNvPicPr preferRelativeResize="0"/>
          <p:nvPr/>
        </p:nvPicPr>
        <p:blipFill rotWithShape="1">
          <a:blip r:embed="rId4">
            <a:alphaModFix/>
          </a:blip>
          <a:srcRect b="0" l="0" r="0" t="0"/>
          <a:stretch/>
        </p:blipFill>
        <p:spPr>
          <a:xfrm>
            <a:off x="4800600" y="2133600"/>
            <a:ext cx="1447800" cy="1847850"/>
          </a:xfrm>
          <a:prstGeom prst="rect">
            <a:avLst/>
          </a:prstGeom>
          <a:noFill/>
          <a:ln>
            <a:noFill/>
          </a:ln>
        </p:spPr>
      </p:pic>
      <p:pic>
        <p:nvPicPr>
          <p:cNvPr descr="caterpillarcap" id="343" name="Google Shape;343;p45"/>
          <p:cNvPicPr preferRelativeResize="0"/>
          <p:nvPr/>
        </p:nvPicPr>
        <p:blipFill rotWithShape="1">
          <a:blip r:embed="rId5">
            <a:alphaModFix/>
          </a:blip>
          <a:srcRect b="0" l="0" r="0" t="0"/>
          <a:stretch/>
        </p:blipFill>
        <p:spPr>
          <a:xfrm>
            <a:off x="7010400" y="2133600"/>
            <a:ext cx="1333500" cy="1905000"/>
          </a:xfrm>
          <a:prstGeom prst="rect">
            <a:avLst/>
          </a:prstGeom>
          <a:noFill/>
          <a:ln>
            <a:noFill/>
          </a:ln>
        </p:spPr>
      </p:pic>
      <p:pic>
        <p:nvPicPr>
          <p:cNvPr descr="caterpillarshoes" id="344" name="Google Shape;344;p45"/>
          <p:cNvPicPr preferRelativeResize="0"/>
          <p:nvPr/>
        </p:nvPicPr>
        <p:blipFill rotWithShape="1">
          <a:blip r:embed="rId6">
            <a:alphaModFix/>
          </a:blip>
          <a:srcRect b="0" l="0" r="0" t="0"/>
          <a:stretch/>
        </p:blipFill>
        <p:spPr>
          <a:xfrm>
            <a:off x="4953000" y="4191000"/>
            <a:ext cx="3505200" cy="1600200"/>
          </a:xfrm>
          <a:prstGeom prst="rect">
            <a:avLst/>
          </a:prstGeom>
          <a:noFill/>
          <a:ln>
            <a:noFill/>
          </a:ln>
        </p:spPr>
      </p:pic>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6"/>
          <p:cNvSpPr txBox="1"/>
          <p:nvPr>
            <p:ph type="title"/>
          </p:nvPr>
        </p:nvSpPr>
        <p:spPr>
          <a:xfrm>
            <a:off x="457200" y="277812"/>
            <a:ext cx="8229600" cy="865187"/>
          </a:xfrm>
          <a:prstGeom prst="rect">
            <a:avLst/>
          </a:prstGeom>
          <a:solidFill>
            <a:schemeClr val="accent1"/>
          </a:solid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Teoria Cognitiva</a:t>
            </a:r>
            <a:endParaRPr/>
          </a:p>
        </p:txBody>
      </p:sp>
      <p:sp>
        <p:nvSpPr>
          <p:cNvPr id="350" name="Google Shape;350;p46"/>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Processos mentais internos</a:t>
            </a:r>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pic>
        <p:nvPicPr>
          <p:cNvPr descr="http://s.glbimg.com/po/tt/f/original/2012/10/04/0-cerebro.jpg" id="351" name="Google Shape;351;p46"/>
          <p:cNvPicPr preferRelativeResize="0"/>
          <p:nvPr/>
        </p:nvPicPr>
        <p:blipFill rotWithShape="1">
          <a:blip r:embed="rId3">
            <a:alphaModFix/>
          </a:blip>
          <a:srcRect b="0" l="0" r="0" t="0"/>
          <a:stretch/>
        </p:blipFill>
        <p:spPr>
          <a:xfrm>
            <a:off x="914400" y="2590800"/>
            <a:ext cx="3640137" cy="2571750"/>
          </a:xfrm>
          <a:prstGeom prst="rect">
            <a:avLst/>
          </a:prstGeom>
          <a:noFill/>
          <a:ln>
            <a:noFill/>
          </a:ln>
        </p:spPr>
      </p:pic>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5" name="Shape 355"/>
        <p:cNvGrpSpPr/>
        <p:nvPr/>
      </p:nvGrpSpPr>
      <p:grpSpPr>
        <a:xfrm>
          <a:off x="0" y="0"/>
          <a:ext cx="0" cy="0"/>
          <a:chOff x="0" y="0"/>
          <a:chExt cx="0" cy="0"/>
        </a:xfrm>
      </p:grpSpPr>
      <p:sp>
        <p:nvSpPr>
          <p:cNvPr id="356" name="Google Shape;356;p47"/>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Teoria Cognitiva de aprendizagem</a:t>
            </a:r>
            <a:endParaRPr/>
          </a:p>
        </p:txBody>
      </p:sp>
      <p:sp>
        <p:nvSpPr>
          <p:cNvPr id="357" name="Google Shape;357;p47"/>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Importância dos processos mentais internos</a:t>
            </a:r>
            <a:endParaRPr/>
          </a:p>
          <a:p>
            <a:pPr indent="-285750" lvl="1" marL="74295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Papel da criatividade e da percepção</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Aprendizagem consciente x não consciente</a:t>
            </a:r>
            <a:endParaRPr/>
          </a:p>
          <a:p>
            <a:pPr indent="-285750" lvl="1" marL="74295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Característica de acionamento (priming): estímulo que nos leva a determinado padrão</a:t>
            </a:r>
            <a:endParaRPr/>
          </a:p>
        </p:txBody>
      </p:sp>
      <p:pic>
        <p:nvPicPr>
          <p:cNvPr id="358" name="Google Shape;358;p47"/>
          <p:cNvPicPr preferRelativeResize="0"/>
          <p:nvPr/>
        </p:nvPicPr>
        <p:blipFill rotWithShape="1">
          <a:blip r:embed="rId3">
            <a:alphaModFix/>
          </a:blip>
          <a:srcRect b="0" l="0" r="0" t="0"/>
          <a:stretch/>
        </p:blipFill>
        <p:spPr>
          <a:xfrm>
            <a:off x="1219200" y="4491037"/>
            <a:ext cx="3124200" cy="2343150"/>
          </a:xfrm>
          <a:prstGeom prst="rect">
            <a:avLst/>
          </a:prstGeom>
          <a:noFill/>
          <a:ln>
            <a:noFill/>
          </a:ln>
        </p:spPr>
      </p:pic>
      <p:pic>
        <p:nvPicPr>
          <p:cNvPr descr="http://devianttravel.com/wp-content/uploads/2013/06/inside-mcdonalds.jpg" id="359" name="Google Shape;359;p47"/>
          <p:cNvPicPr preferRelativeResize="0"/>
          <p:nvPr/>
        </p:nvPicPr>
        <p:blipFill rotWithShape="1">
          <a:blip r:embed="rId4">
            <a:alphaModFix/>
          </a:blip>
          <a:srcRect b="0" l="0" r="0" t="0"/>
          <a:stretch/>
        </p:blipFill>
        <p:spPr>
          <a:xfrm>
            <a:off x="5105400" y="4346301"/>
            <a:ext cx="3316699" cy="2487875"/>
          </a:xfrm>
          <a:prstGeom prst="rect">
            <a:avLst/>
          </a:prstGeom>
          <a:noFill/>
          <a:ln>
            <a:noFill/>
          </a:ln>
        </p:spPr>
      </p:pic>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3" name="Shape 363"/>
        <p:cNvGrpSpPr/>
        <p:nvPr/>
      </p:nvGrpSpPr>
      <p:grpSpPr>
        <a:xfrm>
          <a:off x="0" y="0"/>
          <a:ext cx="0" cy="0"/>
          <a:chOff x="0" y="0"/>
          <a:chExt cx="0" cy="0"/>
        </a:xfrm>
      </p:grpSpPr>
      <p:sp>
        <p:nvSpPr>
          <p:cNvPr id="364" name="Google Shape;364;p48"/>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Aprendizagem observacional</a:t>
            </a:r>
            <a:endParaRPr/>
          </a:p>
        </p:txBody>
      </p:sp>
      <p:sp>
        <p:nvSpPr>
          <p:cNvPr id="365" name="Google Shape;365;p48"/>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Aprendizagem ocorre como resultado de experiência de outros</a:t>
            </a:r>
            <a:endParaRPr/>
          </a:p>
        </p:txBody>
      </p:sp>
      <p:pic>
        <p:nvPicPr>
          <p:cNvPr descr="ANd9GcTUNUfp3-LI6PUK6NruqzV5xUTRyVTKkn35sYnq5mTJJWx4hgy4" id="366" name="Google Shape;366;p48"/>
          <p:cNvPicPr preferRelativeResize="0"/>
          <p:nvPr/>
        </p:nvPicPr>
        <p:blipFill rotWithShape="1">
          <a:blip r:embed="rId3">
            <a:alphaModFix/>
          </a:blip>
          <a:srcRect b="0" l="0" r="0" t="0"/>
          <a:stretch/>
        </p:blipFill>
        <p:spPr>
          <a:xfrm>
            <a:off x="533400" y="2362200"/>
            <a:ext cx="3733800" cy="2452687"/>
          </a:xfrm>
          <a:prstGeom prst="rect">
            <a:avLst/>
          </a:prstGeom>
          <a:noFill/>
          <a:ln>
            <a:noFill/>
          </a:ln>
        </p:spPr>
      </p:pic>
      <p:pic>
        <p:nvPicPr>
          <p:cNvPr id="367" name="Google Shape;367;p48"/>
          <p:cNvPicPr preferRelativeResize="0"/>
          <p:nvPr/>
        </p:nvPicPr>
        <p:blipFill rotWithShape="1">
          <a:blip r:embed="rId4">
            <a:alphaModFix/>
          </a:blip>
          <a:srcRect b="0" l="0" r="0" t="0"/>
          <a:stretch/>
        </p:blipFill>
        <p:spPr>
          <a:xfrm>
            <a:off x="5129212" y="2286000"/>
            <a:ext cx="3709987" cy="2625725"/>
          </a:xfrm>
          <a:prstGeom prst="rect">
            <a:avLst/>
          </a:prstGeom>
          <a:noFill/>
          <a:ln>
            <a:noFill/>
          </a:ln>
        </p:spPr>
      </p:pic>
      <p:sp>
        <p:nvSpPr>
          <p:cNvPr id="368" name="Google Shape;368;p48"/>
          <p:cNvSpPr txBox="1"/>
          <p:nvPr/>
        </p:nvSpPr>
        <p:spPr>
          <a:xfrm>
            <a:off x="3413125" y="5645150"/>
            <a:ext cx="1111250" cy="731837"/>
          </a:xfrm>
          <a:prstGeom prst="rect">
            <a:avLst/>
          </a:prstGeom>
          <a:noFill/>
          <a:ln>
            <a:noFill/>
          </a:ln>
        </p:spPr>
        <p:txBody>
          <a:bodyPr anchorCtr="0" anchor="t" bIns="228600" lIns="91425" spcFirstLastPara="1" rIns="91425" wrap="square" tIns="228600">
            <a:no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imitação</a:t>
            </a:r>
            <a:endParaRPr/>
          </a:p>
        </p:txBody>
      </p:sp>
      <p:sp>
        <p:nvSpPr>
          <p:cNvPr id="369" name="Google Shape;369;p48"/>
          <p:cNvSpPr txBox="1"/>
          <p:nvPr/>
        </p:nvSpPr>
        <p:spPr>
          <a:xfrm>
            <a:off x="1127125" y="5365750"/>
            <a:ext cx="7559675" cy="3698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5">
                  <a:extLst>
                    <a:ext uri="{A12FA001-AC4F-418D-AE19-62706E023703}">
                      <ahyp:hlinkClr val="tx"/>
                    </a:ext>
                  </a:extLst>
                </a:hlinkClick>
              </a:rPr>
              <a:t>https://www.youtube.com/watch?v=lpLypCLT0vM</a:t>
            </a:r>
            <a:r>
              <a:rPr b="0" i="0" lang="en-US" sz="1800" u="none">
                <a:solidFill>
                  <a:schemeClr val="dk1"/>
                </a:solidFill>
                <a:latin typeface="Arial"/>
                <a:ea typeface="Arial"/>
                <a:cs typeface="Arial"/>
                <a:sym typeface="Arial"/>
              </a:rPr>
              <a:t> </a:t>
            </a:r>
            <a:endParaRPr/>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9"/>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0" i="0" lang="en-US" sz="3200" u="none">
                <a:solidFill>
                  <a:srgbClr val="CC0066"/>
                </a:solidFill>
                <a:latin typeface="Arial"/>
                <a:ea typeface="Arial"/>
                <a:cs typeface="Arial"/>
                <a:sym typeface="Arial"/>
              </a:rPr>
              <a:t>Teoria cognitiva - Jean Piaget (1896-1980)</a:t>
            </a:r>
            <a:endParaRPr/>
          </a:p>
        </p:txBody>
      </p:sp>
      <p:sp>
        <p:nvSpPr>
          <p:cNvPr id="375" name="Google Shape;375;p49"/>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Estágios de desenvolvimento cognitivo</a:t>
            </a:r>
            <a:endParaRPr b="1" i="0" sz="2000" u="none">
              <a:solidFill>
                <a:srgbClr val="000066"/>
              </a:solidFill>
              <a:latin typeface="Arial"/>
              <a:ea typeface="Arial"/>
              <a:cs typeface="Arial"/>
              <a:sym typeface="Arial"/>
            </a:endParaRPr>
          </a:p>
          <a:p>
            <a:pPr indent="-342900" lvl="0" marL="342900" rtl="0" algn="l">
              <a:lnSpc>
                <a:spcPct val="100000"/>
              </a:lnSpc>
              <a:spcBef>
                <a:spcPts val="800"/>
              </a:spcBef>
              <a:spcAft>
                <a:spcPts val="0"/>
              </a:spcAft>
              <a:buClr>
                <a:schemeClr val="folHlink"/>
              </a:buClr>
              <a:buSzPts val="2400"/>
              <a:buFont typeface="Arial"/>
              <a:buChar char="•"/>
            </a:pPr>
            <a:r>
              <a:rPr b="0" i="0" lang="en-US" sz="2000" u="none">
                <a:solidFill>
                  <a:srgbClr val="000066"/>
                </a:solidFill>
                <a:latin typeface="Arial"/>
                <a:ea typeface="Arial"/>
                <a:cs typeface="Arial"/>
                <a:sym typeface="Arial"/>
              </a:rPr>
              <a:t>Sensório-motor 0-2</a:t>
            </a:r>
            <a:endParaRPr/>
          </a:p>
          <a:p>
            <a:pPr indent="-342900" lvl="0" marL="342900" rtl="0" algn="l">
              <a:lnSpc>
                <a:spcPct val="100000"/>
              </a:lnSpc>
              <a:spcBef>
                <a:spcPts val="800"/>
              </a:spcBef>
              <a:spcAft>
                <a:spcPts val="0"/>
              </a:spcAft>
              <a:buClr>
                <a:schemeClr val="folHlink"/>
              </a:buClr>
              <a:buSzPts val="2400"/>
              <a:buFont typeface="Arial"/>
              <a:buChar char="•"/>
            </a:pPr>
            <a:r>
              <a:rPr b="0" i="0" lang="en-US" sz="2000" u="none">
                <a:solidFill>
                  <a:srgbClr val="000066"/>
                </a:solidFill>
                <a:latin typeface="Arial"/>
                <a:ea typeface="Arial"/>
                <a:cs typeface="Arial"/>
                <a:sym typeface="Arial"/>
              </a:rPr>
              <a:t>Pré-operacional 2-7</a:t>
            </a:r>
            <a:endParaRPr/>
          </a:p>
          <a:p>
            <a:pPr indent="-285750" lvl="1" marL="742950" rtl="0" algn="l">
              <a:lnSpc>
                <a:spcPct val="100000"/>
              </a:lnSpc>
              <a:spcBef>
                <a:spcPts val="280"/>
              </a:spcBef>
              <a:spcAft>
                <a:spcPts val="0"/>
              </a:spcAft>
              <a:buClr>
                <a:schemeClr val="folHlink"/>
              </a:buClr>
              <a:buSzPts val="1680"/>
              <a:buFont typeface="Arial"/>
              <a:buChar char="•"/>
            </a:pPr>
            <a:r>
              <a:rPr b="0" i="0" lang="en-US" sz="1400" u="none">
                <a:solidFill>
                  <a:srgbClr val="000066"/>
                </a:solidFill>
                <a:latin typeface="Arial"/>
                <a:ea typeface="Arial"/>
                <a:cs typeface="Arial"/>
                <a:sym typeface="Arial"/>
              </a:rPr>
              <a:t>a criança focaliza apenas uma dimensão de estímulos, ou seja, há uma inabilidade de acompanhar os processos de transformações.</a:t>
            </a:r>
            <a:endParaRPr b="0" i="0" sz="2000" u="none">
              <a:solidFill>
                <a:srgbClr val="000066"/>
              </a:solidFill>
              <a:latin typeface="Arial"/>
              <a:ea typeface="Arial"/>
              <a:cs typeface="Arial"/>
              <a:sym typeface="Arial"/>
            </a:endParaRPr>
          </a:p>
          <a:p>
            <a:pPr indent="-342900" lvl="0" marL="342900" rtl="0" algn="l">
              <a:lnSpc>
                <a:spcPct val="100000"/>
              </a:lnSpc>
              <a:spcBef>
                <a:spcPts val="800"/>
              </a:spcBef>
              <a:spcAft>
                <a:spcPts val="0"/>
              </a:spcAft>
              <a:buClr>
                <a:schemeClr val="folHlink"/>
              </a:buClr>
              <a:buSzPts val="2400"/>
              <a:buFont typeface="Arial"/>
              <a:buChar char="•"/>
            </a:pPr>
            <a:r>
              <a:rPr b="0" i="0" lang="en-US" sz="2000" u="none">
                <a:solidFill>
                  <a:srgbClr val="000066"/>
                </a:solidFill>
                <a:latin typeface="Arial"/>
                <a:ea typeface="Arial"/>
                <a:cs typeface="Arial"/>
                <a:sym typeface="Arial"/>
              </a:rPr>
              <a:t>Operatório concreto 7-11</a:t>
            </a:r>
            <a:endParaRPr/>
          </a:p>
          <a:p>
            <a:pPr indent="-285750" lvl="1" marL="742950" rtl="0" algn="l">
              <a:lnSpc>
                <a:spcPct val="100000"/>
              </a:lnSpc>
              <a:spcBef>
                <a:spcPts val="280"/>
              </a:spcBef>
              <a:spcAft>
                <a:spcPts val="0"/>
              </a:spcAft>
              <a:buClr>
                <a:schemeClr val="folHlink"/>
              </a:buClr>
              <a:buSzPts val="1680"/>
              <a:buFont typeface="Arial"/>
              <a:buChar char="•"/>
            </a:pPr>
            <a:r>
              <a:rPr b="0" i="0" lang="en-US" sz="1400" u="none">
                <a:solidFill>
                  <a:srgbClr val="000066"/>
                </a:solidFill>
                <a:latin typeface="Arial"/>
                <a:ea typeface="Arial"/>
                <a:cs typeface="Arial"/>
                <a:sym typeface="Arial"/>
              </a:rPr>
              <a:t>A criança desenvolve noções de tempo, espaço, velocidade, ordem, casualidade, ..., já sendo capaz de relacionar diferentes aspectos e abstrair dados da realidade. Não se limita a uma representação imediata, mas ainda depende do mundo concreto para chegar à abstração.</a:t>
            </a:r>
            <a:endParaRPr/>
          </a:p>
          <a:p>
            <a:pPr indent="-190500" lvl="0" marL="342900" rtl="0" algn="l">
              <a:lnSpc>
                <a:spcPct val="100000"/>
              </a:lnSpc>
              <a:spcBef>
                <a:spcPts val="800"/>
              </a:spcBef>
              <a:spcAft>
                <a:spcPts val="0"/>
              </a:spcAft>
              <a:buClr>
                <a:schemeClr val="folHlink"/>
              </a:buClr>
              <a:buSzPts val="2400"/>
              <a:buFont typeface="Arial"/>
              <a:buNone/>
            </a:pPr>
            <a:r>
              <a:t/>
            </a:r>
            <a:endParaRPr b="0" i="0" sz="2000" u="none">
              <a:solidFill>
                <a:srgbClr val="000066"/>
              </a:solidFill>
              <a:latin typeface="Arial"/>
              <a:ea typeface="Arial"/>
              <a:cs typeface="Arial"/>
              <a:sym typeface="Arial"/>
            </a:endParaRPr>
          </a:p>
          <a:p>
            <a:pPr indent="-342900" lvl="0" marL="342900" rtl="0" algn="l">
              <a:lnSpc>
                <a:spcPct val="100000"/>
              </a:lnSpc>
              <a:spcBef>
                <a:spcPts val="800"/>
              </a:spcBef>
              <a:spcAft>
                <a:spcPts val="0"/>
              </a:spcAft>
              <a:buClr>
                <a:schemeClr val="folHlink"/>
              </a:buClr>
              <a:buSzPts val="2400"/>
              <a:buFont typeface="Arial"/>
              <a:buChar char="•"/>
            </a:pPr>
            <a:r>
              <a:rPr b="0" i="0" lang="en-US" sz="2000" u="none">
                <a:solidFill>
                  <a:srgbClr val="000066"/>
                </a:solidFill>
                <a:latin typeface="Arial"/>
                <a:ea typeface="Arial"/>
                <a:cs typeface="Arial"/>
                <a:sym typeface="Arial"/>
              </a:rPr>
              <a:t>Operatório formal (&gt;12)</a:t>
            </a:r>
            <a:endParaRPr/>
          </a:p>
          <a:p>
            <a:pPr indent="-190500" lvl="0" marL="342900" rtl="0" algn="l">
              <a:spcBef>
                <a:spcPts val="800"/>
              </a:spcBef>
              <a:spcAft>
                <a:spcPts val="0"/>
              </a:spcAft>
              <a:buSzPts val="2400"/>
              <a:buFont typeface="Arial"/>
              <a:buNone/>
            </a:pPr>
            <a:r>
              <a:t/>
            </a:r>
            <a:endParaRPr b="0" i="0" sz="2000" u="none">
              <a:solidFill>
                <a:srgbClr val="000066"/>
              </a:solidFill>
              <a:latin typeface="Arial"/>
              <a:ea typeface="Arial"/>
              <a:cs typeface="Arial"/>
              <a:sym typeface="Arial"/>
            </a:endParaRPr>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0"/>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Sensório Motor</a:t>
            </a:r>
            <a:endParaRPr/>
          </a:p>
        </p:txBody>
      </p:sp>
      <p:sp>
        <p:nvSpPr>
          <p:cNvPr id="382" name="Google Shape;382;p50"/>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For Child Development Class (7697478)" id="383" name="Google Shape;383;p50" title="Sensorimotor Stage - 6 Substages">
            <a:hlinkClick r:id="rId3"/>
          </p:cNvPr>
          <p:cNvPicPr preferRelativeResize="0"/>
          <p:nvPr/>
        </p:nvPicPr>
        <p:blipFill>
          <a:blip r:embed="rId4">
            <a:alphaModFix/>
          </a:blip>
          <a:stretch>
            <a:fillRect/>
          </a:stretch>
        </p:blipFill>
        <p:spPr>
          <a:xfrm>
            <a:off x="1303075" y="1490875"/>
            <a:ext cx="6821225" cy="5115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1"/>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Pré-operacional</a:t>
            </a:r>
            <a:endParaRPr/>
          </a:p>
        </p:txBody>
      </p:sp>
      <p:sp>
        <p:nvSpPr>
          <p:cNvPr id="390" name="Google Shape;390;p51"/>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Preoperational Stage (2 to 7 years)&#10;Preoperational intelligence means the young child is capable of mental representations, but does not have a system for organising this thinking (intuitive rather than logical thought). The child is egocentric -- which is they have problems distinguishing from their own perceptions and perceptions of others. A classic example is, a preoperational child will cover their eyes so they can not see someone and think that that person can not see them either.&#10;The child also has rigid thinking, which involves the following:&#10;Centration -- a child will become completely fixed on one point, not allowing them to see the wider picture. For example, focusing only on the height of the container rather than both the height and width when determining what has the biggest volume.&#10;State -- can only concentrate on what something looks like at that time.&#10;Appearance -- focuses on how something appears rather than reality.&#10;Lack of Reversibility -- can not reverse the steps they have taken. Does not realize that one set of steps can be cancelled by another set of steps.&#10;Lack of Conservation -- realizing that something can have the same properties even if it appears differently.&#10;&#10;Find out more about Piaget's theory of cognitive development at: http://www.en.wikipedia.org/wiki/Stage_theory" id="391" name="Google Shape;391;p51" title="Piaget's theory of cognitive development">
            <a:hlinkClick r:id="rId3"/>
          </p:cNvPr>
          <p:cNvPicPr preferRelativeResize="0"/>
          <p:nvPr/>
        </p:nvPicPr>
        <p:blipFill>
          <a:blip r:embed="rId4">
            <a:alphaModFix/>
          </a:blip>
          <a:stretch>
            <a:fillRect/>
          </a:stretch>
        </p:blipFill>
        <p:spPr>
          <a:xfrm>
            <a:off x="1227550" y="1242863"/>
            <a:ext cx="6688900" cy="5016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2"/>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Operatório Concreto</a:t>
            </a:r>
            <a:endParaRPr/>
          </a:p>
        </p:txBody>
      </p:sp>
      <p:sp>
        <p:nvSpPr>
          <p:cNvPr id="398" name="Google Shape;398;p52"/>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descr=" " id="399" name="Google Shape;399;p52" title="Piaget's Concrete Operational Stage">
            <a:hlinkClick r:id="rId3"/>
          </p:cNvPr>
          <p:cNvPicPr preferRelativeResize="0"/>
          <p:nvPr/>
        </p:nvPicPr>
        <p:blipFill>
          <a:blip r:embed="rId4">
            <a:alphaModFix/>
          </a:blip>
          <a:stretch>
            <a:fillRect/>
          </a:stretch>
        </p:blipFill>
        <p:spPr>
          <a:xfrm>
            <a:off x="969600" y="1714500"/>
            <a:ext cx="6571426" cy="4928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Memória</a:t>
            </a:r>
            <a:endParaRPr/>
          </a:p>
        </p:txBody>
      </p:sp>
      <p:sp>
        <p:nvSpPr>
          <p:cNvPr id="405" name="Google Shape;405;p53"/>
          <p:cNvSpPr txBox="1"/>
          <p:nvPr>
            <p:ph idx="1" type="body"/>
          </p:nvPr>
        </p:nvSpPr>
        <p:spPr>
          <a:xfrm>
            <a:off x="457200" y="1371600"/>
            <a:ext cx="8229600" cy="22098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Processo de aquisição e armazenagem de informações, de modo que fiquem disponíveis qdo necessárias </a:t>
            </a:r>
            <a:endParaRPr/>
          </a:p>
          <a:p>
            <a:pPr indent="-190500" lvl="0" marL="342900" rtl="0" algn="l">
              <a:lnSpc>
                <a:spcPct val="80000"/>
              </a:lnSpc>
              <a:spcBef>
                <a:spcPts val="800"/>
              </a:spcBef>
              <a:spcAft>
                <a:spcPts val="0"/>
              </a:spcAft>
              <a:buClr>
                <a:schemeClr val="folHlink"/>
              </a:buClr>
              <a:buSzPts val="2400"/>
              <a:buFont typeface="Arial"/>
              <a:buNone/>
            </a:pPr>
            <a:r>
              <a:t/>
            </a:r>
            <a:endParaRPr b="1" i="0" sz="2000" u="none">
              <a:solidFill>
                <a:srgbClr val="000066"/>
              </a:solidFill>
              <a:latin typeface="Arial"/>
              <a:ea typeface="Arial"/>
              <a:cs typeface="Arial"/>
              <a:sym typeface="Arial"/>
            </a:endParaRPr>
          </a:p>
          <a:p>
            <a:pPr indent="-342900" lvl="0" marL="342900" rtl="0" algn="l">
              <a:lnSpc>
                <a:spcPct val="80000"/>
              </a:lnSpc>
              <a:spcBef>
                <a:spcPts val="800"/>
              </a:spcBef>
              <a:spcAft>
                <a:spcPts val="0"/>
              </a:spcAft>
              <a:buClr>
                <a:schemeClr val="folHlink"/>
              </a:buClr>
              <a:buSzPts val="2400"/>
              <a:buFont typeface="Arial"/>
              <a:buChar char="•"/>
            </a:pPr>
            <a:r>
              <a:rPr b="1" i="0" lang="en-US" sz="2000" u="none">
                <a:solidFill>
                  <a:srgbClr val="000066"/>
                </a:solidFill>
                <a:latin typeface="Arial"/>
                <a:ea typeface="Arial"/>
                <a:cs typeface="Arial"/>
                <a:sym typeface="Arial"/>
              </a:rPr>
              <a:t>Memória interna e externa</a:t>
            </a:r>
            <a:endParaRPr/>
          </a:p>
          <a:p>
            <a:pPr indent="-190500" lvl="0" marL="342900" rtl="0" algn="l">
              <a:lnSpc>
                <a:spcPct val="80000"/>
              </a:lnSpc>
              <a:spcBef>
                <a:spcPts val="800"/>
              </a:spcBef>
              <a:spcAft>
                <a:spcPts val="0"/>
              </a:spcAft>
              <a:buClr>
                <a:schemeClr val="folHlink"/>
              </a:buClr>
              <a:buSzPts val="2400"/>
              <a:buFont typeface="Arial"/>
              <a:buNone/>
            </a:pPr>
            <a:r>
              <a:t/>
            </a:r>
            <a:endParaRPr b="1" i="0" sz="2000" u="none">
              <a:solidFill>
                <a:srgbClr val="000066"/>
              </a:solidFill>
              <a:latin typeface="Arial"/>
              <a:ea typeface="Arial"/>
              <a:cs typeface="Arial"/>
              <a:sym typeface="Arial"/>
            </a:endParaRPr>
          </a:p>
          <a:p>
            <a:pPr indent="-190500" lvl="0" marL="342900" rtl="0" algn="l">
              <a:spcBef>
                <a:spcPts val="800"/>
              </a:spcBef>
              <a:spcAft>
                <a:spcPts val="0"/>
              </a:spcAft>
              <a:buSzPts val="2400"/>
              <a:buFont typeface="Arial"/>
              <a:buNone/>
            </a:pPr>
            <a:r>
              <a:t/>
            </a:r>
            <a:endParaRPr b="1" i="0" sz="2000" u="none">
              <a:solidFill>
                <a:srgbClr val="000066"/>
              </a:solidFill>
              <a:latin typeface="Arial"/>
              <a:ea typeface="Arial"/>
              <a:cs typeface="Arial"/>
              <a:sym typeface="Arial"/>
            </a:endParaRPr>
          </a:p>
        </p:txBody>
      </p:sp>
      <p:pic>
        <p:nvPicPr>
          <p:cNvPr id="406" name="Google Shape;406;p53"/>
          <p:cNvPicPr preferRelativeResize="0"/>
          <p:nvPr/>
        </p:nvPicPr>
        <p:blipFill rotWithShape="1">
          <a:blip r:embed="rId3">
            <a:alphaModFix/>
          </a:blip>
          <a:srcRect b="0" l="0" r="0" t="0"/>
          <a:stretch/>
        </p:blipFill>
        <p:spPr>
          <a:xfrm>
            <a:off x="304800" y="4906962"/>
            <a:ext cx="8382000" cy="1798637"/>
          </a:xfrm>
          <a:prstGeom prst="rect">
            <a:avLst/>
          </a:prstGeom>
          <a:noFill/>
          <a:ln>
            <a:noFill/>
          </a:ln>
        </p:spPr>
      </p:pic>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Processo da memória</a:t>
            </a:r>
            <a:endParaRPr/>
          </a:p>
        </p:txBody>
      </p:sp>
      <p:pic>
        <p:nvPicPr>
          <p:cNvPr id="412" name="Google Shape;412;p54"/>
          <p:cNvPicPr preferRelativeResize="0"/>
          <p:nvPr/>
        </p:nvPicPr>
        <p:blipFill rotWithShape="1">
          <a:blip r:embed="rId3">
            <a:alphaModFix/>
          </a:blip>
          <a:srcRect b="0" l="0" r="0" t="0"/>
          <a:stretch/>
        </p:blipFill>
        <p:spPr>
          <a:xfrm>
            <a:off x="381000" y="1981200"/>
            <a:ext cx="8382000" cy="3733800"/>
          </a:xfrm>
          <a:prstGeom prst="rect">
            <a:avLst/>
          </a:prstGeom>
          <a:noFill/>
          <a:ln>
            <a:noFill/>
          </a:ln>
        </p:spPr>
      </p:pic>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6" name="Shape 416"/>
        <p:cNvGrpSpPr/>
        <p:nvPr/>
      </p:nvGrpSpPr>
      <p:grpSpPr>
        <a:xfrm>
          <a:off x="0" y="0"/>
          <a:ext cx="0" cy="0"/>
          <a:chOff x="0" y="0"/>
          <a:chExt cx="0" cy="0"/>
        </a:xfrm>
      </p:grpSpPr>
      <p:sp>
        <p:nvSpPr>
          <p:cNvPr id="417" name="Google Shape;417;p55"/>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Recuperação </a:t>
            </a:r>
            <a:endParaRPr/>
          </a:p>
        </p:txBody>
      </p:sp>
      <p:sp>
        <p:nvSpPr>
          <p:cNvPr id="418" name="Google Shape;418;p55"/>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Processo pelo qual recuperamos as informações da memória de longo prazo</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Fatores situacionais</a:t>
            </a:r>
            <a:endParaRPr/>
          </a:p>
          <a:p>
            <a:pPr indent="-285750" lvl="1" marL="74295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Marca pioneira</a:t>
            </a:r>
            <a:endParaRPr/>
          </a:p>
          <a:p>
            <a:pPr indent="-102870" lvl="1" marL="742950" rtl="0" algn="l">
              <a:lnSpc>
                <a:spcPct val="100000"/>
              </a:lnSpc>
              <a:spcBef>
                <a:spcPts val="48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Recuperação depende do estado do consumidor (efeito de congruência de humor)</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Extrema familiaridade pode resultar em menor aprendizagem ou recordação</a:t>
            </a:r>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2" name="Shape 422"/>
        <p:cNvGrpSpPr/>
        <p:nvPr/>
      </p:nvGrpSpPr>
      <p:grpSpPr>
        <a:xfrm>
          <a:off x="0" y="0"/>
          <a:ext cx="0" cy="0"/>
          <a:chOff x="0" y="0"/>
          <a:chExt cx="0" cy="0"/>
        </a:xfrm>
      </p:grpSpPr>
      <p:sp>
        <p:nvSpPr>
          <p:cNvPr id="423" name="Google Shape;423;p56"/>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424" name="Google Shape;424;p56"/>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Lista: memória externa</a:t>
            </a:r>
            <a:endParaRPr/>
          </a:p>
          <a:p>
            <a:pPr indent="-441960" lvl="0" marL="457200" rtl="0" algn="l">
              <a:spcBef>
                <a:spcPts val="0"/>
              </a:spcBef>
              <a:spcAft>
                <a:spcPts val="0"/>
              </a:spcAft>
              <a:buSzPts val="3360"/>
              <a:buChar char="•"/>
            </a:pPr>
            <a:r>
              <a:rPr lang="en-US"/>
              <a:t>Propaganda pós experiência: dissonância cognitiva</a:t>
            </a:r>
            <a:endParaRPr/>
          </a:p>
        </p:txBody>
      </p:sp>
      <p:pic>
        <p:nvPicPr>
          <p:cNvPr id="425" name="Google Shape;425;p56"/>
          <p:cNvPicPr preferRelativeResize="0"/>
          <p:nvPr/>
        </p:nvPicPr>
        <p:blipFill rotWithShape="1">
          <a:blip r:embed="rId3">
            <a:alphaModFix/>
          </a:blip>
          <a:srcRect b="0" l="0" r="0" t="0"/>
          <a:stretch/>
        </p:blipFill>
        <p:spPr>
          <a:xfrm>
            <a:off x="2718950" y="2728700"/>
            <a:ext cx="6196450" cy="3748300"/>
          </a:xfrm>
          <a:prstGeom prst="rect">
            <a:avLst/>
          </a:prstGeom>
          <a:noFill/>
          <a:ln>
            <a:noFill/>
          </a:ln>
        </p:spPr>
      </p:pic>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57"/>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Significado Sensorial</a:t>
            </a:r>
            <a:endParaRPr/>
          </a:p>
        </p:txBody>
      </p:sp>
      <p:sp>
        <p:nvSpPr>
          <p:cNvPr id="432" name="Google Shape;432;p57"/>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441960" lvl="0" marL="457200" rtl="0" algn="l">
              <a:spcBef>
                <a:spcPts val="1120"/>
              </a:spcBef>
              <a:spcAft>
                <a:spcPts val="0"/>
              </a:spcAft>
              <a:buSzPts val="3360"/>
              <a:buChar char="•"/>
            </a:pPr>
            <a:r>
              <a:t/>
            </a:r>
            <a:endParaRPr/>
          </a:p>
        </p:txBody>
      </p:sp>
      <p:pic>
        <p:nvPicPr>
          <p:cNvPr id="433" name="Google Shape;433;p57"/>
          <p:cNvPicPr preferRelativeResize="0"/>
          <p:nvPr/>
        </p:nvPicPr>
        <p:blipFill>
          <a:blip r:embed="rId3">
            <a:alphaModFix/>
          </a:blip>
          <a:stretch>
            <a:fillRect/>
          </a:stretch>
        </p:blipFill>
        <p:spPr>
          <a:xfrm>
            <a:off x="1275675" y="2391538"/>
            <a:ext cx="6238525" cy="30417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7" name="Shape 437"/>
        <p:cNvGrpSpPr/>
        <p:nvPr/>
      </p:nvGrpSpPr>
      <p:grpSpPr>
        <a:xfrm>
          <a:off x="0" y="0"/>
          <a:ext cx="0" cy="0"/>
          <a:chOff x="0" y="0"/>
          <a:chExt cx="0" cy="0"/>
        </a:xfrm>
      </p:grpSpPr>
      <p:sp>
        <p:nvSpPr>
          <p:cNvPr id="438" name="Google Shape;438;p58"/>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Significados semânticos</a:t>
            </a:r>
            <a:endParaRPr/>
          </a:p>
        </p:txBody>
      </p:sp>
      <p:sp>
        <p:nvSpPr>
          <p:cNvPr id="439" name="Google Shape;439;p58"/>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Referem-se às associações simbólicas</a:t>
            </a:r>
            <a:endParaRPr/>
          </a:p>
          <a:p>
            <a:pPr indent="-285750" lvl="1" marL="74295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semântica</a:t>
            </a:r>
            <a:r>
              <a:rPr b="0" i="0" lang="en-US" sz="2400" u="none">
                <a:solidFill>
                  <a:srgbClr val="000066"/>
                </a:solidFill>
                <a:latin typeface="Arial"/>
                <a:ea typeface="Arial"/>
                <a:cs typeface="Arial"/>
                <a:sym typeface="Arial"/>
              </a:rPr>
              <a:t> estuda o significado usado por seres humanos para se expressar através da linguagem.</a:t>
            </a:r>
            <a:r>
              <a:rPr b="1" i="0" lang="en-US" sz="2400" u="none">
                <a:solidFill>
                  <a:srgbClr val="000066"/>
                </a:solidFill>
                <a:latin typeface="Arial"/>
                <a:ea typeface="Arial"/>
                <a:cs typeface="Arial"/>
                <a:sym typeface="Arial"/>
              </a:rPr>
              <a:t> </a:t>
            </a:r>
            <a:endParaRPr/>
          </a:p>
        </p:txBody>
      </p:sp>
      <p:pic>
        <p:nvPicPr>
          <p:cNvPr id="440" name="Google Shape;440;p58"/>
          <p:cNvPicPr preferRelativeResize="0"/>
          <p:nvPr/>
        </p:nvPicPr>
        <p:blipFill rotWithShape="1">
          <a:blip r:embed="rId3">
            <a:alphaModFix/>
          </a:blip>
          <a:srcRect b="0" l="0" r="0" t="0"/>
          <a:stretch/>
        </p:blipFill>
        <p:spPr>
          <a:xfrm>
            <a:off x="1704850" y="2741612"/>
            <a:ext cx="3067050" cy="4116387"/>
          </a:xfrm>
          <a:prstGeom prst="rect">
            <a:avLst/>
          </a:prstGeom>
          <a:noFill/>
          <a:ln>
            <a:noFill/>
          </a:ln>
        </p:spPr>
      </p:pic>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4" name="Shape 444"/>
        <p:cNvGrpSpPr/>
        <p:nvPr/>
      </p:nvGrpSpPr>
      <p:grpSpPr>
        <a:xfrm>
          <a:off x="0" y="0"/>
          <a:ext cx="0" cy="0"/>
          <a:chOff x="0" y="0"/>
          <a:chExt cx="0" cy="0"/>
        </a:xfrm>
      </p:grpSpPr>
      <p:sp>
        <p:nvSpPr>
          <p:cNvPr id="445" name="Google Shape;445;p59"/>
          <p:cNvSpPr txBox="1"/>
          <p:nvPr>
            <p:ph type="title"/>
          </p:nvPr>
        </p:nvSpPr>
        <p:spPr>
          <a:xfrm>
            <a:off x="457200" y="228600"/>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Narrativa</a:t>
            </a:r>
            <a:endParaRPr/>
          </a:p>
        </p:txBody>
      </p:sp>
      <p:sp>
        <p:nvSpPr>
          <p:cNvPr id="446" name="Google Shape;446;p59"/>
          <p:cNvSpPr txBox="1"/>
          <p:nvPr>
            <p:ph idx="1" type="body"/>
          </p:nvPr>
        </p:nvSpPr>
        <p:spPr>
          <a:xfrm>
            <a:off x="457200" y="1489075"/>
            <a:ext cx="8229600" cy="4759325"/>
          </a:xfrm>
          <a:prstGeom prst="rect">
            <a:avLst/>
          </a:prstGeom>
          <a:noFill/>
          <a:ln>
            <a:noFill/>
          </a:ln>
        </p:spPr>
        <p:txBody>
          <a:bodyPr anchorCtr="0" anchor="t" bIns="45700" lIns="91425" spcFirstLastPara="1" rIns="91425" wrap="square" tIns="45700">
            <a:noAutofit/>
          </a:bodyPr>
          <a:lstStyle/>
          <a:p>
            <a:pPr indent="-129540" lvl="0" marL="342900" marR="0" rtl="0" algn="l">
              <a:lnSpc>
                <a:spcPct val="100000"/>
              </a:lnSpc>
              <a:spcBef>
                <a:spcPts val="112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129540" lvl="0" marL="342900" marR="0" rtl="0" algn="l">
              <a:lnSpc>
                <a:spcPct val="100000"/>
              </a:lnSpc>
              <a:spcBef>
                <a:spcPts val="112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129540" lvl="0" marL="342900" marR="0" rtl="0" algn="l">
              <a:spcBef>
                <a:spcPts val="112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p:txBody>
      </p:sp>
      <p:pic>
        <p:nvPicPr>
          <p:cNvPr descr="Mais tecnológico, mais potente e ainda mais sofisticado. Assista ao filme e acesse http://meuvw.vc/1XVhT3d para mais informações." id="447" name="Google Shape;447;p59" title="VW Jetta | Passa Rápido">
            <a:hlinkClick r:id="rId3"/>
          </p:cNvPr>
          <p:cNvPicPr preferRelativeResize="0"/>
          <p:nvPr/>
        </p:nvPicPr>
        <p:blipFill>
          <a:blip r:embed="rId4">
            <a:alphaModFix/>
          </a:blip>
          <a:stretch>
            <a:fillRect/>
          </a:stretch>
        </p:blipFill>
        <p:spPr>
          <a:xfrm>
            <a:off x="1439168" y="1489075"/>
            <a:ext cx="6688357" cy="5016275"/>
          </a:xfrm>
          <a:prstGeom prst="rect">
            <a:avLst/>
          </a:prstGeom>
          <a:noFill/>
          <a:ln>
            <a:noFill/>
          </a:ln>
        </p:spPr>
      </p:pic>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0"/>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Redes associativas</a:t>
            </a:r>
            <a:endParaRPr/>
          </a:p>
        </p:txBody>
      </p:sp>
      <p:sp>
        <p:nvSpPr>
          <p:cNvPr id="453" name="Google Shape;453;p60"/>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Conjunto evocado</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Conjunto considerado</a:t>
            </a:r>
            <a:endParaRPr/>
          </a:p>
        </p:txBody>
      </p:sp>
      <p:pic>
        <p:nvPicPr>
          <p:cNvPr id="454" name="Google Shape;454;p60"/>
          <p:cNvPicPr preferRelativeResize="0"/>
          <p:nvPr/>
        </p:nvPicPr>
        <p:blipFill>
          <a:blip r:embed="rId3">
            <a:alphaModFix/>
          </a:blip>
          <a:stretch>
            <a:fillRect/>
          </a:stretch>
        </p:blipFill>
        <p:spPr>
          <a:xfrm>
            <a:off x="5842788" y="3428988"/>
            <a:ext cx="2143125" cy="2143125"/>
          </a:xfrm>
          <a:prstGeom prst="rect">
            <a:avLst/>
          </a:prstGeom>
          <a:noFill/>
          <a:ln>
            <a:noFill/>
          </a:ln>
        </p:spPr>
      </p:pic>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8" name="Shape 458"/>
        <p:cNvGrpSpPr/>
        <p:nvPr/>
      </p:nvGrpSpPr>
      <p:grpSpPr>
        <a:xfrm>
          <a:off x="0" y="0"/>
          <a:ext cx="0" cy="0"/>
          <a:chOff x="0" y="0"/>
          <a:chExt cx="0" cy="0"/>
        </a:xfrm>
      </p:grpSpPr>
      <p:sp>
        <p:nvSpPr>
          <p:cNvPr id="459" name="Google Shape;459;p61"/>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460" name="Google Shape;460;p61"/>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Script: sequência de eventos esperada pelo indivíduo</a:t>
            </a:r>
            <a:endParaRPr/>
          </a:p>
          <a:p>
            <a:pPr indent="-160020" lvl="0" marL="342900" rtl="0" algn="l">
              <a:lnSpc>
                <a:spcPct val="100000"/>
              </a:lnSpc>
              <a:spcBef>
                <a:spcPts val="96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Resistência para adaptação a uma nova sequência de eventos.</a:t>
            </a:r>
            <a:endParaRPr/>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62"/>
          <p:cNvPicPr preferRelativeResize="0"/>
          <p:nvPr/>
        </p:nvPicPr>
        <p:blipFill rotWithShape="1">
          <a:blip r:embed="rId3">
            <a:alphaModFix/>
          </a:blip>
          <a:srcRect b="0" l="0" r="0" t="0"/>
          <a:stretch/>
        </p:blipFill>
        <p:spPr>
          <a:xfrm>
            <a:off x="760412" y="2095500"/>
            <a:ext cx="7545387" cy="3695700"/>
          </a:xfrm>
          <a:prstGeom prst="rect">
            <a:avLst/>
          </a:prstGeom>
          <a:noFill/>
          <a:ln>
            <a:noFill/>
          </a:ln>
        </p:spPr>
      </p:pic>
      <p:sp>
        <p:nvSpPr>
          <p:cNvPr id="466" name="Google Shape;466;p62"/>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REDE ASSOCIATIVA</a:t>
            </a:r>
            <a:endParaRPr/>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An Associative Networks for Perfumes</a:t>
            </a:r>
            <a:endParaRPr/>
          </a:p>
        </p:txBody>
      </p:sp>
      <p:sp>
        <p:nvSpPr>
          <p:cNvPr id="472" name="Google Shape;472;p63"/>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fig" id="473" name="Google Shape;473;p63"/>
          <p:cNvPicPr preferRelativeResize="0"/>
          <p:nvPr/>
        </p:nvPicPr>
        <p:blipFill rotWithShape="1">
          <a:blip r:embed="rId3">
            <a:alphaModFix/>
          </a:blip>
          <a:srcRect b="0" l="0" r="0" t="0"/>
          <a:stretch/>
        </p:blipFill>
        <p:spPr>
          <a:xfrm>
            <a:off x="457200" y="1295400"/>
            <a:ext cx="8382000" cy="50133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7" name="Shape 477"/>
        <p:cNvGrpSpPr/>
        <p:nvPr/>
      </p:nvGrpSpPr>
      <p:grpSpPr>
        <a:xfrm>
          <a:off x="0" y="0"/>
          <a:ext cx="0" cy="0"/>
          <a:chOff x="0" y="0"/>
          <a:chExt cx="0" cy="0"/>
        </a:xfrm>
      </p:grpSpPr>
      <p:sp>
        <p:nvSpPr>
          <p:cNvPr id="478" name="Google Shape;478;p6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Measuring Memory for Marketing Stimuli</a:t>
            </a:r>
            <a:endParaRPr/>
          </a:p>
        </p:txBody>
      </p:sp>
      <p:sp>
        <p:nvSpPr>
          <p:cNvPr id="479" name="Google Shape;479;p64"/>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29540" lvl="0" marL="342900" rtl="0" algn="l">
              <a:lnSpc>
                <a:spcPct val="100000"/>
              </a:lnSpc>
              <a:spcBef>
                <a:spcPts val="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342900" lvl="0" marL="34290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Problems with memory measures</a:t>
            </a:r>
            <a:endParaRPr/>
          </a:p>
          <a:p>
            <a:pPr indent="-285750" lvl="1" marL="742950" rtl="0" algn="l">
              <a:lnSpc>
                <a:spcPct val="100000"/>
              </a:lnSpc>
              <a:spcBef>
                <a:spcPts val="56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Response biases (d</a:t>
            </a:r>
            <a:r>
              <a:rPr lang="en-US"/>
              <a:t>esirability bias)</a:t>
            </a:r>
            <a:endParaRPr/>
          </a:p>
          <a:p>
            <a:pPr indent="-285750" lvl="1" marL="742950" rtl="0" algn="l">
              <a:lnSpc>
                <a:spcPct val="100000"/>
              </a:lnSpc>
              <a:spcBef>
                <a:spcPts val="56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Memory lapses</a:t>
            </a:r>
            <a:endParaRPr/>
          </a:p>
          <a:p>
            <a:pPr indent="-228600" lvl="2" marL="1143000" rtl="0" algn="l">
              <a:lnSpc>
                <a:spcPct val="100000"/>
              </a:lnSpc>
              <a:spcBef>
                <a:spcPts val="56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Omitting (forgetting cases </a:t>
            </a:r>
            <a:r>
              <a:rPr lang="en-US"/>
              <a:t>that are embarrassing or make you look bad)</a:t>
            </a:r>
            <a:endParaRPr/>
          </a:p>
          <a:p>
            <a:pPr indent="-228600" lvl="2" marL="1143000" rtl="0" algn="l">
              <a:lnSpc>
                <a:spcPct val="100000"/>
              </a:lnSpc>
              <a:spcBef>
                <a:spcPts val="56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Averaging (leaving extreme cases behin</a:t>
            </a:r>
            <a:r>
              <a:rPr lang="en-US"/>
              <a:t>d)</a:t>
            </a:r>
            <a:endParaRPr/>
          </a:p>
          <a:p>
            <a:pPr indent="-228600" lvl="2" marL="1143000" rtl="0" algn="l">
              <a:lnSpc>
                <a:spcPct val="100000"/>
              </a:lnSpc>
              <a:spcBef>
                <a:spcPts val="56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Telescoping (erro</a:t>
            </a:r>
            <a:r>
              <a:rPr lang="en-US"/>
              <a:t>r in timing)</a:t>
            </a:r>
            <a:endParaRPr/>
          </a:p>
          <a:p>
            <a:pPr indent="-129540" lvl="0" marL="342900" rtl="0" algn="l">
              <a:spcBef>
                <a:spcPts val="1120"/>
              </a:spcBef>
              <a:spcAft>
                <a:spcPts val="0"/>
              </a:spcAft>
              <a:buSzPts val="3360"/>
              <a:buFont typeface="Arial"/>
              <a:buNone/>
            </a:pPr>
            <a:r>
              <a:t/>
            </a:r>
            <a:endParaRPr b="1" i="0" sz="2800" u="none">
              <a:solidFill>
                <a:srgbClr val="000066"/>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3" name="Shape 483"/>
        <p:cNvGrpSpPr/>
        <p:nvPr/>
      </p:nvGrpSpPr>
      <p:grpSpPr>
        <a:xfrm>
          <a:off x="0" y="0"/>
          <a:ext cx="0" cy="0"/>
          <a:chOff x="0" y="0"/>
          <a:chExt cx="0" cy="0"/>
        </a:xfrm>
      </p:grpSpPr>
      <p:sp>
        <p:nvSpPr>
          <p:cNvPr id="484" name="Google Shape;484;p65"/>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Efeito Von Restorff</a:t>
            </a:r>
            <a:endParaRPr/>
          </a:p>
        </p:txBody>
      </p:sp>
      <p:sp>
        <p:nvSpPr>
          <p:cNvPr id="485" name="Google Shape;485;p65"/>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29540" lvl="0" marL="342900" rtl="0" algn="l">
              <a:lnSpc>
                <a:spcPct val="100000"/>
              </a:lnSpc>
              <a:spcBef>
                <a:spcPts val="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342900" lvl="0" marL="34290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A novidade de um estímulo melhora sua recordação</a:t>
            </a:r>
            <a:endParaRPr/>
          </a:p>
          <a:p>
            <a:pPr indent="-129540" lvl="0" marL="342900" rtl="0" algn="l">
              <a:spcBef>
                <a:spcPts val="1120"/>
              </a:spcBef>
              <a:spcAft>
                <a:spcPts val="0"/>
              </a:spcAft>
              <a:buSzPts val="3360"/>
              <a:buFont typeface="Arial"/>
              <a:buNone/>
            </a:pPr>
            <a:r>
              <a:t/>
            </a:r>
            <a:endParaRPr b="1" i="0" sz="2800" u="none">
              <a:solidFill>
                <a:srgbClr val="000066"/>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9" name="Shape 489"/>
        <p:cNvGrpSpPr/>
        <p:nvPr/>
      </p:nvGrpSpPr>
      <p:grpSpPr>
        <a:xfrm>
          <a:off x="0" y="0"/>
          <a:ext cx="0" cy="0"/>
          <a:chOff x="0" y="0"/>
          <a:chExt cx="0" cy="0"/>
        </a:xfrm>
      </p:grpSpPr>
      <p:sp>
        <p:nvSpPr>
          <p:cNvPr id="490" name="Google Shape;490;p66"/>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Nostalgia</a:t>
            </a:r>
            <a:endParaRPr/>
          </a:p>
        </p:txBody>
      </p:sp>
      <p:pic>
        <p:nvPicPr>
          <p:cNvPr id="491" name="Google Shape;491;p66"/>
          <p:cNvPicPr preferRelativeResize="0"/>
          <p:nvPr/>
        </p:nvPicPr>
        <p:blipFill rotWithShape="1">
          <a:blip r:embed="rId3">
            <a:alphaModFix/>
          </a:blip>
          <a:srcRect b="0" l="0" r="0" t="0"/>
          <a:stretch/>
        </p:blipFill>
        <p:spPr>
          <a:xfrm>
            <a:off x="228600" y="1314450"/>
            <a:ext cx="3881437" cy="2686050"/>
          </a:xfrm>
          <a:prstGeom prst="rect">
            <a:avLst/>
          </a:prstGeom>
          <a:noFill/>
          <a:ln>
            <a:noFill/>
          </a:ln>
        </p:spPr>
      </p:pic>
      <p:pic>
        <p:nvPicPr>
          <p:cNvPr id="492" name="Google Shape;492;p66"/>
          <p:cNvPicPr preferRelativeResize="0"/>
          <p:nvPr/>
        </p:nvPicPr>
        <p:blipFill rotWithShape="1">
          <a:blip r:embed="rId4">
            <a:alphaModFix/>
          </a:blip>
          <a:srcRect b="0" l="0" r="0" t="0"/>
          <a:stretch/>
        </p:blipFill>
        <p:spPr>
          <a:xfrm>
            <a:off x="-609600" y="4000500"/>
            <a:ext cx="5857875" cy="2857500"/>
          </a:xfrm>
          <a:prstGeom prst="rect">
            <a:avLst/>
          </a:prstGeom>
          <a:noFill/>
          <a:ln>
            <a:noFill/>
          </a:ln>
        </p:spPr>
      </p:pic>
      <p:pic>
        <p:nvPicPr>
          <p:cNvPr id="493" name="Google Shape;493;p66"/>
          <p:cNvPicPr preferRelativeResize="0"/>
          <p:nvPr/>
        </p:nvPicPr>
        <p:blipFill rotWithShape="1">
          <a:blip r:embed="rId5">
            <a:alphaModFix/>
          </a:blip>
          <a:srcRect b="0" l="0" r="0" t="0"/>
          <a:stretch/>
        </p:blipFill>
        <p:spPr>
          <a:xfrm>
            <a:off x="4414837" y="3925887"/>
            <a:ext cx="4591050" cy="2838450"/>
          </a:xfrm>
          <a:prstGeom prst="rect">
            <a:avLst/>
          </a:prstGeom>
          <a:noFill/>
          <a:ln>
            <a:noFill/>
          </a:ln>
        </p:spPr>
      </p:pic>
      <p:pic>
        <p:nvPicPr>
          <p:cNvPr id="494" name="Google Shape;494;p66"/>
          <p:cNvPicPr preferRelativeResize="0"/>
          <p:nvPr/>
        </p:nvPicPr>
        <p:blipFill rotWithShape="1">
          <a:blip r:embed="rId6">
            <a:alphaModFix/>
          </a:blip>
          <a:srcRect b="0" l="0" r="0" t="0"/>
          <a:stretch/>
        </p:blipFill>
        <p:spPr>
          <a:xfrm>
            <a:off x="4724400" y="152400"/>
            <a:ext cx="4978400" cy="362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5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ritingDesignTemplate">
  <a:themeElements>
    <a:clrScheme name="WritingDesign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6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