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6858000" cx="9144000"/>
  <p:notesSz cx="7099300" cy="10234600"/>
  <p:embeddedFontLst>
    <p:embeddedFont>
      <p:font typeface="Roboto"/>
      <p:regular r:id="rId36"/>
      <p:bold r:id="rId37"/>
      <p:italic r:id="rId38"/>
      <p:boldItalic r:id="rId39"/>
    </p:embeddedFont>
    <p:embeddedFont>
      <p:font typeface="PT Sans Narrow"/>
      <p:regular r:id="rId40"/>
      <p:bold r:id="rId41"/>
    </p:embeddedFont>
    <p:embeddedFont>
      <p:font typeface="Tahoma"/>
      <p:regular r:id="rId42"/>
      <p:bold r:id="rId43"/>
    </p:embeddedFont>
    <p:embeddedFont>
      <p:font typeface="Syncopate"/>
      <p:regular r:id="rId44"/>
      <p:bold r:id="rId45"/>
    </p:embeddedFont>
    <p:embeddedFont>
      <p:font typeface="Merriweather"/>
      <p:regular r:id="rId46"/>
      <p:bold r:id="rId47"/>
      <p:italic r:id="rId48"/>
      <p:boldItalic r:id="rId49"/>
    </p:embeddedFont>
    <p:embeddedFont>
      <p:font typeface="Open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Narrow-regular.fntdata"/><Relationship Id="rId42" Type="http://schemas.openxmlformats.org/officeDocument/2006/relationships/font" Target="fonts/Tahoma-regular.fntdata"/><Relationship Id="rId41" Type="http://schemas.openxmlformats.org/officeDocument/2006/relationships/font" Target="fonts/PTSansNarrow-bold.fntdata"/><Relationship Id="rId44" Type="http://schemas.openxmlformats.org/officeDocument/2006/relationships/font" Target="fonts/Syncopate-regular.fntdata"/><Relationship Id="rId43" Type="http://schemas.openxmlformats.org/officeDocument/2006/relationships/font" Target="fonts/Tahoma-bold.fntdata"/><Relationship Id="rId46" Type="http://schemas.openxmlformats.org/officeDocument/2006/relationships/font" Target="fonts/Merriweather-regular.fntdata"/><Relationship Id="rId45" Type="http://schemas.openxmlformats.org/officeDocument/2006/relationships/font" Target="fonts/Syncopate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Merriweather-italic.fntdata"/><Relationship Id="rId47" Type="http://schemas.openxmlformats.org/officeDocument/2006/relationships/font" Target="fonts/Merriweather-bold.fntdata"/><Relationship Id="rId49" Type="http://schemas.openxmlformats.org/officeDocument/2006/relationships/font" Target="fonts/Merriweather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Roboto-bold.fntdata"/><Relationship Id="rId36" Type="http://schemas.openxmlformats.org/officeDocument/2006/relationships/font" Target="fonts/Roboto-regular.fntdata"/><Relationship Id="rId39" Type="http://schemas.openxmlformats.org/officeDocument/2006/relationships/font" Target="fonts/Roboto-boldItalic.fntdata"/><Relationship Id="rId38" Type="http://schemas.openxmlformats.org/officeDocument/2006/relationships/font" Target="fonts/Roboto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penSans-bold.fntdata"/><Relationship Id="rId50" Type="http://schemas.openxmlformats.org/officeDocument/2006/relationships/font" Target="fonts/OpenSans-regular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7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1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e550a3ded0_0_7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1e550a3ded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5e6f6df467_0_0:notes"/>
          <p:cNvSpPr/>
          <p:nvPr>
            <p:ph idx="2" type="sldImg"/>
          </p:nvPr>
        </p:nvSpPr>
        <p:spPr>
          <a:xfrm>
            <a:off x="1419860" y="1279325"/>
            <a:ext cx="4259700" cy="345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5e6f6df467_0_0:notes"/>
          <p:cNvSpPr txBox="1"/>
          <p:nvPr>
            <p:ph idx="1" type="body"/>
          </p:nvPr>
        </p:nvSpPr>
        <p:spPr>
          <a:xfrm>
            <a:off x="709930" y="4925401"/>
            <a:ext cx="5679300" cy="40299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5e6f6df467_0_0:notes"/>
          <p:cNvSpPr txBox="1"/>
          <p:nvPr>
            <p:ph idx="12" type="sldNum"/>
          </p:nvPr>
        </p:nvSpPr>
        <p:spPr>
          <a:xfrm>
            <a:off x="4021294" y="9721094"/>
            <a:ext cx="3076500" cy="5133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990600" y="768350"/>
            <a:ext cx="5118100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15d7fddb1d_0_146:notes"/>
          <p:cNvSpPr/>
          <p:nvPr>
            <p:ph idx="2" type="sldImg"/>
          </p:nvPr>
        </p:nvSpPr>
        <p:spPr>
          <a:xfrm>
            <a:off x="1419860" y="1279325"/>
            <a:ext cx="4259700" cy="345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15d7fddb1d_0_146:notes"/>
          <p:cNvSpPr txBox="1"/>
          <p:nvPr>
            <p:ph idx="1" type="body"/>
          </p:nvPr>
        </p:nvSpPr>
        <p:spPr>
          <a:xfrm>
            <a:off x="709930" y="4925401"/>
            <a:ext cx="5679300" cy="40299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115d7fddb1d_0_146:notes"/>
          <p:cNvSpPr txBox="1"/>
          <p:nvPr>
            <p:ph idx="12" type="sldNum"/>
          </p:nvPr>
        </p:nvSpPr>
        <p:spPr>
          <a:xfrm>
            <a:off x="4021294" y="9721094"/>
            <a:ext cx="3076500" cy="5133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d9690a477f_0_0:notes"/>
          <p:cNvSpPr/>
          <p:nvPr>
            <p:ph idx="2" type="sldImg"/>
          </p:nvPr>
        </p:nvSpPr>
        <p:spPr>
          <a:xfrm>
            <a:off x="990600" y="768350"/>
            <a:ext cx="5118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d9690a477f_0_0:notes"/>
          <p:cNvSpPr txBox="1"/>
          <p:nvPr>
            <p:ph idx="1" type="body"/>
          </p:nvPr>
        </p:nvSpPr>
        <p:spPr>
          <a:xfrm>
            <a:off x="709612" y="4860925"/>
            <a:ext cx="5680200" cy="46053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2d9690a477f_0_0:notes"/>
          <p:cNvSpPr txBox="1"/>
          <p:nvPr>
            <p:ph idx="12" type="sldNum"/>
          </p:nvPr>
        </p:nvSpPr>
        <p:spPr>
          <a:xfrm>
            <a:off x="4021137" y="9721850"/>
            <a:ext cx="3076500" cy="5112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990600" y="768350"/>
            <a:ext cx="5118100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13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14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7dd8f3698a_0_2:notes"/>
          <p:cNvSpPr/>
          <p:nvPr>
            <p:ph idx="2" type="sldImg"/>
          </p:nvPr>
        </p:nvSpPr>
        <p:spPr>
          <a:xfrm>
            <a:off x="990600" y="768350"/>
            <a:ext cx="5118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7dd8f3698a_0_2:notes"/>
          <p:cNvSpPr txBox="1"/>
          <p:nvPr>
            <p:ph idx="1" type="body"/>
          </p:nvPr>
        </p:nvSpPr>
        <p:spPr>
          <a:xfrm>
            <a:off x="709612" y="4860925"/>
            <a:ext cx="5680200" cy="46053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7dd8f3698a_0_2:notes"/>
          <p:cNvSpPr txBox="1"/>
          <p:nvPr>
            <p:ph idx="12" type="sldNum"/>
          </p:nvPr>
        </p:nvSpPr>
        <p:spPr>
          <a:xfrm>
            <a:off x="4021137" y="9721850"/>
            <a:ext cx="3076500" cy="5112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6ef93e99a3_0_0:notes"/>
          <p:cNvSpPr/>
          <p:nvPr>
            <p:ph idx="2" type="sldImg"/>
          </p:nvPr>
        </p:nvSpPr>
        <p:spPr>
          <a:xfrm>
            <a:off x="990600" y="768350"/>
            <a:ext cx="5118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6ef93e99a3_0_0:notes"/>
          <p:cNvSpPr txBox="1"/>
          <p:nvPr>
            <p:ph idx="1" type="body"/>
          </p:nvPr>
        </p:nvSpPr>
        <p:spPr>
          <a:xfrm>
            <a:off x="709612" y="4860925"/>
            <a:ext cx="5680200" cy="46053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6ef93e99a3_0_0:notes"/>
          <p:cNvSpPr txBox="1"/>
          <p:nvPr>
            <p:ph idx="12" type="sldNum"/>
          </p:nvPr>
        </p:nvSpPr>
        <p:spPr>
          <a:xfrm>
            <a:off x="4021137" y="9721850"/>
            <a:ext cx="3076500" cy="5112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7dd8f3698a_0_11:notes"/>
          <p:cNvSpPr/>
          <p:nvPr>
            <p:ph idx="2" type="sldImg"/>
          </p:nvPr>
        </p:nvSpPr>
        <p:spPr>
          <a:xfrm>
            <a:off x="990600" y="768350"/>
            <a:ext cx="5118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7dd8f3698a_0_11:notes"/>
          <p:cNvSpPr txBox="1"/>
          <p:nvPr>
            <p:ph idx="1" type="body"/>
          </p:nvPr>
        </p:nvSpPr>
        <p:spPr>
          <a:xfrm>
            <a:off x="709612" y="4860925"/>
            <a:ext cx="5680200" cy="46053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7dd8f3698a_0_11:notes"/>
          <p:cNvSpPr txBox="1"/>
          <p:nvPr>
            <p:ph idx="12" type="sldNum"/>
          </p:nvPr>
        </p:nvSpPr>
        <p:spPr>
          <a:xfrm>
            <a:off x="4021137" y="9721850"/>
            <a:ext cx="3076500" cy="5112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20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p15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16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17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18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p19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1:notes"/>
          <p:cNvSpPr/>
          <p:nvPr>
            <p:ph idx="2" type="sldImg"/>
          </p:nvPr>
        </p:nvSpPr>
        <p:spPr>
          <a:xfrm>
            <a:off x="990600" y="768350"/>
            <a:ext cx="5118100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9a40e913b5_0_0:notes"/>
          <p:cNvSpPr/>
          <p:nvPr>
            <p:ph idx="2" type="sldImg"/>
          </p:nvPr>
        </p:nvSpPr>
        <p:spPr>
          <a:xfrm>
            <a:off x="990600" y="768350"/>
            <a:ext cx="5118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9a40e913b5_0_0:notes"/>
          <p:cNvSpPr txBox="1"/>
          <p:nvPr>
            <p:ph idx="1" type="body"/>
          </p:nvPr>
        </p:nvSpPr>
        <p:spPr>
          <a:xfrm>
            <a:off x="709612" y="4860925"/>
            <a:ext cx="5680200" cy="46053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9a40e913b5_0_0:notes"/>
          <p:cNvSpPr txBox="1"/>
          <p:nvPr>
            <p:ph idx="12" type="sldNum"/>
          </p:nvPr>
        </p:nvSpPr>
        <p:spPr>
          <a:xfrm>
            <a:off x="4021137" y="9721850"/>
            <a:ext cx="3076500" cy="5112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99bb08863a_0_0:notes"/>
          <p:cNvSpPr/>
          <p:nvPr>
            <p:ph idx="2" type="sldImg"/>
          </p:nvPr>
        </p:nvSpPr>
        <p:spPr>
          <a:xfrm>
            <a:off x="990600" y="768350"/>
            <a:ext cx="5118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99bb08863a_0_0:notes"/>
          <p:cNvSpPr txBox="1"/>
          <p:nvPr>
            <p:ph idx="1" type="body"/>
          </p:nvPr>
        </p:nvSpPr>
        <p:spPr>
          <a:xfrm>
            <a:off x="709612" y="4860925"/>
            <a:ext cx="5680200" cy="46053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99bb08863a_0_0:notes"/>
          <p:cNvSpPr txBox="1"/>
          <p:nvPr>
            <p:ph idx="12" type="sldNum"/>
          </p:nvPr>
        </p:nvSpPr>
        <p:spPr>
          <a:xfrm>
            <a:off x="4021137" y="9721850"/>
            <a:ext cx="3076500" cy="5112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2:notes"/>
          <p:cNvSpPr/>
          <p:nvPr>
            <p:ph idx="2" type="sldImg"/>
          </p:nvPr>
        </p:nvSpPr>
        <p:spPr>
          <a:xfrm>
            <a:off x="990600" y="768350"/>
            <a:ext cx="5118100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9a0d63db6d_0_0:notes"/>
          <p:cNvSpPr/>
          <p:nvPr>
            <p:ph idx="2" type="sldImg"/>
          </p:nvPr>
        </p:nvSpPr>
        <p:spPr>
          <a:xfrm>
            <a:off x="990600" y="768350"/>
            <a:ext cx="5118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9a0d63db6d_0_0:notes"/>
          <p:cNvSpPr txBox="1"/>
          <p:nvPr>
            <p:ph idx="1" type="body"/>
          </p:nvPr>
        </p:nvSpPr>
        <p:spPr>
          <a:xfrm>
            <a:off x="709612" y="4860925"/>
            <a:ext cx="5680200" cy="46053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9a0d63db6d_0_0:notes"/>
          <p:cNvSpPr txBox="1"/>
          <p:nvPr>
            <p:ph idx="12" type="sldNum"/>
          </p:nvPr>
        </p:nvSpPr>
        <p:spPr>
          <a:xfrm>
            <a:off x="4021137" y="9721850"/>
            <a:ext cx="3076500" cy="5112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-125" y="0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5" name="Google Shape;15;p2"/>
          <p:cNvSpPr txBox="1"/>
          <p:nvPr>
            <p:ph type="ctrTitle"/>
          </p:nvPr>
        </p:nvSpPr>
        <p:spPr>
          <a:xfrm>
            <a:off x="311700" y="719633"/>
            <a:ext cx="8520600" cy="1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11700" y="2504747"/>
            <a:ext cx="4242600" cy="9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0" y="64132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0" name="Google Shape;20;p3"/>
          <p:cNvSpPr/>
          <p:nvPr/>
        </p:nvSpPr>
        <p:spPr>
          <a:xfrm>
            <a:off x="0" y="0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311700" y="719633"/>
            <a:ext cx="8520600" cy="1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4314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0" y="58833"/>
            <a:ext cx="4313625" cy="5865687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Google Shape;26;p4"/>
          <p:cNvSpPr/>
          <p:nvPr/>
        </p:nvSpPr>
        <p:spPr>
          <a:xfrm>
            <a:off x="-125" y="0"/>
            <a:ext cx="4316900" cy="5860653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25" y="667900"/>
            <a:ext cx="3706500" cy="3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644675" y="667900"/>
            <a:ext cx="4166400" cy="54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0" y="0"/>
            <a:ext cx="9144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25" y="667900"/>
            <a:ext cx="8520600" cy="8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311700" y="2007600"/>
            <a:ext cx="3999900" cy="4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832400" y="2007600"/>
            <a:ext cx="3999900" cy="4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>
            <a:off x="0" y="0"/>
            <a:ext cx="9144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311725" y="667900"/>
            <a:ext cx="8520600" cy="8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0" y="0"/>
            <a:ext cx="37644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311725" y="667900"/>
            <a:ext cx="3127500" cy="24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3187533"/>
            <a:ext cx="3127500" cy="30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311675" y="1064800"/>
            <a:ext cx="6247800" cy="47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311300" y="667900"/>
            <a:ext cx="3704400" cy="27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304800" y="3502300"/>
            <a:ext cx="3704400" cy="12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879025" y="667900"/>
            <a:ext cx="3954000" cy="54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/>
          <p:nvPr/>
        </p:nvSpPr>
        <p:spPr>
          <a:xfrm>
            <a:off x="0" y="5825333"/>
            <a:ext cx="9144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11700" y="6028533"/>
            <a:ext cx="7979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50" y="1108233"/>
            <a:ext cx="5334900" cy="165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2828567"/>
            <a:ext cx="5334900" cy="12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type="title"/>
          </p:nvPr>
        </p:nvSpPr>
        <p:spPr>
          <a:xfrm>
            <a:off x="628650" y="365125"/>
            <a:ext cx="65844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628650" y="1178100"/>
            <a:ext cx="7886700" cy="49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○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■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○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conteúdo">
  <p:cSld name="1_Título e conteúdo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ítulo e conteúdo">
  <p:cSld name="2_Título e conteúdo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10" type="dt"/>
          </p:nvPr>
        </p:nvSpPr>
        <p:spPr>
          <a:xfrm>
            <a:off x="457200" y="6245225"/>
            <a:ext cx="2133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1" type="ftr"/>
          </p:nvPr>
        </p:nvSpPr>
        <p:spPr>
          <a:xfrm>
            <a:off x="3124200" y="6245225"/>
            <a:ext cx="2895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6553200" y="6245225"/>
            <a:ext cx="2133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/>
          <p:nvPr/>
        </p:nvSpPr>
        <p:spPr>
          <a:xfrm>
            <a:off x="-75" y="6727600"/>
            <a:ext cx="91440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9"/>
          <p:cNvCxnSpPr/>
          <p:nvPr/>
        </p:nvCxnSpPr>
        <p:spPr>
          <a:xfrm>
            <a:off x="7007735" y="4235851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" name="Google Shape;90;p19"/>
          <p:cNvCxnSpPr/>
          <p:nvPr/>
        </p:nvCxnSpPr>
        <p:spPr>
          <a:xfrm>
            <a:off x="1575035" y="4211003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1" name="Google Shape;91;p19"/>
          <p:cNvGrpSpPr/>
          <p:nvPr/>
        </p:nvGrpSpPr>
        <p:grpSpPr>
          <a:xfrm>
            <a:off x="1004144" y="1362666"/>
            <a:ext cx="7136668" cy="203195"/>
            <a:chOff x="1346429" y="1011300"/>
            <a:chExt cx="6452100" cy="152400"/>
          </a:xfrm>
        </p:grpSpPr>
        <p:cxnSp>
          <p:nvCxnSpPr>
            <p:cNvPr id="92" name="Google Shape;92;p19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" name="Google Shape;93;p19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4" name="Google Shape;94;p19"/>
          <p:cNvGrpSpPr/>
          <p:nvPr/>
        </p:nvGrpSpPr>
        <p:grpSpPr>
          <a:xfrm>
            <a:off x="1004151" y="5292001"/>
            <a:ext cx="7136668" cy="203195"/>
            <a:chOff x="1346435" y="3969088"/>
            <a:chExt cx="6452100" cy="152400"/>
          </a:xfrm>
        </p:grpSpPr>
        <p:cxnSp>
          <p:nvCxnSpPr>
            <p:cNvPr id="95" name="Google Shape;95;p19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" name="Google Shape;96;p19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7" name="Google Shape;97;p19"/>
          <p:cNvSpPr txBox="1"/>
          <p:nvPr>
            <p:ph type="ctrTitle"/>
          </p:nvPr>
        </p:nvSpPr>
        <p:spPr>
          <a:xfrm>
            <a:off x="1004150" y="2335685"/>
            <a:ext cx="7136700" cy="136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98" name="Google Shape;98;p19"/>
          <p:cNvSpPr txBox="1"/>
          <p:nvPr>
            <p:ph idx="1" type="subTitle"/>
          </p:nvPr>
        </p:nvSpPr>
        <p:spPr>
          <a:xfrm>
            <a:off x="2137225" y="3800052"/>
            <a:ext cx="48705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/>
          <p:nvPr/>
        </p:nvSpPr>
        <p:spPr>
          <a:xfrm>
            <a:off x="-50" y="3429200"/>
            <a:ext cx="9144000" cy="34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1086400"/>
            <a:ext cx="8571300" cy="12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688233"/>
            <a:ext cx="39999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21"/>
          <p:cNvSpPr txBox="1"/>
          <p:nvPr>
            <p:ph idx="2" type="body"/>
          </p:nvPr>
        </p:nvSpPr>
        <p:spPr>
          <a:xfrm>
            <a:off x="4832400" y="1688233"/>
            <a:ext cx="39999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" name="Google Shape;108;p21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5" name="Google Shape;115;p23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490250" y="701800"/>
            <a:ext cx="56136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25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25"/>
          <p:cNvSpPr txBox="1"/>
          <p:nvPr>
            <p:ph type="title"/>
          </p:nvPr>
        </p:nvSpPr>
        <p:spPr>
          <a:xfrm>
            <a:off x="265500" y="1386233"/>
            <a:ext cx="4045200" cy="223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3" name="Google Shape;123;p25"/>
          <p:cNvSpPr txBox="1"/>
          <p:nvPr>
            <p:ph idx="1" type="subTitle"/>
          </p:nvPr>
        </p:nvSpPr>
        <p:spPr>
          <a:xfrm>
            <a:off x="265500" y="36358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4" name="Google Shape;124;p25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25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/>
          <p:nvPr>
            <p:ph idx="1" type="body"/>
          </p:nvPr>
        </p:nvSpPr>
        <p:spPr>
          <a:xfrm>
            <a:off x="311700" y="5640967"/>
            <a:ext cx="59988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128" name="Google Shape;128;p26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/>
          <p:nvPr/>
        </p:nvSpPr>
        <p:spPr>
          <a:xfrm>
            <a:off x="-75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7"/>
          <p:cNvSpPr txBox="1"/>
          <p:nvPr>
            <p:ph hasCustomPrompt="1" type="title"/>
          </p:nvPr>
        </p:nvSpPr>
        <p:spPr>
          <a:xfrm>
            <a:off x="311700" y="1739800"/>
            <a:ext cx="85206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2" name="Google Shape;132;p27"/>
          <p:cNvSpPr txBox="1"/>
          <p:nvPr>
            <p:ph idx="1" type="body"/>
          </p:nvPr>
        </p:nvSpPr>
        <p:spPr>
          <a:xfrm>
            <a:off x="311700" y="3994200"/>
            <a:ext cx="85206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3" name="Google Shape;133;p27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jpg"/><Relationship Id="rId10" Type="http://schemas.openxmlformats.org/officeDocument/2006/relationships/hyperlink" Target="mailto:contato@portalliliancarvalho.com.br" TargetMode="External"/><Relationship Id="rId13" Type="http://schemas.openxmlformats.org/officeDocument/2006/relationships/image" Target="../media/image6.png"/><Relationship Id="rId12" Type="http://schemas.openxmlformats.org/officeDocument/2006/relationships/image" Target="../media/image30.jpg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r-bloggers.com/2018/08/nasa-datanauts/" TargetMode="External"/><Relationship Id="rId4" Type="http://schemas.openxmlformats.org/officeDocument/2006/relationships/hyperlink" Target="https://eaesp.fgv.br/centros/fgvcemd" TargetMode="External"/><Relationship Id="rId9" Type="http://schemas.openxmlformats.org/officeDocument/2006/relationships/hyperlink" Target="https://www.instagram.com/profa.liliancarvalho/" TargetMode="External"/><Relationship Id="rId15" Type="http://schemas.openxmlformats.org/officeDocument/2006/relationships/image" Target="../media/image3.png"/><Relationship Id="rId14" Type="http://schemas.openxmlformats.org/officeDocument/2006/relationships/image" Target="../media/image26.png"/><Relationship Id="rId16" Type="http://schemas.openxmlformats.org/officeDocument/2006/relationships/image" Target="../media/image11.png"/><Relationship Id="rId5" Type="http://schemas.openxmlformats.org/officeDocument/2006/relationships/hyperlink" Target="https://www.awabusiness.school/faculty" TargetMode="External"/><Relationship Id="rId6" Type="http://schemas.openxmlformats.org/officeDocument/2006/relationships/hyperlink" Target="https://www.asb.ac/our-faculty/" TargetMode="External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png"/><Relationship Id="rId4" Type="http://schemas.openxmlformats.org/officeDocument/2006/relationships/image" Target="../media/image1.jp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Relationship Id="rId4" Type="http://schemas.openxmlformats.org/officeDocument/2006/relationships/image" Target="../media/image2.jpg"/><Relationship Id="rId5" Type="http://schemas.openxmlformats.org/officeDocument/2006/relationships/image" Target="../media/image1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jpg"/><Relationship Id="rId4" Type="http://schemas.openxmlformats.org/officeDocument/2006/relationships/image" Target="../media/image10.jpg"/><Relationship Id="rId5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Relationship Id="rId4" Type="http://schemas.openxmlformats.org/officeDocument/2006/relationships/hyperlink" Target="https://www.youtube.com/watch?v=2r9sfJMkkgg" TargetMode="External"/><Relationship Id="rId5" Type="http://schemas.openxmlformats.org/officeDocument/2006/relationships/hyperlink" Target="https://www.youtube.com/watch?v=q9s6B00W5uQ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hofstede-insights.com/country-comparison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 txBox="1"/>
          <p:nvPr>
            <p:ph type="ctrTitle"/>
          </p:nvPr>
        </p:nvSpPr>
        <p:spPr>
          <a:xfrm>
            <a:off x="684212" y="1052512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COMPORTAMENTO DO CONSUMIDOR</a:t>
            </a:r>
            <a:endParaRPr/>
          </a:p>
        </p:txBody>
      </p:sp>
      <p:sp>
        <p:nvSpPr>
          <p:cNvPr id="141" name="Google Shape;141;p29"/>
          <p:cNvSpPr txBox="1"/>
          <p:nvPr>
            <p:ph idx="1" type="subTitle"/>
          </p:nvPr>
        </p:nvSpPr>
        <p:spPr>
          <a:xfrm>
            <a:off x="1371600" y="2979737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Prof. Lilian Carvalho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lilian.carvalho@fgv.br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"/>
          <p:cNvSpPr txBox="1"/>
          <p:nvPr>
            <p:ph type="title"/>
          </p:nvPr>
        </p:nvSpPr>
        <p:spPr>
          <a:xfrm>
            <a:off x="311700" y="186967"/>
            <a:ext cx="8520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Dra. Lilian Carvalho</a:t>
            </a:r>
            <a:endParaRPr/>
          </a:p>
        </p:txBody>
      </p:sp>
      <p:sp>
        <p:nvSpPr>
          <p:cNvPr id="147" name="Google Shape;147;p30"/>
          <p:cNvSpPr txBox="1"/>
          <p:nvPr>
            <p:ph idx="1" type="body"/>
          </p:nvPr>
        </p:nvSpPr>
        <p:spPr>
          <a:xfrm>
            <a:off x="311700" y="1282033"/>
            <a:ext cx="63234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300">
                <a:solidFill>
                  <a:srgbClr val="134F5C"/>
                </a:solidFill>
              </a:rPr>
              <a:t>Professora Doutora em marketing pela Fundação Getúlio Vargas (FGV-EAESP). Selecionada pela </a:t>
            </a:r>
            <a:r>
              <a:rPr lang="en-US" sz="1300" u="sng">
                <a:solidFill>
                  <a:srgbClr val="134F5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NASA como cientista de dados para o programa Datanauts no Outono de 2018</a:t>
            </a:r>
            <a:r>
              <a:rPr lang="en-US" sz="1300">
                <a:solidFill>
                  <a:srgbClr val="134F5C"/>
                </a:solidFill>
              </a:rPr>
              <a:t>. </a:t>
            </a:r>
            <a:r>
              <a:rPr lang="en-US" sz="1300" u="sng">
                <a:solidFill>
                  <a:srgbClr val="134F5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Coordenadora do centro de estudos em Marketing Digital da EAESP (FGV/CEMD). </a:t>
            </a:r>
            <a:r>
              <a:rPr lang="en-US" sz="1300">
                <a:solidFill>
                  <a:srgbClr val="134F5C"/>
                </a:solidFill>
              </a:rPr>
              <a:t>Consultora e palestrante, criadora do Método Lumière, ensino gamificado de métricas de marketing digital. </a:t>
            </a:r>
            <a:r>
              <a:rPr lang="en-US" sz="1300">
                <a:solidFill>
                  <a:srgbClr val="134F5C"/>
                </a:solidFill>
              </a:rPr>
              <a:t>Entre seus clientes encontram-se: Natura, ABVED, Bunzl EPIs, entre outras grandes empresas do Brasil e do exterior.</a:t>
            </a:r>
            <a:endParaRPr sz="1300">
              <a:solidFill>
                <a:srgbClr val="134F5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300">
                <a:solidFill>
                  <a:srgbClr val="134F5C"/>
                </a:solidFill>
              </a:rPr>
              <a:t>Professora Visitante da </a:t>
            </a:r>
            <a:r>
              <a:rPr lang="en-US" sz="1300" u="sng">
                <a:solidFill>
                  <a:srgbClr val="134F5C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Awa Business School (UK)</a:t>
            </a:r>
            <a:r>
              <a:rPr lang="en-US" sz="1300">
                <a:solidFill>
                  <a:srgbClr val="134F5C"/>
                </a:solidFill>
              </a:rPr>
              <a:t>,</a:t>
            </a:r>
            <a:r>
              <a:rPr lang="en-US" sz="1300" u="sng">
                <a:solidFill>
                  <a:srgbClr val="134F5C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Agora Business School</a:t>
            </a:r>
            <a:r>
              <a:rPr lang="en-US" sz="1300">
                <a:solidFill>
                  <a:srgbClr val="134F5C"/>
                </a:solidFill>
              </a:rPr>
              <a:t> (Egito) e coordenadora do Certificado em Marketing Digital (online) da Universidade de Chicago (USA)</a:t>
            </a:r>
            <a:r>
              <a:rPr lang="en-US" sz="1300">
                <a:solidFill>
                  <a:srgbClr val="134F5C"/>
                </a:solidFill>
              </a:rPr>
              <a:t>. Especialista nas áreas de marketing digital, métricas de marketing e otimização de resultados de funis de vendas. </a:t>
            </a:r>
            <a:endParaRPr sz="1300">
              <a:solidFill>
                <a:srgbClr val="134F5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lang="en-US" sz="1300"/>
            </a:b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300"/>
          </a:p>
        </p:txBody>
      </p:sp>
      <p:pic>
        <p:nvPicPr>
          <p:cNvPr id="148" name="Google Shape;148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41969" y="4688392"/>
            <a:ext cx="1062875" cy="106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2573" y="4808283"/>
            <a:ext cx="1972751" cy="44209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0"/>
          <p:cNvSpPr txBox="1"/>
          <p:nvPr/>
        </p:nvSpPr>
        <p:spPr>
          <a:xfrm>
            <a:off x="5374750" y="4309733"/>
            <a:ext cx="4992300" cy="20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</a:t>
            </a:r>
            <a:r>
              <a:rPr lang="en-US" sz="15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@profa.liliancarvalho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+55 11 91775-6600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         </a:t>
            </a:r>
            <a:r>
              <a:rPr lang="en-US" sz="12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contato@portalliliancarvalho.com.br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30"/>
          <p:cNvPicPr preferRelativeResize="0"/>
          <p:nvPr/>
        </p:nvPicPr>
        <p:blipFill rotWithShape="1">
          <a:blip r:embed="rId11">
            <a:alphaModFix/>
          </a:blip>
          <a:srcRect b="16516" l="0" r="0" t="13021"/>
          <a:stretch/>
        </p:blipFill>
        <p:spPr>
          <a:xfrm>
            <a:off x="7016100" y="1491966"/>
            <a:ext cx="1862400" cy="2620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065975" y="4417100"/>
            <a:ext cx="2112799" cy="163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0"/>
          <p:cNvSpPr/>
          <p:nvPr/>
        </p:nvSpPr>
        <p:spPr>
          <a:xfrm>
            <a:off x="4728100" y="5234567"/>
            <a:ext cx="207000" cy="699900"/>
          </a:xfrm>
          <a:prstGeom prst="rect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3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 flipH="1">
            <a:off x="6408426" y="4917233"/>
            <a:ext cx="278675" cy="27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358126" y="4309721"/>
            <a:ext cx="379300" cy="379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3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79976" y="5563000"/>
            <a:ext cx="2030137" cy="70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408435" y="5485363"/>
            <a:ext cx="278675" cy="27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type="title"/>
          </p:nvPr>
        </p:nvSpPr>
        <p:spPr>
          <a:xfrm>
            <a:off x="628650" y="365125"/>
            <a:ext cx="6584400" cy="627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Teaching Philosophy</a:t>
            </a:r>
            <a:endParaRPr/>
          </a:p>
        </p:txBody>
      </p:sp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628650" y="1178100"/>
            <a:ext cx="7886700" cy="499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O professor está disponível para ajudar os alunos com suas necessidades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Responsabilidade  é importante para ter sucesso neste curso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Entregas no prazo (SEM EXCEÇÕES)</a:t>
            </a:r>
            <a:endParaRPr b="1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Os alunos devem estar preparados para a aula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O trabalho em grupo é uma habilidade que você aprende no trabalho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O trabalho duro faz parte da vida e faz parte deste curso</a:t>
            </a:r>
            <a:endParaRPr sz="2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65" name="Google Shape;165;p31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628650" y="365125"/>
            <a:ext cx="65844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3600"/>
              <a:t>O Que é marketing pra você?</a:t>
            </a:r>
            <a:endParaRPr sz="3600"/>
          </a:p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628650" y="1178100"/>
            <a:ext cx="7886700" cy="49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762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900"/>
              <a:buFont typeface="Arial"/>
              <a:buChar char="•"/>
            </a:pPr>
            <a:r>
              <a:rPr lang="en-US" sz="2400"/>
              <a:t>Anote o que é marketing para você? </a:t>
            </a:r>
            <a:endParaRPr sz="2400"/>
          </a:p>
          <a:p>
            <a:pPr indent="-4762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900"/>
              <a:buFont typeface="Arial"/>
              <a:buChar char="•"/>
            </a:pPr>
            <a:r>
              <a:rPr lang="en-US" sz="2400"/>
              <a:t>Que tarefas desempenha?</a:t>
            </a:r>
            <a:endParaRPr sz="2400"/>
          </a:p>
          <a:p>
            <a:pPr indent="-4762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900"/>
              <a:buFont typeface="Arial"/>
              <a:buChar char="•"/>
            </a:pPr>
            <a:r>
              <a:rPr lang="en-US" sz="2400"/>
              <a:t>Como ajuda as empresas a alcançarem seus resultados?</a:t>
            </a:r>
            <a:endParaRPr sz="2400"/>
          </a:p>
        </p:txBody>
      </p:sp>
      <p:sp>
        <p:nvSpPr>
          <p:cNvPr id="172" name="Google Shape;172;p32"/>
          <p:cNvSpPr txBox="1"/>
          <p:nvPr/>
        </p:nvSpPr>
        <p:spPr>
          <a:xfrm>
            <a:off x="1019375" y="3701175"/>
            <a:ext cx="6946500" cy="22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type="title"/>
          </p:nvPr>
        </p:nvSpPr>
        <p:spPr>
          <a:xfrm>
            <a:off x="628650" y="486833"/>
            <a:ext cx="6584400" cy="836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nova carreira de marketing</a:t>
            </a:r>
            <a:endParaRPr/>
          </a:p>
        </p:txBody>
      </p:sp>
      <p:sp>
        <p:nvSpPr>
          <p:cNvPr id="179" name="Google Shape;179;p33"/>
          <p:cNvSpPr txBox="1"/>
          <p:nvPr>
            <p:ph idx="1" type="body"/>
          </p:nvPr>
        </p:nvSpPr>
        <p:spPr>
          <a:xfrm>
            <a:off x="628650" y="1570800"/>
            <a:ext cx="7886700" cy="66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3"/>
          <p:cNvSpPr txBox="1"/>
          <p:nvPr>
            <p:ph idx="12" type="sldNum"/>
          </p:nvPr>
        </p:nvSpPr>
        <p:spPr>
          <a:xfrm>
            <a:off x="6457950" y="8475133"/>
            <a:ext cx="2057400" cy="486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33"/>
          <p:cNvSpPr txBox="1"/>
          <p:nvPr/>
        </p:nvSpPr>
        <p:spPr>
          <a:xfrm>
            <a:off x="4520400" y="1984267"/>
            <a:ext cx="3436800" cy="2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Syncopate"/>
              <a:ea typeface="Syncopate"/>
              <a:cs typeface="Syncopate"/>
              <a:sym typeface="Syncopat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Syncopate"/>
              <a:ea typeface="Syncopate"/>
              <a:cs typeface="Syncopate"/>
              <a:sym typeface="Syncopat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182" name="Google Shape;182;p33"/>
          <p:cNvSpPr txBox="1"/>
          <p:nvPr/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 sz="900">
              <a:solidFill>
                <a:srgbClr val="888888"/>
              </a:solidFill>
            </a:endParaRPr>
          </a:p>
        </p:txBody>
      </p:sp>
      <p:pic>
        <p:nvPicPr>
          <p:cNvPr id="183" name="Google Shape;183;p33"/>
          <p:cNvPicPr preferRelativeResize="0"/>
          <p:nvPr/>
        </p:nvPicPr>
        <p:blipFill rotWithShape="1">
          <a:blip r:embed="rId3">
            <a:alphaModFix/>
          </a:blip>
          <a:srcRect b="29007" l="25031" r="29057" t="21778"/>
          <a:stretch/>
        </p:blipFill>
        <p:spPr>
          <a:xfrm>
            <a:off x="3720500" y="1989834"/>
            <a:ext cx="1702999" cy="337533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3"/>
          <p:cNvSpPr txBox="1"/>
          <p:nvPr/>
        </p:nvSpPr>
        <p:spPr>
          <a:xfrm>
            <a:off x="990075" y="5528767"/>
            <a:ext cx="65844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Syncopate"/>
                <a:ea typeface="Syncopate"/>
                <a:cs typeface="Syncopate"/>
                <a:sym typeface="Syncopate"/>
              </a:rPr>
              <a:t>ARTISTaS &amp; CIENTISTaS</a:t>
            </a:r>
            <a:endParaRPr sz="2800">
              <a:latin typeface="Syncopate"/>
              <a:ea typeface="Syncopate"/>
              <a:cs typeface="Syncopate"/>
              <a:sym typeface="Syncopate"/>
            </a:endParaRPr>
          </a:p>
        </p:txBody>
      </p:sp>
      <p:pic>
        <p:nvPicPr>
          <p:cNvPr id="185" name="Google Shape;18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9450" y="2055298"/>
            <a:ext cx="1274600" cy="91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5075" y="3601316"/>
            <a:ext cx="1196150" cy="119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8413" y="1843046"/>
            <a:ext cx="1040784" cy="3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54125" y="1843050"/>
            <a:ext cx="694687" cy="694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58102" y="2885162"/>
            <a:ext cx="1999100" cy="1966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idx="4294967295" type="title"/>
          </p:nvPr>
        </p:nvSpPr>
        <p:spPr>
          <a:xfrm>
            <a:off x="685800" y="3413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Evolution of the Marketing discipline</a:t>
            </a:r>
            <a:endParaRPr/>
          </a:p>
        </p:txBody>
      </p:sp>
      <p:sp>
        <p:nvSpPr>
          <p:cNvPr id="195" name="Google Shape;195;p34"/>
          <p:cNvSpPr txBox="1"/>
          <p:nvPr>
            <p:ph idx="4294967295" type="body"/>
          </p:nvPr>
        </p:nvSpPr>
        <p:spPr>
          <a:xfrm>
            <a:off x="323850" y="1525587"/>
            <a:ext cx="853440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413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66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1902: first course University of Michigan</a:t>
            </a:r>
            <a:endParaRPr/>
          </a:p>
          <a:p>
            <a:pPr indent="-2413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66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1926: 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National Association of Teachers of Marketing and Advertising.</a:t>
            </a:r>
            <a:endParaRPr/>
          </a:p>
          <a:p>
            <a:pPr indent="-2413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66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1936: 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American Marketing Association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(AMA)</a:t>
            </a:r>
            <a:endParaRPr/>
          </a:p>
          <a:p>
            <a:pPr indent="-2413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66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1936: Journal of Marketing</a:t>
            </a:r>
            <a:endParaRPr/>
          </a:p>
          <a:p>
            <a:pPr indent="-2413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66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1960: Marketing myopia (Theodore Levitt)</a:t>
            </a:r>
            <a:endParaRPr/>
          </a:p>
          <a:p>
            <a:pPr indent="-2413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66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1965: first course Brazil - ADBV – Associação dos Dirigentes de Vendas e Marketing do Brasil)</a:t>
            </a:r>
            <a:endParaRPr/>
          </a:p>
          <a:p>
            <a:pPr indent="-2413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66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1969: Broadening the Concept of Marketing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(Kotler, Levy)</a:t>
            </a:r>
            <a:endParaRPr/>
          </a:p>
          <a:p>
            <a:pPr indent="-2413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66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1962: McCarthy 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marketing mix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4Ps</a:t>
            </a:r>
            <a:endParaRPr/>
          </a:p>
          <a:p>
            <a:pPr indent="-2413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66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1970: Brazil first graduate program Marketing (FGV-SP)</a:t>
            </a:r>
            <a:endParaRPr/>
          </a:p>
          <a:p>
            <a:pPr indent="-2413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66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2000: MacInnis; Hoyer (consumerism, pu</a:t>
            </a:r>
            <a:r>
              <a:rPr lang="en-US" sz="1600"/>
              <a:t>b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lic policy etc)</a:t>
            </a:r>
            <a:endParaRPr/>
          </a:p>
          <a:p>
            <a:pPr indent="-2413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idx="4294967295" type="title"/>
          </p:nvPr>
        </p:nvSpPr>
        <p:spPr>
          <a:xfrm>
            <a:off x="685800" y="404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 que é marketing?</a:t>
            </a:r>
            <a:endParaRPr/>
          </a:p>
        </p:txBody>
      </p:sp>
      <p:sp>
        <p:nvSpPr>
          <p:cNvPr id="201" name="Google Shape;201;p35"/>
          <p:cNvSpPr txBox="1"/>
          <p:nvPr>
            <p:ph idx="4294967295" type="body"/>
          </p:nvPr>
        </p:nvSpPr>
        <p:spPr>
          <a:xfrm>
            <a:off x="685800" y="1989137"/>
            <a:ext cx="7772400" cy="396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Segundo Kotler, Marketing é:</a:t>
            </a:r>
            <a:endParaRPr/>
          </a:p>
          <a:p>
            <a:pPr indent="-215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gestão lucrativa do relacionamento com os clientes;</a:t>
            </a:r>
            <a:endParaRPr/>
          </a:p>
          <a:p>
            <a:pPr indent="-215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processo pelo qual empresas criam valor para os clientes e constroem fortes relacionamentos com eles a fim de, em troca, capturar valor deles.</a:t>
            </a:r>
            <a:endParaRPr/>
          </a:p>
          <a:p>
            <a:pPr indent="-215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6500" y="4785649"/>
            <a:ext cx="3960249" cy="198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idx="4294967295" type="title"/>
          </p:nvPr>
        </p:nvSpPr>
        <p:spPr>
          <a:xfrm>
            <a:off x="685800" y="404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 que é marketing?</a:t>
            </a:r>
            <a:endParaRPr/>
          </a:p>
        </p:txBody>
      </p:sp>
      <p:sp>
        <p:nvSpPr>
          <p:cNvPr id="208" name="Google Shape;208;p36"/>
          <p:cNvSpPr txBox="1"/>
          <p:nvPr>
            <p:ph idx="4294967295" type="body"/>
          </p:nvPr>
        </p:nvSpPr>
        <p:spPr>
          <a:xfrm>
            <a:off x="685800" y="1989137"/>
            <a:ext cx="7772400" cy="396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(AMA, 1976): the performance of </a:t>
            </a:r>
            <a:r>
              <a:rPr b="0" i="0"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activities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direct the flow of goods and services from producer to consumer or user.</a:t>
            </a:r>
            <a:endParaRPr/>
          </a:p>
          <a:p>
            <a:pPr indent="-1905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(AMA, 2004): Marketing is an organizational function and a set of processes for creating, communicating, and delivering value to customers and for managing customer relationships in ways that benefit the organization and its </a:t>
            </a:r>
            <a:r>
              <a:rPr b="0" i="0"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stakeholders.</a:t>
            </a:r>
            <a:endParaRPr/>
          </a:p>
          <a:p>
            <a:pPr indent="-215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(AMA, 2013): Marketing is the activity, set of institutions, and processes for creating, communicating, delivering, and </a:t>
            </a:r>
            <a:r>
              <a:rPr b="0" i="0" lang="en-US" sz="2000" u="sng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exchanging</a:t>
            </a:r>
            <a:r>
              <a:rPr b="0" i="0" lang="en-US" sz="20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offerings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</a:t>
            </a:r>
            <a:r>
              <a:rPr b="0" i="0" lang="en-US" sz="20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have </a:t>
            </a:r>
            <a:r>
              <a:rPr b="0" i="0" lang="en-US" sz="2000" u="sng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="0" i="0" lang="en-US" sz="20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for customers, clients, partners, and </a:t>
            </a:r>
            <a:r>
              <a:rPr b="0" i="0" lang="en-US" sz="2000" u="sng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society</a:t>
            </a:r>
            <a:r>
              <a:rPr b="0" i="0" lang="en-US" sz="2000" u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at large.</a:t>
            </a:r>
            <a:endParaRPr>
              <a:highlight>
                <a:srgbClr val="FFFF00"/>
              </a:highlight>
            </a:endParaRPr>
          </a:p>
          <a:p>
            <a:pPr indent="-215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type="title"/>
          </p:nvPr>
        </p:nvSpPr>
        <p:spPr>
          <a:xfrm>
            <a:off x="311300" y="667900"/>
            <a:ext cx="3704400" cy="27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próxima aula</a:t>
            </a:r>
            <a:endParaRPr/>
          </a:p>
        </p:txBody>
      </p:sp>
      <p:sp>
        <p:nvSpPr>
          <p:cNvPr id="215" name="Google Shape;215;p37"/>
          <p:cNvSpPr txBox="1"/>
          <p:nvPr>
            <p:ph idx="1" type="subTitle"/>
          </p:nvPr>
        </p:nvSpPr>
        <p:spPr>
          <a:xfrm>
            <a:off x="304800" y="3502300"/>
            <a:ext cx="3704400" cy="12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7"/>
          <p:cNvSpPr txBox="1"/>
          <p:nvPr>
            <p:ph idx="2" type="body"/>
          </p:nvPr>
        </p:nvSpPr>
        <p:spPr>
          <a:xfrm>
            <a:off x="4879025" y="667900"/>
            <a:ext cx="3954000" cy="54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SzPts val="3400"/>
              <a:buAutoNum type="arabicPeriod"/>
            </a:pPr>
            <a:r>
              <a:rPr lang="en-US" sz="3400"/>
              <a:t>Ler 2 artigos:</a:t>
            </a:r>
            <a:endParaRPr sz="3400"/>
          </a:p>
          <a:p>
            <a:pPr indent="-444500" lvl="1" marL="914400" rtl="0" algn="l">
              <a:spcBef>
                <a:spcPts val="0"/>
              </a:spcBef>
              <a:spcAft>
                <a:spcPts val="0"/>
              </a:spcAft>
              <a:buSzPts val="3400"/>
              <a:buAutoNum type="alphaLcPeriod"/>
            </a:pPr>
            <a:r>
              <a:rPr lang="en-US" sz="3400"/>
              <a:t>Sheth e Uslay sobre Valor</a:t>
            </a:r>
            <a:endParaRPr sz="3400"/>
          </a:p>
          <a:p>
            <a:pPr indent="-444500" lvl="1" marL="914400" rtl="0" algn="l">
              <a:spcBef>
                <a:spcPts val="0"/>
              </a:spcBef>
              <a:spcAft>
                <a:spcPts val="0"/>
              </a:spcAft>
              <a:buSzPts val="3400"/>
              <a:buAutoNum type="alphaLcPeriod"/>
            </a:pPr>
            <a:r>
              <a:rPr lang="en-US" sz="3400"/>
              <a:t>E Miopia em Marketing do Levitt</a:t>
            </a:r>
            <a:endParaRPr sz="3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 txBox="1"/>
          <p:nvPr>
            <p:ph type="ctrTitle"/>
          </p:nvPr>
        </p:nvSpPr>
        <p:spPr>
          <a:xfrm>
            <a:off x="311700" y="719633"/>
            <a:ext cx="85206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Miopia em Marketing</a:t>
            </a:r>
            <a:endParaRPr/>
          </a:p>
        </p:txBody>
      </p:sp>
      <p:sp>
        <p:nvSpPr>
          <p:cNvPr id="222" name="Google Shape;222;p38"/>
          <p:cNvSpPr txBox="1"/>
          <p:nvPr>
            <p:ph idx="1" type="subTitle"/>
          </p:nvPr>
        </p:nvSpPr>
        <p:spPr>
          <a:xfrm>
            <a:off x="311700" y="2504747"/>
            <a:ext cx="42426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https://hbr.org/video/3590615227001/the-explainer-marketing-myopia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 txBox="1"/>
          <p:nvPr>
            <p:ph idx="4294967295" type="title"/>
          </p:nvPr>
        </p:nvSpPr>
        <p:spPr>
          <a:xfrm>
            <a:off x="685800" y="404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Texto Levitt (1960) – Exercício em Grupos (4 alunos) – 20 minutos</a:t>
            </a:r>
            <a:endParaRPr/>
          </a:p>
        </p:txBody>
      </p:sp>
      <p:sp>
        <p:nvSpPr>
          <p:cNvPr id="228" name="Google Shape;228;p39"/>
          <p:cNvSpPr txBox="1"/>
          <p:nvPr>
            <p:ph idx="4294967295" type="body"/>
          </p:nvPr>
        </p:nvSpPr>
        <p:spPr>
          <a:xfrm>
            <a:off x="685800" y="1989137"/>
            <a:ext cx="7772400" cy="396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o autor quer dizer sobre “miopia de marketing” e pense em </a:t>
            </a:r>
            <a:r>
              <a:rPr lang="en-US" sz="1800"/>
              <a:t>exemplos de empresas que caíram/vão cair nesse erro. </a:t>
            </a:r>
            <a:endParaRPr/>
          </a:p>
          <a:p>
            <a:pPr indent="-2286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-2286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0"/>
          <p:cNvSpPr txBox="1"/>
          <p:nvPr>
            <p:ph type="title"/>
          </p:nvPr>
        </p:nvSpPr>
        <p:spPr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Conceitos Essenciais</a:t>
            </a:r>
            <a:endParaRPr/>
          </a:p>
        </p:txBody>
      </p:sp>
      <p:sp>
        <p:nvSpPr>
          <p:cNvPr id="234" name="Google Shape;234;p40"/>
          <p:cNvSpPr/>
          <p:nvPr/>
        </p:nvSpPr>
        <p:spPr>
          <a:xfrm>
            <a:off x="914400" y="2455862"/>
            <a:ext cx="7391400" cy="381000"/>
          </a:xfrm>
          <a:prstGeom prst="homePlate">
            <a:avLst>
              <a:gd fmla="val 21600" name="adj"/>
            </a:avLst>
          </a:prstGeom>
          <a:solidFill>
            <a:srgbClr val="00FF99"/>
          </a:solidFill>
          <a:ln>
            <a:noFill/>
          </a:ln>
          <a:effectLst>
            <a:outerShdw blurRad="63500" dir="2700000" dist="53881">
              <a:schemeClr val="lt2"/>
            </a:outerShdw>
          </a:effectLst>
        </p:spPr>
        <p:txBody>
          <a:bodyPr anchorCtr="0" anchor="ctr" bIns="46025" lIns="0" spcFirstLastPara="1" rIns="0" wrap="square" tIns="460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Oferta: Produto, Serviço, Experiência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0"/>
          <p:cNvSpPr/>
          <p:nvPr/>
        </p:nvSpPr>
        <p:spPr>
          <a:xfrm>
            <a:off x="914400" y="3082925"/>
            <a:ext cx="7391400" cy="381000"/>
          </a:xfrm>
          <a:prstGeom prst="homePlate">
            <a:avLst>
              <a:gd fmla="val 21600" name="adj"/>
            </a:avLst>
          </a:prstGeom>
          <a:solidFill>
            <a:srgbClr val="66FF99"/>
          </a:solidFill>
          <a:ln>
            <a:noFill/>
          </a:ln>
          <a:effectLst>
            <a:outerShdw blurRad="63500" dir="2700000" dist="53881">
              <a:schemeClr val="lt2"/>
            </a:outerShdw>
          </a:effectLst>
        </p:spPr>
        <p:txBody>
          <a:bodyPr anchorCtr="0" anchor="ctr" bIns="46025" lIns="0" spcFirstLastPara="1" rIns="0" wrap="square" tIns="460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 e Satisfação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0"/>
          <p:cNvSpPr/>
          <p:nvPr/>
        </p:nvSpPr>
        <p:spPr>
          <a:xfrm>
            <a:off x="914400" y="1830387"/>
            <a:ext cx="7391400" cy="381000"/>
          </a:xfrm>
          <a:prstGeom prst="homePlate">
            <a:avLst>
              <a:gd fmla="val 21600" name="adj"/>
            </a:avLst>
          </a:prstGeom>
          <a:solidFill>
            <a:srgbClr val="00CC99"/>
          </a:solidFill>
          <a:ln>
            <a:noFill/>
          </a:ln>
          <a:effectLst>
            <a:outerShdw blurRad="63500" dir="2700000" dist="35921">
              <a:schemeClr val="lt2"/>
            </a:outerShdw>
          </a:effectLst>
        </p:spPr>
        <p:txBody>
          <a:bodyPr anchorCtr="0" anchor="ctr" bIns="46025" lIns="0" spcFirstLastPara="1" rIns="0" wrap="square" tIns="460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Necessidades, Desejos, Demandas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0"/>
          <p:cNvSpPr/>
          <p:nvPr/>
        </p:nvSpPr>
        <p:spPr>
          <a:xfrm>
            <a:off x="919162" y="3654425"/>
            <a:ext cx="7391400" cy="381000"/>
          </a:xfrm>
          <a:prstGeom prst="homePlate">
            <a:avLst>
              <a:gd fmla="val 21600" name="adj"/>
            </a:avLst>
          </a:prstGeom>
          <a:solidFill>
            <a:srgbClr val="CCFF99"/>
          </a:solidFill>
          <a:ln>
            <a:noFill/>
          </a:ln>
          <a:effectLst>
            <a:outerShdw blurRad="63500" dir="2700000" dist="53881">
              <a:schemeClr val="lt2"/>
            </a:outerShdw>
          </a:effectLst>
        </p:spPr>
        <p:txBody>
          <a:bodyPr anchorCtr="0" anchor="ctr" bIns="46025" lIns="0" spcFirstLastPara="1" rIns="0" wrap="square" tIns="460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Trocas e Relacionamento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0"/>
          <p:cNvSpPr/>
          <p:nvPr/>
        </p:nvSpPr>
        <p:spPr>
          <a:xfrm>
            <a:off x="914400" y="4365625"/>
            <a:ext cx="7391400" cy="381000"/>
          </a:xfrm>
          <a:prstGeom prst="homePlate">
            <a:avLst>
              <a:gd fmla="val 21600" name="adj"/>
            </a:avLst>
          </a:prstGeom>
          <a:solidFill>
            <a:srgbClr val="008080"/>
          </a:solidFill>
          <a:ln>
            <a:noFill/>
          </a:ln>
          <a:effectLst>
            <a:outerShdw blurRad="63500" dir="2700000" dist="53881">
              <a:schemeClr val="lt2"/>
            </a:outerShdw>
          </a:effectLst>
        </p:spPr>
        <p:txBody>
          <a:bodyPr anchorCtr="0" anchor="ctr" bIns="46025" lIns="0" spcFirstLastPara="1" rIns="0" wrap="square" tIns="460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A5002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Mercados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/>
          <p:nvPr>
            <p:ph type="title"/>
          </p:nvPr>
        </p:nvSpPr>
        <p:spPr>
          <a:xfrm>
            <a:off x="628650" y="365125"/>
            <a:ext cx="65844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1818"/>
              <a:buNone/>
            </a:pPr>
            <a:r>
              <a:t/>
            </a:r>
            <a:endParaRPr b="0" i="0" sz="4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42-17124426" id="244" name="Google Shape;24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7452" y="243625"/>
            <a:ext cx="4794650" cy="6370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1"/>
          <p:cNvSpPr/>
          <p:nvPr/>
        </p:nvSpPr>
        <p:spPr>
          <a:xfrm>
            <a:off x="2781300" y="404812"/>
            <a:ext cx="2266950" cy="8477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l"/>
            <a:r>
              <a:rPr b="0" i="1">
                <a:ln cap="flat" cmpd="sng" w="9525">
                  <a:solidFill>
                    <a:srgbClr val="FF99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solidFill>
                  <a:srgbClr val="FFFF00"/>
                </a:solidFill>
                <a:latin typeface="Verdana"/>
              </a:rPr>
              <a:t>TROCA </a:t>
            </a:r>
          </a:p>
        </p:txBody>
      </p:sp>
      <p:sp>
        <p:nvSpPr>
          <p:cNvPr id="246" name="Google Shape;246;p41"/>
          <p:cNvSpPr txBox="1"/>
          <p:nvPr/>
        </p:nvSpPr>
        <p:spPr>
          <a:xfrm>
            <a:off x="6875462" y="4724400"/>
            <a:ext cx="20891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assimetrias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987" y="1989137"/>
            <a:ext cx="3616325" cy="4648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2" name="Google Shape;252;p42"/>
          <p:cNvGrpSpPr/>
          <p:nvPr/>
        </p:nvGrpSpPr>
        <p:grpSpPr>
          <a:xfrm>
            <a:off x="2519362" y="476250"/>
            <a:ext cx="5148262" cy="1227137"/>
            <a:chOff x="1981200" y="3524250"/>
            <a:chExt cx="5148262" cy="815975"/>
          </a:xfrm>
        </p:grpSpPr>
        <p:sp>
          <p:nvSpPr>
            <p:cNvPr id="253" name="Google Shape;253;p42"/>
            <p:cNvSpPr txBox="1"/>
            <p:nvPr/>
          </p:nvSpPr>
          <p:spPr>
            <a:xfrm>
              <a:off x="1981200" y="3657600"/>
              <a:ext cx="5148262" cy="344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VALOR</a:t>
              </a:r>
              <a:r>
                <a:rPr b="0" i="0" lang="en-US" sz="28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 =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42"/>
            <p:cNvSpPr txBox="1"/>
            <p:nvPr/>
          </p:nvSpPr>
          <p:spPr>
            <a:xfrm>
              <a:off x="3925887" y="3956050"/>
              <a:ext cx="2317750" cy="384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66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6600"/>
                  </a:solidFill>
                  <a:latin typeface="Calibri"/>
                  <a:ea typeface="Calibri"/>
                  <a:cs typeface="Calibri"/>
                  <a:sym typeface="Calibri"/>
                </a:rPr>
                <a:t>ESFORÇO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5" name="Google Shape;255;p42"/>
            <p:cNvCxnSpPr/>
            <p:nvPr/>
          </p:nvCxnSpPr>
          <p:spPr>
            <a:xfrm flipH="1" rot="10800000">
              <a:off x="3759200" y="3956050"/>
              <a:ext cx="2398712" cy="635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6" name="Google Shape;256;p42"/>
            <p:cNvSpPr txBox="1"/>
            <p:nvPr/>
          </p:nvSpPr>
          <p:spPr>
            <a:xfrm>
              <a:off x="3852862" y="3524250"/>
              <a:ext cx="2592387" cy="385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CC"/>
                  </a:solidFill>
                  <a:latin typeface="Calibri"/>
                  <a:ea typeface="Calibri"/>
                  <a:cs typeface="Calibri"/>
                  <a:sym typeface="Calibri"/>
                </a:rPr>
                <a:t>BENEFÍCIO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7" name="Google Shape;257;p42"/>
          <p:cNvSpPr txBox="1"/>
          <p:nvPr/>
        </p:nvSpPr>
        <p:spPr>
          <a:xfrm>
            <a:off x="5195887" y="4119562"/>
            <a:ext cx="3686175" cy="8223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Valor é individual, relativo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determinado no tempo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idx="4294967295" type="body"/>
          </p:nvPr>
        </p:nvSpPr>
        <p:spPr>
          <a:xfrm>
            <a:off x="539750" y="3100387"/>
            <a:ext cx="3509962" cy="2290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Funcionais 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Hedônicos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Pessoais 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3"/>
          <p:cNvSpPr txBox="1"/>
          <p:nvPr>
            <p:ph idx="4294967295" type="body"/>
          </p:nvPr>
        </p:nvSpPr>
        <p:spPr>
          <a:xfrm>
            <a:off x="4500562" y="3033712"/>
            <a:ext cx="4103687" cy="2263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Monetários 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Psicológicos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Comportamentais</a:t>
            </a:r>
            <a:endParaRPr/>
          </a:p>
        </p:txBody>
      </p:sp>
      <p:sp>
        <p:nvSpPr>
          <p:cNvPr id="264" name="Google Shape;264;p43"/>
          <p:cNvSpPr txBox="1"/>
          <p:nvPr/>
        </p:nvSpPr>
        <p:spPr>
          <a:xfrm rot="-5400000">
            <a:off x="-531812" y="5454650"/>
            <a:ext cx="2286000" cy="72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dana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3"/>
          <p:cNvSpPr txBox="1"/>
          <p:nvPr/>
        </p:nvSpPr>
        <p:spPr>
          <a:xfrm>
            <a:off x="977900" y="2038350"/>
            <a:ext cx="3024187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BENEFÍCIOS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3"/>
          <p:cNvSpPr txBox="1"/>
          <p:nvPr/>
        </p:nvSpPr>
        <p:spPr>
          <a:xfrm>
            <a:off x="4649787" y="2005012"/>
            <a:ext cx="288766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ESFORÇOS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3"/>
          <p:cNvSpPr txBox="1"/>
          <p:nvPr/>
        </p:nvSpPr>
        <p:spPr>
          <a:xfrm>
            <a:off x="617537" y="639762"/>
            <a:ext cx="748982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33"/>
              </a:buClr>
              <a:buSzPts val="4000"/>
              <a:buFont typeface="Bookman Old Style"/>
              <a:buNone/>
            </a:pPr>
            <a:r>
              <a:rPr b="1" i="0" lang="en-US" sz="4000" u="none" cap="none" strike="noStrike">
                <a:solidFill>
                  <a:srgbClr val="FF993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 txBox="1"/>
          <p:nvPr>
            <p:ph type="title"/>
          </p:nvPr>
        </p:nvSpPr>
        <p:spPr>
          <a:xfrm>
            <a:off x="628650" y="365125"/>
            <a:ext cx="6584400" cy="627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Discutam o que é valor para os seguintes produtos/serviços (8 minutos)</a:t>
            </a:r>
            <a:endParaRPr sz="3600"/>
          </a:p>
        </p:txBody>
      </p:sp>
      <p:sp>
        <p:nvSpPr>
          <p:cNvPr id="274" name="Google Shape;274;p44"/>
          <p:cNvSpPr txBox="1"/>
          <p:nvPr>
            <p:ph idx="1" type="body"/>
          </p:nvPr>
        </p:nvSpPr>
        <p:spPr>
          <a:xfrm>
            <a:off x="628650" y="1178100"/>
            <a:ext cx="7886700" cy="499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575" y="1164475"/>
            <a:ext cx="2286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0100" y="1295950"/>
            <a:ext cx="2970726" cy="278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5575" y="3996475"/>
            <a:ext cx="4765176" cy="268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5"/>
          <p:cNvSpPr txBox="1"/>
          <p:nvPr>
            <p:ph type="title"/>
          </p:nvPr>
        </p:nvSpPr>
        <p:spPr>
          <a:xfrm>
            <a:off x="628650" y="365125"/>
            <a:ext cx="6584400" cy="627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Tipos de Riscos</a:t>
            </a:r>
            <a:endParaRPr/>
          </a:p>
        </p:txBody>
      </p:sp>
      <p:sp>
        <p:nvSpPr>
          <p:cNvPr id="284" name="Google Shape;284;p45"/>
          <p:cNvSpPr txBox="1"/>
          <p:nvPr>
            <p:ph idx="1" type="body"/>
          </p:nvPr>
        </p:nvSpPr>
        <p:spPr>
          <a:xfrm>
            <a:off x="628650" y="1178100"/>
            <a:ext cx="7886700" cy="499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3600"/>
              <a:buChar char="●"/>
            </a:pPr>
            <a:r>
              <a:rPr lang="en-US" sz="3100"/>
              <a:t>Financeiros</a:t>
            </a:r>
            <a:endParaRPr sz="31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100"/>
              <a:t>Sociais</a:t>
            </a:r>
            <a:endParaRPr sz="31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100"/>
              <a:t>Psicológicos</a:t>
            </a:r>
            <a:endParaRPr sz="31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100"/>
              <a:t>Físicos</a:t>
            </a:r>
            <a:endParaRPr sz="3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"/>
          <p:cNvSpPr txBox="1"/>
          <p:nvPr>
            <p:ph type="title"/>
          </p:nvPr>
        </p:nvSpPr>
        <p:spPr>
          <a:xfrm>
            <a:off x="628650" y="365125"/>
            <a:ext cx="6584400" cy="627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Discutam que riscos existem para:</a:t>
            </a:r>
            <a:endParaRPr/>
          </a:p>
        </p:txBody>
      </p:sp>
      <p:sp>
        <p:nvSpPr>
          <p:cNvPr id="291" name="Google Shape;291;p46"/>
          <p:cNvSpPr txBox="1"/>
          <p:nvPr>
            <p:ph idx="1" type="body"/>
          </p:nvPr>
        </p:nvSpPr>
        <p:spPr>
          <a:xfrm>
            <a:off x="4732975" y="1600200"/>
            <a:ext cx="39537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Cirurgia plástica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Carros da China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 corte de cabelo ao lado</a:t>
            </a:r>
            <a:endParaRPr/>
          </a:p>
        </p:txBody>
      </p:sp>
      <p:pic>
        <p:nvPicPr>
          <p:cNvPr id="292" name="Google Shape;29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322" y="1556174"/>
            <a:ext cx="2399174" cy="3584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0148" y="3885100"/>
            <a:ext cx="3006751" cy="270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6938" y="1972225"/>
            <a:ext cx="2200275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7"/>
          <p:cNvSpPr txBox="1"/>
          <p:nvPr>
            <p:ph idx="4294967295" type="title"/>
          </p:nvPr>
        </p:nvSpPr>
        <p:spPr>
          <a:xfrm>
            <a:off x="685800" y="404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Texto Sheth &amp; Uslay 2007</a:t>
            </a:r>
            <a:endParaRPr/>
          </a:p>
        </p:txBody>
      </p:sp>
      <p:sp>
        <p:nvSpPr>
          <p:cNvPr id="300" name="Google Shape;300;p47"/>
          <p:cNvSpPr txBox="1"/>
          <p:nvPr>
            <p:ph idx="4294967295" type="body"/>
          </p:nvPr>
        </p:nvSpPr>
        <p:spPr>
          <a:xfrm>
            <a:off x="685800" y="1989137"/>
            <a:ext cx="7772400" cy="396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Dê um exemplo de co-criação de valor.</a:t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/>
              <a:t>2. Como as empresas criam valor para os clientes? Cite um exemplo e como a empresa conseguiu fazer isso.</a:t>
            </a:r>
            <a:endParaRPr sz="2000"/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/>
              <a:t>3. Como as diferentes definições de marketing da AMA mudaram ao longo dos anos, e por que vocês acham que isso aconteceu?</a:t>
            </a:r>
            <a:endParaRPr sz="2000"/>
          </a:p>
          <a:p>
            <a:pPr indent="-215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8"/>
          <p:cNvSpPr txBox="1"/>
          <p:nvPr/>
        </p:nvSpPr>
        <p:spPr>
          <a:xfrm>
            <a:off x="304800" y="1201737"/>
            <a:ext cx="3886200" cy="788987"/>
          </a:xfrm>
          <a:prstGeom prst="rect">
            <a:avLst/>
          </a:prstGeom>
          <a:gradFill>
            <a:gsLst>
              <a:gs pos="0">
                <a:srgbClr val="F95AB7"/>
              </a:gs>
              <a:gs pos="100000">
                <a:srgbClr val="AE3F8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Produção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8"/>
          <p:cNvSpPr txBox="1"/>
          <p:nvPr/>
        </p:nvSpPr>
        <p:spPr>
          <a:xfrm>
            <a:off x="304800" y="2371725"/>
            <a:ext cx="3886200" cy="730250"/>
          </a:xfrm>
          <a:prstGeom prst="rect">
            <a:avLst/>
          </a:prstGeom>
          <a:gradFill>
            <a:gsLst>
              <a:gs pos="0">
                <a:srgbClr val="00B7A5"/>
              </a:gs>
              <a:gs pos="100000">
                <a:srgbClr val="00A494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8"/>
          <p:cNvSpPr txBox="1"/>
          <p:nvPr/>
        </p:nvSpPr>
        <p:spPr>
          <a:xfrm>
            <a:off x="304800" y="3403600"/>
            <a:ext cx="3886200" cy="765175"/>
          </a:xfrm>
          <a:prstGeom prst="rect">
            <a:avLst/>
          </a:prstGeom>
          <a:gradFill>
            <a:gsLst>
              <a:gs pos="0">
                <a:srgbClr val="F6BF69"/>
              </a:gs>
              <a:gs pos="100000">
                <a:srgbClr val="DDAC5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8"/>
          <p:cNvSpPr txBox="1"/>
          <p:nvPr/>
        </p:nvSpPr>
        <p:spPr>
          <a:xfrm>
            <a:off x="304800" y="4505325"/>
            <a:ext cx="3886200" cy="762000"/>
          </a:xfrm>
          <a:prstGeom prst="rect">
            <a:avLst/>
          </a:prstGeom>
          <a:gradFill>
            <a:gsLst>
              <a:gs pos="0">
                <a:srgbClr val="D49FFF"/>
              </a:gs>
              <a:gs pos="100000">
                <a:srgbClr val="BE8FE5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8"/>
          <p:cNvSpPr txBox="1"/>
          <p:nvPr/>
        </p:nvSpPr>
        <p:spPr>
          <a:xfrm>
            <a:off x="4343400" y="1125537"/>
            <a:ext cx="4648200" cy="901700"/>
          </a:xfrm>
          <a:prstGeom prst="rect">
            <a:avLst/>
          </a:prstGeom>
          <a:solidFill>
            <a:srgbClr val="FFFF99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Consumidores preferem produtos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baratos e facilmente disponíveis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8"/>
          <p:cNvSpPr txBox="1"/>
          <p:nvPr/>
        </p:nvSpPr>
        <p:spPr>
          <a:xfrm>
            <a:off x="4343400" y="2268537"/>
            <a:ext cx="4648200" cy="928687"/>
          </a:xfrm>
          <a:prstGeom prst="rect">
            <a:avLst/>
          </a:prstGeom>
          <a:solidFill>
            <a:srgbClr val="FFFF99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635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 "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Consumidores preferem produtos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35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 "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inovadores e com melhor qualidade e desempenho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8"/>
          <p:cNvSpPr txBox="1"/>
          <p:nvPr/>
        </p:nvSpPr>
        <p:spPr>
          <a:xfrm>
            <a:off x="4343400" y="3335337"/>
            <a:ext cx="4648200" cy="928687"/>
          </a:xfrm>
          <a:prstGeom prst="rect">
            <a:avLst/>
          </a:prstGeom>
          <a:solidFill>
            <a:srgbClr val="FFFF99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Consumidores só compram produtos que a empresa vende/promove agressivamente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8"/>
          <p:cNvSpPr txBox="1"/>
          <p:nvPr/>
        </p:nvSpPr>
        <p:spPr>
          <a:xfrm>
            <a:off x="4343400" y="4440237"/>
            <a:ext cx="4648200" cy="922337"/>
          </a:xfrm>
          <a:prstGeom prst="rect">
            <a:avLst/>
          </a:prstGeom>
          <a:solidFill>
            <a:srgbClr val="FFFF99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Concentra-se nas necessidades/ desejos do mercado-alvo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 em fornecer  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8"/>
          <p:cNvSpPr txBox="1"/>
          <p:nvPr>
            <p:ph type="title"/>
          </p:nvPr>
        </p:nvSpPr>
        <p:spPr>
          <a:xfrm>
            <a:off x="457200" y="-269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Orientações da Adm Mkt</a:t>
            </a:r>
            <a:endParaRPr/>
          </a:p>
        </p:txBody>
      </p:sp>
      <p:sp>
        <p:nvSpPr>
          <p:cNvPr id="314" name="Google Shape;314;p48"/>
          <p:cNvSpPr txBox="1"/>
          <p:nvPr/>
        </p:nvSpPr>
        <p:spPr>
          <a:xfrm>
            <a:off x="322262" y="5675312"/>
            <a:ext cx="3886200" cy="762000"/>
          </a:xfrm>
          <a:prstGeom prst="rect">
            <a:avLst/>
          </a:prstGeom>
          <a:gradFill>
            <a:gsLst>
              <a:gs pos="0">
                <a:srgbClr val="D49FFF"/>
              </a:gs>
              <a:gs pos="100000">
                <a:srgbClr val="BE8FE5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Marketing Societal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8"/>
          <p:cNvSpPr txBox="1"/>
          <p:nvPr/>
        </p:nvSpPr>
        <p:spPr>
          <a:xfrm>
            <a:off x="4360862" y="5610225"/>
            <a:ext cx="4648200" cy="923925"/>
          </a:xfrm>
          <a:prstGeom prst="rect">
            <a:avLst/>
          </a:prstGeom>
          <a:solidFill>
            <a:srgbClr val="FFFF99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Concentra-se no valor compartilhado e no bem estar a longo prazo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9"/>
          <p:cNvSpPr txBox="1"/>
          <p:nvPr>
            <p:ph type="title"/>
          </p:nvPr>
        </p:nvSpPr>
        <p:spPr>
          <a:xfrm>
            <a:off x="685800" y="304800"/>
            <a:ext cx="7772400" cy="1143000"/>
          </a:xfrm>
          <a:prstGeom prst="rect">
            <a:avLst/>
          </a:prstGeom>
          <a:solidFill>
            <a:srgbClr val="FD0F09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Dimensões do Produto</a:t>
            </a:r>
            <a:endParaRPr/>
          </a:p>
        </p:txBody>
      </p:sp>
      <p:pic>
        <p:nvPicPr>
          <p:cNvPr id="321" name="Google Shape;32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3300" y="1546225"/>
            <a:ext cx="7454900" cy="46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9"/>
          <p:cNvSpPr txBox="1"/>
          <p:nvPr/>
        </p:nvSpPr>
        <p:spPr>
          <a:xfrm>
            <a:off x="7000875" y="3981450"/>
            <a:ext cx="1196975" cy="5857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9"/>
          <p:cNvSpPr txBox="1"/>
          <p:nvPr/>
        </p:nvSpPr>
        <p:spPr>
          <a:xfrm>
            <a:off x="6659562" y="5507037"/>
            <a:ext cx="2030412" cy="8953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Básico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(benefício central)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558925"/>
            <a:ext cx="6324600" cy="3786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://www.designbrasil.org.br/wp-content/uploads/2013/12/Embalagem-Natura-SOU.jpg" id="333" name="Google Shape;33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450" y="552450"/>
            <a:ext cx="6021387" cy="424497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51"/>
          <p:cNvSpPr txBox="1"/>
          <p:nvPr/>
        </p:nvSpPr>
        <p:spPr>
          <a:xfrm>
            <a:off x="1042987" y="5157787"/>
            <a:ext cx="6481762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https://www.youtube.com/watch?v=2r9sfJMkkgg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https://www.youtube.com/watch?v=q9s6B00W5uQ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987550"/>
            <a:ext cx="8077200" cy="2681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3"/>
          <p:cNvSpPr txBox="1"/>
          <p:nvPr>
            <p:ph type="title"/>
          </p:nvPr>
        </p:nvSpPr>
        <p:spPr>
          <a:xfrm>
            <a:off x="628650" y="365125"/>
            <a:ext cx="65844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Dimensões de Hofstede</a:t>
            </a:r>
            <a:endParaRPr/>
          </a:p>
        </p:txBody>
      </p:sp>
      <p:sp>
        <p:nvSpPr>
          <p:cNvPr id="345" name="Google Shape;345;p53"/>
          <p:cNvSpPr txBox="1"/>
          <p:nvPr>
            <p:ph idx="1" type="body"/>
          </p:nvPr>
        </p:nvSpPr>
        <p:spPr>
          <a:xfrm>
            <a:off x="628650" y="1178100"/>
            <a:ext cx="7886700" cy="49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346" name="Google Shape;34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023" y="2091529"/>
            <a:ext cx="7716011" cy="3543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4"/>
          <p:cNvSpPr txBox="1"/>
          <p:nvPr>
            <p:ph type="title"/>
          </p:nvPr>
        </p:nvSpPr>
        <p:spPr>
          <a:xfrm>
            <a:off x="628650" y="365125"/>
            <a:ext cx="6584400" cy="627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Brasil X México</a:t>
            </a:r>
            <a:endParaRPr/>
          </a:p>
        </p:txBody>
      </p:sp>
      <p:sp>
        <p:nvSpPr>
          <p:cNvPr id="353" name="Google Shape;353;p54"/>
          <p:cNvSpPr txBox="1"/>
          <p:nvPr>
            <p:ph idx="1" type="body"/>
          </p:nvPr>
        </p:nvSpPr>
        <p:spPr>
          <a:xfrm>
            <a:off x="628650" y="1178100"/>
            <a:ext cx="7886700" cy="499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Brasil Azul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México Roxo</a:t>
            </a:r>
            <a:endParaRPr/>
          </a:p>
        </p:txBody>
      </p:sp>
      <p:pic>
        <p:nvPicPr>
          <p:cNvPr id="354" name="Google Shape;35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0175" y="2553550"/>
            <a:ext cx="6496050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5"/>
          <p:cNvSpPr txBox="1"/>
          <p:nvPr>
            <p:ph type="title"/>
          </p:nvPr>
        </p:nvSpPr>
        <p:spPr>
          <a:xfrm>
            <a:off x="628650" y="365125"/>
            <a:ext cx="6584400" cy="627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55"/>
          <p:cNvSpPr txBox="1"/>
          <p:nvPr>
            <p:ph idx="1" type="body"/>
          </p:nvPr>
        </p:nvSpPr>
        <p:spPr>
          <a:xfrm>
            <a:off x="628650" y="1178100"/>
            <a:ext cx="7886700" cy="499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2" name="Google Shape;36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975" y="2119313"/>
            <a:ext cx="6496050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Exercício em grupo (15 min)</a:t>
            </a:r>
            <a:endParaRPr/>
          </a:p>
        </p:txBody>
      </p:sp>
      <p:sp>
        <p:nvSpPr>
          <p:cNvPr id="368" name="Google Shape;368;p5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81318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44444"/>
              <a:buFont typeface="Arial"/>
              <a:buChar char="•"/>
            </a:pPr>
            <a:r>
              <a:rPr lang="en-US" sz="1800"/>
              <a:t>Compare com o Brasil (9º PIB do mundo) os seguintes países (1 por grupo/ grupos de 4-5 alunos):</a:t>
            </a:r>
            <a:endParaRPr sz="2600"/>
          </a:p>
          <a:p>
            <a:pPr indent="-357823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2222"/>
              <a:buChar char="–"/>
            </a:pPr>
            <a:r>
              <a:rPr lang="en-US" sz="1800"/>
              <a:t>China (2º)</a:t>
            </a:r>
            <a:endParaRPr sz="2200"/>
          </a:p>
          <a:p>
            <a:pPr indent="-357823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2222"/>
              <a:buChar char="–"/>
            </a:pPr>
            <a:r>
              <a:rPr lang="en-US" sz="1800"/>
              <a:t>Alemanha (4º)</a:t>
            </a:r>
            <a:endParaRPr sz="2200"/>
          </a:p>
          <a:p>
            <a:pPr indent="-357823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2222"/>
              <a:buChar char="–"/>
            </a:pPr>
            <a:r>
              <a:rPr lang="en-US" sz="1800"/>
              <a:t>Nigéria (24º)</a:t>
            </a:r>
            <a:endParaRPr sz="2200"/>
          </a:p>
          <a:p>
            <a:pPr indent="-357823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2222"/>
              <a:buChar char="–"/>
            </a:pPr>
            <a:r>
              <a:rPr lang="en-US" sz="1800"/>
              <a:t>Indonésia (16º)</a:t>
            </a:r>
            <a:endParaRPr sz="2200"/>
          </a:p>
          <a:p>
            <a:pPr indent="-357823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2222"/>
              <a:buChar char="–"/>
            </a:pPr>
            <a:r>
              <a:rPr lang="en-US" sz="1800"/>
              <a:t>Arábia Saudita (20º)</a:t>
            </a:r>
            <a:endParaRPr sz="2200"/>
          </a:p>
          <a:p>
            <a:pPr indent="-357823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2222"/>
              <a:buChar char="–"/>
            </a:pPr>
            <a:r>
              <a:rPr lang="en-US" sz="1800"/>
              <a:t>Índia (7º)</a:t>
            </a:r>
            <a:endParaRPr sz="2200"/>
          </a:p>
          <a:p>
            <a:pPr indent="-357823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2222"/>
              <a:buChar char="–"/>
            </a:pPr>
            <a:r>
              <a:rPr lang="en-US" sz="1800"/>
              <a:t>Libya (90º)</a:t>
            </a:r>
            <a:endParaRPr sz="2200"/>
          </a:p>
          <a:p>
            <a:pPr indent="-357823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2222"/>
              <a:buChar char="–"/>
            </a:pPr>
            <a:r>
              <a:rPr lang="en-US" sz="1800"/>
              <a:t>República Dominicana (70º)</a:t>
            </a:r>
            <a:endParaRPr sz="2200"/>
          </a:p>
          <a:p>
            <a:pPr indent="-357823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2222"/>
              <a:buChar char="–"/>
            </a:pPr>
            <a:r>
              <a:rPr lang="en-US" sz="1800"/>
              <a:t>Croácia (82º)</a:t>
            </a:r>
            <a:endParaRPr sz="1800"/>
          </a:p>
          <a:p>
            <a:pPr indent="-2286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33333"/>
              <a:buNone/>
            </a:pPr>
            <a:r>
              <a:t/>
            </a:r>
            <a:endParaRPr sz="1800"/>
          </a:p>
          <a:p>
            <a:pPr indent="-2286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33333"/>
              <a:buNone/>
            </a:pPr>
            <a:r>
              <a:t/>
            </a:r>
            <a:endParaRPr sz="1800"/>
          </a:p>
        </p:txBody>
      </p:sp>
      <p:sp>
        <p:nvSpPr>
          <p:cNvPr id="369" name="Google Shape;369;p5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Acesse a URL:</a:t>
            </a:r>
            <a:endParaRPr/>
          </a:p>
          <a:p>
            <a: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https://www.hofstede-insights.com/country-comparison/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7"/>
          <p:cNvSpPr txBox="1"/>
          <p:nvPr>
            <p:ph type="title"/>
          </p:nvPr>
        </p:nvSpPr>
        <p:spPr>
          <a:xfrm>
            <a:off x="628650" y="365125"/>
            <a:ext cx="6584400" cy="627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Mapa de empatia: usar máscara</a:t>
            </a:r>
            <a:endParaRPr/>
          </a:p>
        </p:txBody>
      </p:sp>
      <p:sp>
        <p:nvSpPr>
          <p:cNvPr id="376" name="Google Shape;376;p57"/>
          <p:cNvSpPr txBox="1"/>
          <p:nvPr>
            <p:ph idx="1" type="body"/>
          </p:nvPr>
        </p:nvSpPr>
        <p:spPr>
          <a:xfrm>
            <a:off x="628650" y="1178100"/>
            <a:ext cx="7886700" cy="499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  </a:t>
            </a:r>
            <a:endParaRPr/>
          </a:p>
        </p:txBody>
      </p:sp>
      <p:pic>
        <p:nvPicPr>
          <p:cNvPr id="377" name="Google Shape;37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5000" y="1805850"/>
            <a:ext cx="59055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