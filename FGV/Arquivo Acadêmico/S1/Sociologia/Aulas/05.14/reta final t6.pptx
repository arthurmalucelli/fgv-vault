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81" r:id="rId3"/>
    <p:sldId id="305" r:id="rId4"/>
    <p:sldId id="303" r:id="rId5"/>
    <p:sldId id="259" r:id="rId6"/>
    <p:sldId id="304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59F"/>
    <a:srgbClr val="E6A93E"/>
    <a:srgbClr val="DFC6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B84F0-CFEA-EEE1-7C73-AAD0B0095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6839B-31E9-3922-FAC7-F499F15CB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C59325-84DF-EDA1-E510-7CB884FB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2E039-E701-9027-D994-839BD514C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D22CCB-54AA-B5DF-87B6-E33A308F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01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FF3B1-39E9-C973-5D24-04094991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CED614-88BB-A4B0-4A03-E249EE849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32E63E-307B-8923-9F25-B75B99296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26F8E-E769-F059-2F8C-CAF4D56D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1F04CF-3F48-43F6-ED3B-326629E1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4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B6C24-CDFC-6918-765C-5E39ED29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2929A4-007A-25A0-6381-87E24E435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7DA510-E6A4-2623-A0F7-C68BFE50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878423-7FD2-1DB3-181F-9A0EEBC1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2DBC54-C303-C33A-660A-FFAE0118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69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7D65A-24D0-86B7-4A22-64ED3689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AF5C45-1B5A-CC3B-6F94-1738DFE40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D01D55-4D43-1ADF-F101-F47CFFCED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D57CB3-CF6E-1E61-FD22-413826CA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7E16E2-3D0C-15E8-1D16-D9078CAF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EFA3C1-B414-5AA5-97F8-F4241430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448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4318E-4ABC-718C-3421-81BAF2AE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64FCDE-4769-B6BC-6F93-E413199FE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F0E42F-4DFE-EA6C-DD28-3AF77BEE5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D64072-BBC1-81B3-0F24-BED33C83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6D3440-2664-4A57-BA9E-EB7968B08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F586C7-C16E-343C-3B70-EEDF1D8C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DFC864D-7679-FB29-587F-BF9FF3F6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4B9BFD-82D0-C053-CFD4-68ACB710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31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58DF0-7B3F-552B-C5C8-DBAF1160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6667D8-68F8-1618-AE5A-1A6FED605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BFF593-9E82-3331-F5DD-C7510654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244166-87A4-38C7-5D73-222A34B5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24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FF3499-EA36-0C51-B3B5-999B1120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D75375-8E8C-9A0C-9C13-EE910EAF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3DCCD7-4A68-FFD6-6196-09151C05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01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B5D75-9627-D01C-5BBB-07E5A260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C188FC-31DC-62FC-4061-C9B6C8E9F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C06B9B-6B3E-4189-F4ED-C3B0CBCD1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DA04D7-EE3E-2AB7-56C9-BC90097B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19B0E5-5CF5-BB8E-CB70-B27A4FE0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41B164-A381-B44F-DC2A-51540913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49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ED71E-B253-2BCD-B754-BF00FE8B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5766CD-591F-2A7F-1FBE-E1AE3259D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7F2D0F-0F77-B831-D6C2-4EFB154C5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8C2C36-B9C9-76FE-FDED-3010DFA8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E949E-39C5-1E9D-B70B-59711040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881CFB-26EB-12E9-93EF-99F55E36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75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AC44D-3B9E-4D33-2FE3-44779068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D3BBA7-B591-AB86-9774-4587B1431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4DF5D3-4198-176A-9E7E-A375B9DE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3306BF-CD88-0DB5-6AC7-17F37204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AB68B-70AD-1AA1-C0CD-0568A393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62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FF730D-E7DE-6974-502E-0E1544971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6EF20A-9E06-7F32-D766-988A035EF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72A0C4-E5AB-4957-AB40-1299A02C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A223B-7D24-0A98-CDC3-CAE33FBC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2651E6-DE31-400B-8A86-33B3B209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22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990F6B-8823-D730-38CF-BFAE3507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32689D-0039-C228-6295-7B92568E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07767D-F27F-7FA3-6013-2941F6EC6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D6778-C3BB-43DD-92CC-29B4C60431CA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92DA6A-4D84-062D-5683-0F1F46EF6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B45089-BCEC-BFA4-0AE1-2E0BF83D6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0AD3-0F35-4874-A36B-4AC8F80065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14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87D13-5CA7-44F6-8677-CFD5ABBF5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84" y="164166"/>
            <a:ext cx="10460030" cy="1218947"/>
          </a:xfrm>
        </p:spPr>
        <p:txBody>
          <a:bodyPr>
            <a:noAutofit/>
          </a:bodyPr>
          <a:lstStyle/>
          <a:p>
            <a:pPr algn="ctr"/>
            <a:r>
              <a:rPr lang="pt-BR" sz="5700" b="1" dirty="0"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Reta final</a:t>
            </a:r>
          </a:p>
        </p:txBody>
      </p:sp>
      <p:pic>
        <p:nvPicPr>
          <p:cNvPr id="1026" name="Picture 2" descr="Conheça William Turner, que pintou a brevidade da vida - 01/12/2022 -  Ilustrada - Folha">
            <a:extLst>
              <a:ext uri="{FF2B5EF4-FFF2-40B4-BE49-F238E27FC236}">
                <a16:creationId xmlns:a16="http://schemas.microsoft.com/office/drawing/2014/main" id="{531A130F-BDAB-4848-1180-6DFAD1ED2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762" y="1392638"/>
            <a:ext cx="6848475" cy="513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72759D-7263-D19B-44C6-915E634135C9}"/>
              </a:ext>
            </a:extLst>
          </p:cNvPr>
          <p:cNvSpPr txBox="1"/>
          <p:nvPr/>
        </p:nvSpPr>
        <p:spPr>
          <a:xfrm rot="5400000">
            <a:off x="1504712" y="5361944"/>
            <a:ext cx="2071138" cy="262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i="1" dirty="0" err="1">
                <a:solidFill>
                  <a:srgbClr val="E6A93E"/>
                </a:solidFill>
              </a:rPr>
              <a:t>Snow</a:t>
            </a:r>
            <a:r>
              <a:rPr lang="pt-BR" sz="1050" i="1" dirty="0">
                <a:solidFill>
                  <a:srgbClr val="E6A93E"/>
                </a:solidFill>
              </a:rPr>
              <a:t> </a:t>
            </a:r>
            <a:r>
              <a:rPr lang="pt-BR" sz="1050" i="1" dirty="0" err="1">
                <a:solidFill>
                  <a:srgbClr val="E6A93E"/>
                </a:solidFill>
              </a:rPr>
              <a:t>storm</a:t>
            </a:r>
            <a:r>
              <a:rPr lang="pt-BR" sz="1050" dirty="0">
                <a:solidFill>
                  <a:srgbClr val="E6A93E"/>
                </a:solidFill>
              </a:rPr>
              <a:t>. William Turner, 1842</a:t>
            </a:r>
          </a:p>
        </p:txBody>
      </p:sp>
    </p:spTree>
    <p:extLst>
      <p:ext uri="{BB962C8B-B14F-4D97-AF65-F5344CB8AC3E}">
        <p14:creationId xmlns:p14="http://schemas.microsoft.com/office/powerpoint/2010/main" val="247742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6E36E-794D-41B3-8C15-3E37BAAA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552253"/>
            <a:ext cx="10515600" cy="765406"/>
          </a:xfrm>
        </p:spPr>
        <p:txBody>
          <a:bodyPr>
            <a:noAutofit/>
          </a:bodyPr>
          <a:lstStyle/>
          <a:p>
            <a:pPr algn="ctr"/>
            <a:r>
              <a:rPr lang="pt-BR" sz="5000" b="1" dirty="0"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Procedimentos em sala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4C6068-3A65-F829-59AB-7CCBA534663E}"/>
              </a:ext>
            </a:extLst>
          </p:cNvPr>
          <p:cNvSpPr txBox="1"/>
          <p:nvPr/>
        </p:nvSpPr>
        <p:spPr>
          <a:xfrm>
            <a:off x="1903375" y="1565412"/>
            <a:ext cx="8385243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 indent="-252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Não é permitido o uso de qualquer </a:t>
            </a:r>
            <a:r>
              <a:rPr lang="pt-BR" sz="2800" spc="-25" dirty="0">
                <a:solidFill>
                  <a:srgbClr val="F3D59F"/>
                </a:solidFill>
                <a:ea typeface="Times New Roman" panose="02020603050405020304" pitchFamily="18" charset="0"/>
              </a:rPr>
              <a:t>aparelho eletrônico</a:t>
            </a: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;</a:t>
            </a:r>
          </a:p>
          <a:p>
            <a:pPr marL="252000" indent="-252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Todos os objetos que não os necessários para a aula devem ser guardados em suas </a:t>
            </a:r>
            <a:r>
              <a:rPr lang="pt-BR" sz="2800" spc="-25" dirty="0">
                <a:solidFill>
                  <a:srgbClr val="F3D59F"/>
                </a:solidFill>
                <a:ea typeface="Times New Roman" panose="02020603050405020304" pitchFamily="18" charset="0"/>
              </a:rPr>
              <a:t>respectivas bolsas </a:t>
            </a: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e estas devem ser colocadas nas </a:t>
            </a:r>
            <a:r>
              <a:rPr lang="pt-BR" sz="2800" spc="-25" dirty="0">
                <a:solidFill>
                  <a:srgbClr val="F3D59F"/>
                </a:solidFill>
                <a:ea typeface="Times New Roman" panose="02020603050405020304" pitchFamily="18" charset="0"/>
              </a:rPr>
              <a:t>laterais da sala</a:t>
            </a: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;</a:t>
            </a:r>
          </a:p>
          <a:p>
            <a:pPr marL="252000" indent="-252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A tolerância para atrasos é de </a:t>
            </a:r>
            <a:r>
              <a:rPr lang="pt-BR" sz="2800" spc="-25" dirty="0">
                <a:solidFill>
                  <a:srgbClr val="F3D59F"/>
                </a:solidFill>
                <a:ea typeface="Times New Roman" panose="02020603050405020304" pitchFamily="18" charset="0"/>
              </a:rPr>
              <a:t>10 min</a:t>
            </a: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;</a:t>
            </a:r>
          </a:p>
          <a:p>
            <a:pPr marL="252000" indent="-252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Não é permitida a </a:t>
            </a:r>
            <a:r>
              <a:rPr lang="pt-BR" sz="2800" spc="-25" dirty="0">
                <a:solidFill>
                  <a:srgbClr val="F3D59F"/>
                </a:solidFill>
                <a:ea typeface="Times New Roman" panose="02020603050405020304" pitchFamily="18" charset="0"/>
              </a:rPr>
              <a:t>saída</a:t>
            </a: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 da sala durante a aula, portanto, </a:t>
            </a:r>
            <a:r>
              <a:rPr lang="pt-BR" sz="2800" spc="-25" dirty="0">
                <a:solidFill>
                  <a:srgbClr val="F3D59F"/>
                </a:solidFill>
                <a:ea typeface="Times New Roman" panose="02020603050405020304" pitchFamily="18" charset="0"/>
              </a:rPr>
              <a:t>ORGANIZEM-SE</a:t>
            </a:r>
            <a:r>
              <a:rPr lang="pt-BR" sz="2800" spc="-25" dirty="0">
                <a:solidFill>
                  <a:srgbClr val="E6A93E"/>
                </a:solidFill>
                <a:ea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71016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0046886-6660-3A11-BF50-387B03026C86}"/>
              </a:ext>
            </a:extLst>
          </p:cNvPr>
          <p:cNvSpPr txBox="1"/>
          <p:nvPr/>
        </p:nvSpPr>
        <p:spPr>
          <a:xfrm rot="20463804">
            <a:off x="606795" y="3320028"/>
            <a:ext cx="3746554" cy="2719014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OBJETO?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Documento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Documentário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Discurso falado ou escrito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Evento / notícia (fonte decente)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Conjunto de dados (fonte decente)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06AEB-7A4B-45E5-B742-ED361C30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93328"/>
            <a:ext cx="2893663" cy="1123950"/>
          </a:xfrm>
        </p:spPr>
        <p:txBody>
          <a:bodyPr>
            <a:noAutofit/>
          </a:bodyPr>
          <a:lstStyle/>
          <a:p>
            <a:pPr algn="ctr"/>
            <a:r>
              <a:rPr lang="pt-BR" sz="3600" b="1" dirty="0">
                <a:ln>
                  <a:solidFill>
                    <a:schemeClr val="tx1"/>
                  </a:solidFill>
                </a:ln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Instruções</a:t>
            </a:r>
            <a:br>
              <a:rPr lang="pt-BR" sz="3600" b="1" dirty="0">
                <a:ln>
                  <a:solidFill>
                    <a:schemeClr val="tx1"/>
                  </a:solidFill>
                </a:ln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</a:br>
            <a:r>
              <a:rPr lang="pt-BR" sz="3600" b="1" dirty="0">
                <a:ln>
                  <a:solidFill>
                    <a:schemeClr val="tx1"/>
                  </a:solidFill>
                </a:ln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para as pesquisas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2CC593-F50A-C424-85B5-F2B6FE4CF270}"/>
              </a:ext>
            </a:extLst>
          </p:cNvPr>
          <p:cNvSpPr txBox="1"/>
          <p:nvPr/>
        </p:nvSpPr>
        <p:spPr>
          <a:xfrm rot="595064">
            <a:off x="2783578" y="860756"/>
            <a:ext cx="7049040" cy="4135940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kumimoji="0" lang="pt-BR" sz="2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PROJETO</a:t>
            </a:r>
            <a:endParaRPr kumimoji="0" lang="pt-BR" sz="2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TEMA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selecionado (entre os vistos no curso);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OBJETO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ser analisado;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QUESTÃO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ser desenvolvida a partir do tema e objeto selecionados;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BIBLIOGRAFIA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pt-B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OBRIGATÓRIA: 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textos exigidos no curso, lidos INTEGRALMENTE, como disponibilizados no </a:t>
            </a:r>
            <a:r>
              <a:rPr kumimoji="0" lang="pt-BR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eclass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BIBLIOGRAFIA COMPLEMENTAR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não obrigatória, qualquer texto que possa ampliar a compreensão do objeto de análise;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projeto deve ter, no máximo, 2 </a:t>
            </a:r>
            <a:r>
              <a:rPr kumimoji="0" lang="pt-BR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pgs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ser enviado via eclass.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800" b="1" i="0" u="none" strike="noStrike" kern="100" cap="none" spc="0" normalizeH="0" baseline="0" noProof="0" dirty="0">
              <a:ln>
                <a:noFill/>
              </a:ln>
              <a:solidFill>
                <a:srgbClr val="216B0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90AB6B-A5BE-1B14-E5D6-44E7574AA1EE}"/>
              </a:ext>
            </a:extLst>
          </p:cNvPr>
          <p:cNvSpPr txBox="1"/>
          <p:nvPr/>
        </p:nvSpPr>
        <p:spPr>
          <a:xfrm rot="21265651">
            <a:off x="6770741" y="4980350"/>
            <a:ext cx="5227922" cy="1472519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RELATÓRIO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Texto que deve conter os resultados da pesquisa;</a:t>
            </a:r>
          </a:p>
          <a:p>
            <a:pPr marL="25200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 ter, no máximo, 3 </a:t>
            </a:r>
            <a:r>
              <a:rPr kumimoji="0" lang="pt-BR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pgs</a:t>
            </a: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ser enviado via eclass.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BEEEB7-8F73-919C-786A-1CA75DAB4201}"/>
              </a:ext>
            </a:extLst>
          </p:cNvPr>
          <p:cNvSpPr txBox="1"/>
          <p:nvPr/>
        </p:nvSpPr>
        <p:spPr>
          <a:xfrm rot="155538">
            <a:off x="7740553" y="232852"/>
            <a:ext cx="3505376" cy="2349682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kumimoji="0" lang="pt-BR" sz="2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ORIENTAÇÃO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Conversa dos grupos com profa. a respeito do projeto apresentado;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Presença obrigatória de todos os integrantes.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57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06AEB-7A4B-45E5-B742-ED361C30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525" y="197807"/>
            <a:ext cx="9124950" cy="1123950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>
                <a:ln>
                  <a:solidFill>
                    <a:schemeClr val="tx1"/>
                  </a:solidFill>
                </a:ln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Instruções para as pesquisas</a:t>
            </a:r>
            <a:endParaRPr lang="pt-BR" sz="48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2CC593-F50A-C424-85B5-F2B6FE4CF270}"/>
              </a:ext>
            </a:extLst>
          </p:cNvPr>
          <p:cNvSpPr txBox="1"/>
          <p:nvPr/>
        </p:nvSpPr>
        <p:spPr>
          <a:xfrm>
            <a:off x="427572" y="1716080"/>
            <a:ext cx="5338789" cy="4795031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108000" algn="ctr">
              <a:lnSpc>
                <a:spcPct val="150000"/>
              </a:lnSpc>
            </a:pPr>
            <a:r>
              <a:rPr lang="pt-BR" sz="3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ORGANIZAÇÃO DOS GRUPOS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a 6 pessoas: </a:t>
            </a:r>
            <a:r>
              <a:rPr lang="pt-BR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INEGOCIÁVEL E INALTERÁVEL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Organizem-se para a divisão:</a:t>
            </a:r>
          </a:p>
          <a:p>
            <a:pPr marL="0" lvl="1">
              <a:lnSpc>
                <a:spcPct val="150000"/>
              </a:lnSpc>
            </a:pPr>
            <a:r>
              <a:rPr lang="pt-BR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pt-BR" sz="2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TURMA A </a:t>
            </a:r>
          </a:p>
          <a:p>
            <a:pPr marL="0" lvl="1">
              <a:lnSpc>
                <a:spcPct val="150000"/>
              </a:lnSpc>
            </a:pPr>
            <a:r>
              <a:rPr lang="pt-BR" sz="2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TURMA B</a:t>
            </a:r>
          </a:p>
          <a:p>
            <a:pPr marL="180000" lvl="1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Representante da turma: favor enviar uma lista com os grupos, os nomes completos de seus integrantes e as turmas das quais fazem parte para silvia.rodrigues@fgv.br</a:t>
            </a:r>
            <a:endParaRPr lang="pt-BR" sz="2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14A171-546D-EEC7-C99B-E88529B39E08}"/>
              </a:ext>
            </a:extLst>
          </p:cNvPr>
          <p:cNvSpPr txBox="1"/>
          <p:nvPr/>
        </p:nvSpPr>
        <p:spPr>
          <a:xfrm rot="19653194">
            <a:off x="5125560" y="1837531"/>
            <a:ext cx="5214342" cy="2211183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pt-BR" sz="3000" b="1" dirty="0"/>
              <a:t>AVALIAÇÃO FINAL</a:t>
            </a:r>
          </a:p>
          <a:p>
            <a:pPr marL="0" indent="0" algn="ctr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None/>
            </a:pPr>
            <a:endParaRPr lang="pt-BR" sz="1000" b="1" dirty="0"/>
          </a:p>
          <a:p>
            <a:pPr marL="180000" indent="-1800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PROJETO</a:t>
            </a:r>
            <a:r>
              <a:rPr lang="pt-BR" sz="2000" dirty="0"/>
              <a:t>: 2 pontos</a:t>
            </a:r>
          </a:p>
          <a:p>
            <a:pPr marL="180000" indent="-1800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ORIENTAÇÃO</a:t>
            </a:r>
            <a:r>
              <a:rPr lang="pt-BR" sz="2000" dirty="0"/>
              <a:t>: 2 pontos</a:t>
            </a:r>
            <a:endParaRPr lang="pt-BR" sz="2000" b="1" dirty="0"/>
          </a:p>
          <a:p>
            <a:pPr marL="180000" indent="-1800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RELATÓRIO</a:t>
            </a:r>
            <a:r>
              <a:rPr lang="pt-BR" sz="2000" dirty="0"/>
              <a:t>: 6 pontos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FBA472-6F95-3CBF-227A-1F1A3E3A93B4}"/>
              </a:ext>
            </a:extLst>
          </p:cNvPr>
          <p:cNvSpPr txBox="1"/>
          <p:nvPr/>
        </p:nvSpPr>
        <p:spPr>
          <a:xfrm>
            <a:off x="8572501" y="2181773"/>
            <a:ext cx="2933700" cy="3750066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pt-BR" sz="3000" b="1" dirty="0"/>
              <a:t>    ATENÇÃO</a:t>
            </a:r>
          </a:p>
          <a:p>
            <a:pPr marL="0" indent="0" algn="ctr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None/>
            </a:pPr>
            <a:endParaRPr lang="pt-BR" sz="1000" b="1" dirty="0"/>
          </a:p>
          <a:p>
            <a:pPr marL="180000" indent="-1800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Para esta pesquisa não serão aceitas quaisquer formas de uso de I.A. </a:t>
            </a:r>
          </a:p>
          <a:p>
            <a:pPr marL="180000" indent="-1800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Quaisquer formas de fraude resultarão na reprovação do aluno ou do grupo.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Gráfico 5" descr="Aviso">
            <a:extLst>
              <a:ext uri="{FF2B5EF4-FFF2-40B4-BE49-F238E27FC236}">
                <a16:creationId xmlns:a16="http://schemas.microsoft.com/office/drawing/2014/main" id="{6DF51B17-C3E7-EBA6-1F49-78EF5DAF2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5992" y="2363796"/>
            <a:ext cx="579326" cy="57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64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9F022-A302-4A33-AB94-2DA72CF4F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64" y="2168439"/>
            <a:ext cx="5039527" cy="4056192"/>
          </a:xfr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Clr>
                <a:schemeClr val="accent2"/>
              </a:buClr>
              <a:buNone/>
            </a:pPr>
            <a:r>
              <a:rPr lang="pt-BR" sz="2400" b="1" dirty="0"/>
              <a:t>SUBS</a:t>
            </a:r>
          </a:p>
          <a:p>
            <a:pPr>
              <a:lnSpc>
                <a:spcPts val="3000"/>
              </a:lnSpc>
            </a:pPr>
            <a:r>
              <a:rPr lang="pt-BR" sz="2000" dirty="0"/>
              <a:t>Apenas para os casos de guarda religiosa e encavalamento com atividade oficial da FGV;</a:t>
            </a:r>
          </a:p>
          <a:p>
            <a:pPr>
              <a:lnSpc>
                <a:spcPts val="3000"/>
              </a:lnSpc>
            </a:pPr>
            <a:r>
              <a:rPr lang="pt-BR" sz="2000" dirty="0"/>
              <a:t>Uma atividade por aluno.</a:t>
            </a:r>
          </a:p>
          <a:p>
            <a:pPr marL="0" indent="0">
              <a:lnSpc>
                <a:spcPts val="3000"/>
              </a:lnSpc>
              <a:buNone/>
            </a:pPr>
            <a:r>
              <a:rPr lang="pt-BR" sz="2000" b="1" dirty="0"/>
              <a:t>         O ALUNO DEVE: </a:t>
            </a:r>
          </a:p>
          <a:p>
            <a:pPr lvl="1">
              <a:lnSpc>
                <a:spcPts val="3000"/>
              </a:lnSpc>
            </a:pPr>
            <a:r>
              <a:rPr lang="pt-BR" sz="2000" dirty="0"/>
              <a:t>Fazer a requisição via e-mail;</a:t>
            </a:r>
          </a:p>
          <a:p>
            <a:pPr lvl="1">
              <a:lnSpc>
                <a:spcPts val="3000"/>
              </a:lnSpc>
            </a:pPr>
            <a:r>
              <a:rPr lang="pt-BR" sz="2000" dirty="0"/>
              <a:t>Ser pontual;</a:t>
            </a:r>
          </a:p>
          <a:p>
            <a:pPr lvl="1">
              <a:lnSpc>
                <a:spcPts val="3000"/>
              </a:lnSpc>
            </a:pPr>
            <a:r>
              <a:rPr lang="pt-BR" sz="2000" dirty="0"/>
              <a:t>Informar a atividade a ser realizada.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1DC9C8-E6B8-8EEA-2144-92B87D7AEFBA}"/>
              </a:ext>
            </a:extLst>
          </p:cNvPr>
          <p:cNvSpPr txBox="1"/>
          <p:nvPr/>
        </p:nvSpPr>
        <p:spPr>
          <a:xfrm>
            <a:off x="6271642" y="229951"/>
            <a:ext cx="5603984" cy="6398098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Clr>
                <a:schemeClr val="accent2"/>
              </a:buClr>
              <a:buNone/>
            </a:pPr>
            <a:r>
              <a:rPr lang="pt-BR" sz="2400" b="1" dirty="0"/>
              <a:t>FEEDBACK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Os feedback do 2º módulo bem como da avaliação final serão realizados via e-mail;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Caso queiram receber o feedback, enviem e-mail para </a:t>
            </a:r>
            <a:r>
              <a:rPr lang="pt-BR" sz="2000" b="1" dirty="0"/>
              <a:t>silvia.rodrigues@fgv.br </a:t>
            </a:r>
            <a:r>
              <a:rPr lang="pt-BR" sz="2000" dirty="0"/>
              <a:t>contendo nome completo, turma e a requisição específica;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Atentem para os dias reservados para os feedback, pedidos fora do prazo não serão atendidos;</a:t>
            </a:r>
          </a:p>
          <a:p>
            <a:pPr marL="1800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Não há prazo para as respostas pois essas dependem da quantidade de pedidos; </a:t>
            </a:r>
          </a:p>
          <a:p>
            <a:pPr algn="ctr">
              <a:lnSpc>
                <a:spcPct val="150000"/>
              </a:lnSpc>
            </a:pPr>
            <a:r>
              <a:rPr lang="pt-BR" sz="2000" dirty="0"/>
              <a:t> </a:t>
            </a:r>
            <a:r>
              <a:rPr lang="pt-BR" sz="2200" b="1" dirty="0"/>
              <a:t>ATENÇÃO </a:t>
            </a:r>
          </a:p>
          <a:p>
            <a:pPr algn="ctr">
              <a:lnSpc>
                <a:spcPct val="150000"/>
              </a:lnSpc>
            </a:pPr>
            <a:r>
              <a:rPr lang="pt-BR" sz="2000" dirty="0"/>
              <a:t>O feedback é atividade didática, não comercial; notas podem ter acréscimo ou decréscimo.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endParaRPr lang="pt-BR" sz="8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75E4417-5BA0-C338-A3E2-EAF7A37C2BDB}"/>
              </a:ext>
            </a:extLst>
          </p:cNvPr>
          <p:cNvSpPr txBox="1"/>
          <p:nvPr/>
        </p:nvSpPr>
        <p:spPr>
          <a:xfrm>
            <a:off x="3812502" y="633369"/>
            <a:ext cx="2197654" cy="2058449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Clr>
                <a:schemeClr val="accent2"/>
              </a:buClr>
              <a:buNone/>
            </a:pPr>
            <a:r>
              <a:rPr lang="pt-BR" sz="2400" b="1" dirty="0"/>
              <a:t>MÉDIA FINAL</a:t>
            </a:r>
          </a:p>
          <a:p>
            <a:pPr marL="3429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individuais: 40%</a:t>
            </a:r>
          </a:p>
          <a:p>
            <a:pPr marL="3429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grupos: 30%</a:t>
            </a:r>
          </a:p>
          <a:p>
            <a:pPr marL="342900" indent="-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pesquisa: 30%</a:t>
            </a:r>
          </a:p>
          <a:p>
            <a:pPr>
              <a:lnSpc>
                <a:spcPct val="150000"/>
              </a:lnSpc>
              <a:buClr>
                <a:schemeClr val="accent2"/>
              </a:buClr>
            </a:pPr>
            <a:endParaRPr lang="pt-BR" sz="8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FF0E54-0F08-7564-AC76-24A57C2BE28A}"/>
              </a:ext>
            </a:extLst>
          </p:cNvPr>
          <p:cNvSpPr txBox="1"/>
          <p:nvPr/>
        </p:nvSpPr>
        <p:spPr>
          <a:xfrm>
            <a:off x="602415" y="345880"/>
            <a:ext cx="17092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Reta final</a:t>
            </a:r>
            <a:endParaRPr lang="pt-BR" sz="4500" dirty="0"/>
          </a:p>
        </p:txBody>
      </p:sp>
      <p:pic>
        <p:nvPicPr>
          <p:cNvPr id="6" name="Gráfico 5" descr="Aviso">
            <a:extLst>
              <a:ext uri="{FF2B5EF4-FFF2-40B4-BE49-F238E27FC236}">
                <a16:creationId xmlns:a16="http://schemas.microsoft.com/office/drawing/2014/main" id="{34924F2E-9C3B-DB0A-B2F7-A7581497D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7592" y="4965698"/>
            <a:ext cx="486456" cy="486456"/>
          </a:xfrm>
          <a:prstGeom prst="rect">
            <a:avLst/>
          </a:prstGeom>
        </p:spPr>
      </p:pic>
      <p:pic>
        <p:nvPicPr>
          <p:cNvPr id="7" name="Gráfico 6" descr="Aviso">
            <a:extLst>
              <a:ext uri="{FF2B5EF4-FFF2-40B4-BE49-F238E27FC236}">
                <a16:creationId xmlns:a16="http://schemas.microsoft.com/office/drawing/2014/main" id="{0B8A20FF-FAAE-571D-3A67-24EAE51D0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2217" y="4965698"/>
            <a:ext cx="486456" cy="48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A8EF80-343F-B08F-9971-131D72F3F7AF}"/>
              </a:ext>
            </a:extLst>
          </p:cNvPr>
          <p:cNvSpPr txBox="1"/>
          <p:nvPr/>
        </p:nvSpPr>
        <p:spPr>
          <a:xfrm rot="16200000">
            <a:off x="-980629" y="3055943"/>
            <a:ext cx="3121815" cy="902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algn="ctr">
              <a:lnSpc>
                <a:spcPct val="150000"/>
              </a:lnSpc>
            </a:pPr>
            <a:r>
              <a:rPr lang="pt-BR" sz="4000" b="1" kern="100" dirty="0">
                <a:solidFill>
                  <a:srgbClr val="E6A93E"/>
                </a:solidFill>
                <a:latin typeface="Britannic Bold" panose="020B09030607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Calendário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7DFC74B-6CED-F876-644E-4169262E7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2690"/>
              </p:ext>
            </p:extLst>
          </p:nvPr>
        </p:nvGraphicFramePr>
        <p:xfrm>
          <a:off x="1133858" y="783865"/>
          <a:ext cx="6924535" cy="544670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656249">
                  <a:extLst>
                    <a:ext uri="{9D8B030D-6E8A-4147-A177-3AD203B41FA5}">
                      <a16:colId xmlns:a16="http://schemas.microsoft.com/office/drawing/2014/main" val="1734819529"/>
                    </a:ext>
                  </a:extLst>
                </a:gridCol>
                <a:gridCol w="5268286">
                  <a:extLst>
                    <a:ext uri="{9D8B030D-6E8A-4147-A177-3AD203B41FA5}">
                      <a16:colId xmlns:a16="http://schemas.microsoft.com/office/drawing/2014/main" val="265774886"/>
                    </a:ext>
                  </a:extLst>
                </a:gridCol>
              </a:tblGrid>
              <a:tr h="12849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tabLst>
                          <a:tab pos="4140835" algn="l"/>
                        </a:tabLst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Última aula: “A decisão fascista”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Entrega dos projetos de pesquisa via eclass até as 23h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final para requisição de sub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533959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Orientação para as pesquisas (</a:t>
                      </a: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GRUPO A</a:t>
                      </a: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Publicação das notas do 2º módulo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95755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Requisição de feedback online das notas do 2º módulo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926"/>
                  </a:ext>
                </a:extLst>
              </a:tr>
              <a:tr h="48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Orientação para as pesquisas (</a:t>
                      </a: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GRUPO B</a:t>
                      </a: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11443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28.05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Entrega dos relatórios de pesquisa (</a:t>
                      </a: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GRUPO A</a:t>
                      </a: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até 23h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Atividades substitutivas, horário da aula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853572"/>
                  </a:ext>
                </a:extLst>
              </a:tr>
              <a:tr h="4872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02.06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140835" algn="l"/>
                        </a:tabLst>
                        <a:defRPr/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Entrega dos relatórios de pesquisa (</a:t>
                      </a: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GRUPO B</a:t>
                      </a: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até 23h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22757"/>
                  </a:ext>
                </a:extLst>
              </a:tr>
              <a:tr h="4872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03.06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Publicação das notas finais até as 23h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431732"/>
                  </a:ext>
                </a:extLst>
              </a:tr>
              <a:tr h="4872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b="1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04.06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tabLst>
                          <a:tab pos="4140835" algn="l"/>
                        </a:tabLst>
                      </a:pPr>
                      <a:r>
                        <a:rPr lang="pt-BR" sz="1800" spc="-2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Requisição de feedback da avaliação final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34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9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153833"/>
                  </a:ext>
                </a:extLst>
              </a:tr>
            </a:tbl>
          </a:graphicData>
        </a:graphic>
      </p:graphicFrame>
      <p:sp>
        <p:nvSpPr>
          <p:cNvPr id="3" name="CaixaDeTexto 9">
            <a:extLst>
              <a:ext uri="{FF2B5EF4-FFF2-40B4-BE49-F238E27FC236}">
                <a16:creationId xmlns:a16="http://schemas.microsoft.com/office/drawing/2014/main" id="{5EEB0AD2-0674-0CBF-0607-EC6D1B682BF9}"/>
              </a:ext>
            </a:extLst>
          </p:cNvPr>
          <p:cNvSpPr txBox="1"/>
          <p:nvPr/>
        </p:nvSpPr>
        <p:spPr>
          <a:xfrm>
            <a:off x="8562080" y="2218898"/>
            <a:ext cx="3182503" cy="4011676"/>
          </a:xfrm>
          <a:prstGeom prst="rect">
            <a:avLst/>
          </a:prstGeom>
          <a:solidFill>
            <a:schemeClr val="bg1"/>
          </a:solidFill>
          <a:ln w="88900">
            <a:solidFill>
              <a:srgbClr val="E6A93E"/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algn="ctr">
              <a:lnSpc>
                <a:spcPct val="150000"/>
              </a:lnSpc>
              <a:tabLst>
                <a:tab pos="4140835" algn="l"/>
              </a:tabLst>
            </a:pPr>
            <a:r>
              <a:rPr lang="pt-BR" sz="2400" b="1" spc="-25" dirty="0">
                <a:latin typeface="Calibri" panose="020F0502020204030204" pitchFamily="34" charset="0"/>
                <a:ea typeface="Calibri" panose="020F0502020204030204" pitchFamily="34" charset="0"/>
              </a:rPr>
              <a:t>    ATENÇÃO</a:t>
            </a:r>
          </a:p>
          <a:p>
            <a:pPr marL="216000" indent="-180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pc="-25" dirty="0">
                <a:latin typeface="Calibri" panose="020F0502020204030204" pitchFamily="34" charset="0"/>
                <a:ea typeface="Calibri" panose="020F0502020204030204" pitchFamily="34" charset="0"/>
              </a:rPr>
              <a:t>Todas datas são impreteríveis e inegociáveis;</a:t>
            </a:r>
          </a:p>
          <a:p>
            <a:pPr marL="216000" indent="-180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pc="-25" dirty="0">
                <a:latin typeface="Calibri" panose="020F0502020204030204" pitchFamily="34" charset="0"/>
                <a:ea typeface="Calibri" panose="020F0502020204030204" pitchFamily="34" charset="0"/>
              </a:rPr>
              <a:t>Fiquem atentos ao endereço de e-mail correto: silvia.rodrigues@fgv.br</a:t>
            </a:r>
          </a:p>
          <a:p>
            <a:pPr marL="216000" indent="-180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r>
              <a:rPr lang="pt-BR" spc="-25" dirty="0">
                <a:latin typeface="Calibri" panose="020F0502020204030204" pitchFamily="34" charset="0"/>
                <a:ea typeface="Calibri" panose="020F0502020204030204" pitchFamily="34" charset="0"/>
              </a:rPr>
              <a:t>Esse PPT estará disponível no eclass para o caso de dúvidas ou esquecimentos.</a:t>
            </a:r>
          </a:p>
          <a:p>
            <a:pPr marL="216000" indent="-1800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140835" algn="l"/>
              </a:tabLst>
            </a:pPr>
            <a:endParaRPr lang="pt-BR" sz="200" b="1" kern="100" dirty="0">
              <a:solidFill>
                <a:srgbClr val="216B0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16A7E8-7141-9840-0886-79178B107449}"/>
              </a:ext>
            </a:extLst>
          </p:cNvPr>
          <p:cNvSpPr txBox="1"/>
          <p:nvPr/>
        </p:nvSpPr>
        <p:spPr>
          <a:xfrm rot="2036484">
            <a:off x="9272124" y="321877"/>
            <a:ext cx="17624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0" b="1" dirty="0">
                <a:solidFill>
                  <a:srgbClr val="E6A9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</a:rPr>
              <a:t>Reta final</a:t>
            </a:r>
            <a:endParaRPr lang="pt-BR" sz="5000" dirty="0"/>
          </a:p>
        </p:txBody>
      </p:sp>
      <p:pic>
        <p:nvPicPr>
          <p:cNvPr id="4" name="Gráfico 3" descr="Aviso">
            <a:extLst>
              <a:ext uri="{FF2B5EF4-FFF2-40B4-BE49-F238E27FC236}">
                <a16:creationId xmlns:a16="http://schemas.microsoft.com/office/drawing/2014/main" id="{B3236504-7583-37DE-731B-493F40C8B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9831" y="2306139"/>
            <a:ext cx="486456" cy="48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98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2497</TotalTime>
  <Words>626</Words>
  <Application>Microsoft Office PowerPoint</Application>
  <PresentationFormat>Widescreen</PresentationFormat>
  <Paragraphs>88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Britannic Bold</vt:lpstr>
      <vt:lpstr>Calibri</vt:lpstr>
      <vt:lpstr>Calibri Light</vt:lpstr>
      <vt:lpstr>Tema do Office</vt:lpstr>
      <vt:lpstr>Reta final</vt:lpstr>
      <vt:lpstr>Procedimentos em sala</vt:lpstr>
      <vt:lpstr>Instruções para as pesquisas</vt:lpstr>
      <vt:lpstr>Instruções para as pesquisas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ENCERRAMENTO DO CURSO</dc:title>
  <dc:creator>silvia viana</dc:creator>
  <cp:lastModifiedBy>Silvia Viana Rodrigues</cp:lastModifiedBy>
  <cp:revision>269</cp:revision>
  <cp:lastPrinted>2024-11-01T01:08:48Z</cp:lastPrinted>
  <dcterms:created xsi:type="dcterms:W3CDTF">2023-11-19T12:51:32Z</dcterms:created>
  <dcterms:modified xsi:type="dcterms:W3CDTF">2026-05-11T19:21:21Z</dcterms:modified>
</cp:coreProperties>
</file>