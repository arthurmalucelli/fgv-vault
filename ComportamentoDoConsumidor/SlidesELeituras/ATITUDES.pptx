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  <p:sldMasterId id="2147483655" r:id="rId6"/>
    <p:sldMasterId id="214748365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B97B77-ED9A-44CC-A413-471AA7B5D3A5}">
  <a:tblStyle styleId="{42B97B77-ED9A-44CC-A413-471AA7B5D3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d3ed4788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d3ed478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ad3ed47880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D5156"/>
                </a:solidFill>
                <a:highlight>
                  <a:srgbClr val="FFFFFF"/>
                </a:highlight>
              </a:rPr>
              <a:t> </a:t>
            </a:r>
            <a:r>
              <a:rPr b="1" lang="en-US" sz="1050">
                <a:solidFill>
                  <a:srgbClr val="5F6368"/>
                </a:solidFill>
                <a:highlight>
                  <a:srgbClr val="FFFFFF"/>
                </a:highlight>
              </a:rPr>
              <a:t>AIO</a:t>
            </a:r>
            <a:r>
              <a:rPr lang="en-US" sz="1050">
                <a:solidFill>
                  <a:srgbClr val="4D5156"/>
                </a:solidFill>
                <a:highlight>
                  <a:srgbClr val="FFFFFF"/>
                </a:highlight>
              </a:rPr>
              <a:t> (activities, interests and opinions).</a:t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59e012c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1459e012c6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59e012c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459e012c66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59e012c66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459e012c6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1459e012c66_0_8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5d3ca3cd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55d3ca3cd7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59e012c66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1459e012c66_1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59e012c6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1459e012c66_1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459e012c6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459e012c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459e012c66_1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5635f93d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5635f93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65635f93d8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ad3ed4788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ad3ed4788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Iphone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Samsumg note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xiaomi 10t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ad3ed47880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5d3ca3c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55d3ca3cd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5d3ca3c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55d3ca3cd7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5d3ca3c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55d3ca3cd7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5d3ca3c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55d3ca3cd7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5d3ca3c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55d3ca3cd7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1pPr>
            <a:lvl2pPr indent="-441960" lvl="1" marL="91440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4pPr>
            <a:lvl5pPr indent="-365760" lvl="4" marL="22860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5pPr>
            <a:lvl6pPr indent="-365760" lvl="5" marL="27432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6pPr>
            <a:lvl7pPr indent="-365760" lvl="6" marL="32004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7pPr>
            <a:lvl8pPr indent="-365760" lvl="7" marL="3657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8pPr>
            <a:lvl9pPr indent="-365760" lvl="8" marL="4114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16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92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8100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7813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rtl="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1pPr>
            <a:lvl2pPr indent="-441960" lvl="1" marL="914400" rtl="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2pPr>
            <a:lvl3pPr indent="-441960" lvl="2" marL="1371600" rtl="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3pPr>
            <a:lvl4pPr indent="-365760" lvl="3" marL="18288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4pPr>
            <a:lvl5pPr indent="-365760" lvl="4" marL="22860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5pPr>
            <a:lvl6pPr indent="-365760" lvl="5" marL="27432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6pPr>
            <a:lvl7pPr indent="-365760" lvl="6" marL="32004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7pPr>
            <a:lvl8pPr indent="-365760" lvl="7" marL="3657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8pPr>
            <a:lvl9pPr indent="-365760" lvl="8" marL="41148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16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92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38100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" name="Google Shape;11;p1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4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" name="Google Shape;28;p4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6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" name="Google Shape;39;p6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Atitudes e Persuasão</a:t>
            </a:r>
            <a:endParaRPr/>
          </a:p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Atitude: avaliação duradoura e geral das pessoas, objetos, propagandas, questões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Attitude object (A</a:t>
            </a:r>
            <a:r>
              <a:rPr b="1" i="0" lang="en-US" sz="12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): anything toward which one has an attitude</a:t>
            </a: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3884612"/>
            <a:ext cx="4114800" cy="2211387"/>
          </a:xfrm>
          <a:prstGeom prst="rect">
            <a:avLst/>
          </a:prstGeom>
          <a:noFill/>
          <a:ln cap="flat" cmpd="sng" w="38100">
            <a:solidFill>
              <a:srgbClr val="99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ABC (</a:t>
            </a:r>
            <a:r>
              <a:rPr b="1" i="0" lang="en-US" sz="36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Affect</a:t>
            </a: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6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6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Cognition)</a:t>
            </a:r>
            <a:endParaRPr/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Uma atitude tem 3 componentes:</a:t>
            </a:r>
            <a:endParaRPr/>
          </a:p>
          <a:p>
            <a:pPr indent="-7239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Cognitivo: o que o consumidor acredita ser verdadeiro em relação ao objeto de atitude (crenças)</a:t>
            </a:r>
            <a:endParaRPr/>
          </a:p>
          <a:p>
            <a:pPr indent="-10287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Afetivo: como o consumidor se sente em relação ao objeto da atitude</a:t>
            </a:r>
            <a:endParaRPr/>
          </a:p>
          <a:p>
            <a:pPr indent="-10287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Conativo: refere-se à intenção para o comportamento (ação)</a:t>
            </a:r>
            <a:endParaRPr/>
          </a:p>
          <a:p>
            <a:pPr indent="-7239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9540" lvl="0" marL="342900" rtl="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Hierarchies of Effects</a:t>
            </a:r>
            <a:endParaRPr/>
          </a:p>
        </p:txBody>
      </p:sp>
      <p:pic>
        <p:nvPicPr>
          <p:cNvPr descr="fig" id="74" name="Google Shape;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752600"/>
            <a:ext cx="83820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425" y="3486150"/>
            <a:ext cx="14192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9400" y="3562350"/>
            <a:ext cx="13811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552825"/>
            <a:ext cx="136207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/>
        </p:nvSpPr>
        <p:spPr>
          <a:xfrm>
            <a:off x="2895600" y="1905000"/>
            <a:ext cx="41814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Pensar – Sentir - Fazer  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ALTO ENVOLVIMENTO</a:t>
            </a: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2887662" y="3167062"/>
            <a:ext cx="42751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Fazer - Sentir - Pensar   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BAIXO ENVOLVIMENTO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2819400" y="4440237"/>
            <a:ext cx="42021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Sentir - Fazer - Pensar   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HEDÔNICO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Hierarquias de efeitos</a:t>
            </a:r>
            <a:endParaRPr/>
          </a:p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Hierarquia de aprendizagem padrão (alto envolvimento)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Pense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– Sinta – Faça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Cognição – Afeto – Comportamento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Atitude baseada no processamento de informações cognitivas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Hierarquia de baixo envolvimento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Faça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- Sinta - Pense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Comportamento – Afeto - Cognição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Atitude baseada em processos de aprendizagem comportamental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Hierarquia experiencial (motivações hedônicas)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Sinta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– Faça - Pense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Afeto -  Comportamento - Cognição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Atitude baseada no consumo hedônico</a:t>
            </a:r>
            <a:endParaRPr/>
          </a:p>
          <a:p>
            <a:pPr indent="-220980" lvl="0" marL="342900" rtl="0" algn="l">
              <a:spcBef>
                <a:spcPts val="640"/>
              </a:spcBef>
              <a:spcAft>
                <a:spcPts val="0"/>
              </a:spcAft>
              <a:buSzPts val="1920"/>
              <a:buFont typeface="Arial"/>
              <a:buNone/>
            </a:pPr>
            <a:r>
              <a:t/>
            </a:r>
            <a:endParaRPr b="1" i="0" sz="16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Breakout rooms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Façam, em grupos, 3 exemplos para cada tipo de hierarquia de atitudes.</a:t>
            </a:r>
            <a:endParaRPr/>
          </a:p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Functional Theory of Attitudes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066800" y="1828800"/>
            <a:ext cx="3505200" cy="18288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UTILITARIAN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Relates to rewards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punishments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800600" y="1828800"/>
            <a:ext cx="3505200" cy="1830387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VALUE-EXPRESSIVE FUNCTION: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Expresses consumer’s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values or self-concept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066800" y="3886200"/>
            <a:ext cx="3505200" cy="18303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EGO-DEFENSIVE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Protect ourselves from external threats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internal feelings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800600" y="3886200"/>
            <a:ext cx="3505200" cy="1830387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Need for order, structure,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meaning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159425" y="3054350"/>
            <a:ext cx="31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AIO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050">
                <a:solidFill>
                  <a:srgbClr val="4D5156"/>
                </a:solidFill>
                <a:highlight>
                  <a:srgbClr val="FFFFFF"/>
                </a:highlight>
              </a:rPr>
              <a:t> </a:t>
            </a:r>
            <a:r>
              <a:rPr b="1" lang="en-US" sz="1050">
                <a:solidFill>
                  <a:srgbClr val="5F6368"/>
                </a:solidFill>
                <a:highlight>
                  <a:srgbClr val="FFFFFF"/>
                </a:highlight>
              </a:rPr>
              <a:t>AIO</a:t>
            </a:r>
            <a:r>
              <a:rPr lang="en-US" sz="1050">
                <a:solidFill>
                  <a:srgbClr val="4D5156"/>
                </a:solidFill>
                <a:highlight>
                  <a:srgbClr val="FFFFFF"/>
                </a:highlight>
              </a:rPr>
              <a:t> (activities, interests and opinions).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Grau de comprometimento com a atitude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782637" y="1804987"/>
            <a:ext cx="5638800" cy="10668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COMPLIANCE - CONDESCENDÊNCIA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Lowest level: consumer forms attitude because it gains rewards or avoids punishments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36600" y="3657600"/>
            <a:ext cx="5638800" cy="1066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IDENTIFICATION - IDENTIFICAÇÃO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Mid-level: attitudes formed in order to conform to another person or group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62000" y="5410200"/>
            <a:ext cx="5638800" cy="106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INTERNALIZATION - INTERNALIZAÇÃO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Highest level: deep-seeded attitudes become part of consumer’s value system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275" y="1419213"/>
            <a:ext cx="2451101" cy="183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7588" y="3429000"/>
            <a:ext cx="2090475" cy="313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Princípio da Coerência Cognitiva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533400" y="1524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We value/seek harmony among thoughts, feelings, and behaviors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We will change components to make them consistent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Relates to the theory of cognitive dissonance 	– we take action to resolve dissonance when our attitudes and behaviors are inconsistent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Consumidores buscam respaldo para suas decisões com objetivo de jutifica-las.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Social Judgment Theory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We assimilate new information about attitude objects in light of what we already know/feel</a:t>
            </a:r>
            <a:endParaRPr/>
          </a:p>
          <a:p>
            <a:pPr indent="-7239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Initial attitude = acts as frame of reference</a:t>
            </a:r>
            <a:endParaRPr/>
          </a:p>
          <a:p>
            <a:pPr indent="-7239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Latitudes of acceptance and rejection</a:t>
            </a:r>
            <a:endParaRPr/>
          </a:p>
          <a:p>
            <a:pPr indent="-129540" lvl="0" marL="342900" rtl="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Teoria do Equilíbrio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Considers how a person might perceive relations among different attitude objects and how she might alter attitudes to maintain consistency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Triad attitude structures: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Perception of attitude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Perception of other person/object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Modelos de atitude com múltiplos atributos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Como você se sente em relação à marca </a:t>
            </a:r>
            <a:r>
              <a:rPr lang="en-US" sz="2000"/>
              <a:t>Cacau Show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? ____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Pressupõem que a atitude de um consumidor em relação a um objeto de atitude (Ao) depende das </a:t>
            </a:r>
            <a:r>
              <a:rPr b="1" i="0" lang="en-US" sz="20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crenças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que ele tem sobre os </a:t>
            </a:r>
            <a:r>
              <a:rPr b="1" i="0" lang="en-US" sz="20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do objeto.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Para prever uma atitude em relação a um produto ou marca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Atributos: características de Ao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Crenças: cognições sobre Ao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Pesos de importância: prioridade relativa do atributo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Modelo Fishbein</a:t>
            </a:r>
            <a:endParaRPr/>
          </a:p>
        </p:txBody>
      </p:sp>
      <p:sp>
        <p:nvSpPr>
          <p:cNvPr id="143" name="Google Shape;143;p21"/>
          <p:cNvSpPr txBox="1"/>
          <p:nvPr>
            <p:ph idx="4294967295" type="body"/>
          </p:nvPr>
        </p:nvSpPr>
        <p:spPr>
          <a:xfrm>
            <a:off x="457200" y="32004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atributo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marca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consumidor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peso de importância dado ao atributo i pelo consumidor 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 = crença do de k sobre o quanto j possui 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escore de atitude do consumidor k para a marca j</a:t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1752600" y="1828800"/>
            <a:ext cx="5638800" cy="7630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Serviço: </a:t>
            </a:r>
            <a:r>
              <a:rPr lang="en-US"/>
              <a:t>Chocolates Finos</a:t>
            </a:r>
            <a:endParaRPr/>
          </a:p>
        </p:txBody>
      </p:sp>
      <p:graphicFrame>
        <p:nvGraphicFramePr>
          <p:cNvPr id="150" name="Google Shape;150;p22"/>
          <p:cNvGraphicFramePr/>
          <p:nvPr/>
        </p:nvGraphicFramePr>
        <p:xfrm>
          <a:off x="1720850" y="2744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{42B97B77-ED9A-44CC-A413-471AA7B5D3A5}</a:tableStyleId>
              </a:tblPr>
              <a:tblGrid>
                <a:gridCol w="1330325"/>
                <a:gridCol w="1331900"/>
                <a:gridCol w="1330325"/>
                <a:gridCol w="1331900"/>
                <a:gridCol w="13319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Importância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Marca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Kopenhagen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Marca 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Brasil Cacau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Marca 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Cacau Show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Presentes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10 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Qualidade 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9 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Variedade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Reputação no mercado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200" u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66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22"/>
          <p:cNvSpPr txBox="1"/>
          <p:nvPr/>
        </p:nvSpPr>
        <p:spPr>
          <a:xfrm>
            <a:off x="2057400" y="6172200"/>
            <a:ext cx="24114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SCORE DE ATITUDE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4800600" y="6249987"/>
            <a:ext cx="569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277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6135687" y="6249987"/>
            <a:ext cx="569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238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7431087" y="6259512"/>
            <a:ext cx="569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Perceptual Positioning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Brand perceptions = functional attributes + symbolic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Perceptual map: map of where brands are perceived in consumers’ minds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Used to determine how brands are currently perceived to determine future positioning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Posicionamento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1557337" y="17335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24"/>
          <p:cNvGrpSpPr/>
          <p:nvPr/>
        </p:nvGrpSpPr>
        <p:grpSpPr>
          <a:xfrm>
            <a:off x="-76200" y="1782762"/>
            <a:ext cx="9048750" cy="4905375"/>
            <a:chOff x="-48" y="954"/>
            <a:chExt cx="5700" cy="3090"/>
          </a:xfrm>
        </p:grpSpPr>
        <p:sp>
          <p:nvSpPr>
            <p:cNvPr id="168" name="Google Shape;168;p24"/>
            <p:cNvSpPr/>
            <p:nvPr/>
          </p:nvSpPr>
          <p:spPr>
            <a:xfrm>
              <a:off x="-48" y="954"/>
              <a:ext cx="5700" cy="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4"/>
            <p:cNvSpPr txBox="1"/>
            <p:nvPr/>
          </p:nvSpPr>
          <p:spPr>
            <a:xfrm>
              <a:off x="468" y="1105"/>
              <a:ext cx="4800" cy="27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" name="Google Shape;170;p24"/>
            <p:cNvCxnSpPr/>
            <p:nvPr/>
          </p:nvCxnSpPr>
          <p:spPr>
            <a:xfrm>
              <a:off x="468" y="3816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1" name="Google Shape;171;p24"/>
            <p:cNvCxnSpPr/>
            <p:nvPr/>
          </p:nvCxnSpPr>
          <p:spPr>
            <a:xfrm>
              <a:off x="468" y="3362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2" name="Google Shape;172;p24"/>
            <p:cNvCxnSpPr/>
            <p:nvPr/>
          </p:nvCxnSpPr>
          <p:spPr>
            <a:xfrm>
              <a:off x="468" y="2915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3" name="Google Shape;173;p24"/>
            <p:cNvCxnSpPr/>
            <p:nvPr/>
          </p:nvCxnSpPr>
          <p:spPr>
            <a:xfrm>
              <a:off x="468" y="2006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4" name="Google Shape;174;p24"/>
            <p:cNvCxnSpPr/>
            <p:nvPr/>
          </p:nvCxnSpPr>
          <p:spPr>
            <a:xfrm>
              <a:off x="468" y="1559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5" name="Google Shape;175;p24"/>
            <p:cNvCxnSpPr/>
            <p:nvPr/>
          </p:nvCxnSpPr>
          <p:spPr>
            <a:xfrm>
              <a:off x="468" y="1105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6" name="Google Shape;176;p24"/>
            <p:cNvSpPr txBox="1"/>
            <p:nvPr/>
          </p:nvSpPr>
          <p:spPr>
            <a:xfrm>
              <a:off x="468" y="1105"/>
              <a:ext cx="4800" cy="2700"/>
            </a:xfrm>
            <a:prstGeom prst="rect">
              <a:avLst/>
            </a:prstGeom>
            <a:noFill/>
            <a:ln cap="flat" cmpd="sng" w="11100">
              <a:solidFill>
                <a:srgbClr val="808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24"/>
            <p:cNvCxnSpPr/>
            <p:nvPr/>
          </p:nvCxnSpPr>
          <p:spPr>
            <a:xfrm>
              <a:off x="468" y="1105"/>
              <a:ext cx="0" cy="27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8" name="Google Shape;178;p24"/>
            <p:cNvCxnSpPr/>
            <p:nvPr/>
          </p:nvCxnSpPr>
          <p:spPr>
            <a:xfrm>
              <a:off x="426" y="3816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9" name="Google Shape;179;p24"/>
            <p:cNvCxnSpPr/>
            <p:nvPr/>
          </p:nvCxnSpPr>
          <p:spPr>
            <a:xfrm>
              <a:off x="426" y="336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0" name="Google Shape;180;p24"/>
            <p:cNvCxnSpPr/>
            <p:nvPr/>
          </p:nvCxnSpPr>
          <p:spPr>
            <a:xfrm>
              <a:off x="426" y="291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1" name="Google Shape;181;p24"/>
            <p:cNvCxnSpPr/>
            <p:nvPr/>
          </p:nvCxnSpPr>
          <p:spPr>
            <a:xfrm>
              <a:off x="426" y="2461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2" name="Google Shape;182;p24"/>
            <p:cNvCxnSpPr/>
            <p:nvPr/>
          </p:nvCxnSpPr>
          <p:spPr>
            <a:xfrm>
              <a:off x="426" y="2006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3" name="Google Shape;183;p24"/>
            <p:cNvCxnSpPr/>
            <p:nvPr/>
          </p:nvCxnSpPr>
          <p:spPr>
            <a:xfrm>
              <a:off x="426" y="1559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>
              <a:off x="426" y="11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>
              <a:off x="468" y="2461"/>
              <a:ext cx="48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6" name="Google Shape;186;p24"/>
            <p:cNvCxnSpPr/>
            <p:nvPr/>
          </p:nvCxnSpPr>
          <p:spPr>
            <a:xfrm>
              <a:off x="468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7" name="Google Shape;187;p24"/>
            <p:cNvCxnSpPr/>
            <p:nvPr/>
          </p:nvCxnSpPr>
          <p:spPr>
            <a:xfrm>
              <a:off x="1166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8" name="Google Shape;188;p24"/>
            <p:cNvCxnSpPr/>
            <p:nvPr/>
          </p:nvCxnSpPr>
          <p:spPr>
            <a:xfrm>
              <a:off x="1871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9" name="Google Shape;189;p24"/>
            <p:cNvCxnSpPr/>
            <p:nvPr/>
          </p:nvCxnSpPr>
          <p:spPr>
            <a:xfrm>
              <a:off x="2568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0" name="Google Shape;190;p24"/>
            <p:cNvCxnSpPr/>
            <p:nvPr/>
          </p:nvCxnSpPr>
          <p:spPr>
            <a:xfrm>
              <a:off x="3273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1" name="Google Shape;191;p24"/>
            <p:cNvCxnSpPr/>
            <p:nvPr/>
          </p:nvCxnSpPr>
          <p:spPr>
            <a:xfrm>
              <a:off x="3971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2" name="Google Shape;192;p24"/>
            <p:cNvCxnSpPr/>
            <p:nvPr/>
          </p:nvCxnSpPr>
          <p:spPr>
            <a:xfrm>
              <a:off x="4676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3" name="Google Shape;193;p24"/>
            <p:cNvCxnSpPr/>
            <p:nvPr/>
          </p:nvCxnSpPr>
          <p:spPr>
            <a:xfrm>
              <a:off x="5373" y="248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1871" y="1603"/>
              <a:ext cx="0" cy="0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5" name="Google Shape;195;p24"/>
            <p:cNvCxnSpPr/>
            <p:nvPr/>
          </p:nvCxnSpPr>
          <p:spPr>
            <a:xfrm>
              <a:off x="3273" y="3340"/>
              <a:ext cx="0" cy="0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6" name="Google Shape;196;p24"/>
            <p:cNvCxnSpPr/>
            <p:nvPr/>
          </p:nvCxnSpPr>
          <p:spPr>
            <a:xfrm>
              <a:off x="4676" y="2115"/>
              <a:ext cx="0" cy="0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97" name="Google Shape;197;p24"/>
            <p:cNvSpPr/>
            <p:nvPr/>
          </p:nvSpPr>
          <p:spPr>
            <a:xfrm>
              <a:off x="1836" y="3232"/>
              <a:ext cx="0" cy="0"/>
            </a:xfrm>
            <a:prstGeom prst="ellipse">
              <a:avLst/>
            </a:prstGeom>
            <a:solidFill>
              <a:srgbClr val="000080"/>
            </a:solidFill>
            <a:ln cap="flat" cmpd="sng" w="11100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3238" y="2410"/>
              <a:ext cx="0" cy="0"/>
            </a:xfrm>
            <a:prstGeom prst="ellipse">
              <a:avLst/>
            </a:prstGeom>
            <a:solidFill>
              <a:srgbClr val="000080"/>
            </a:solidFill>
            <a:ln cap="flat" cmpd="sng" w="11100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4641" y="3088"/>
              <a:ext cx="0" cy="0"/>
            </a:xfrm>
            <a:prstGeom prst="ellipse">
              <a:avLst/>
            </a:prstGeom>
            <a:solidFill>
              <a:srgbClr val="000080"/>
            </a:solidFill>
            <a:ln cap="flat" cmpd="sng" w="11100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1836" y="3073"/>
              <a:ext cx="0" cy="0"/>
            </a:xfrm>
            <a:prstGeom prst="ellipse">
              <a:avLst/>
            </a:prstGeom>
            <a:solidFill>
              <a:srgbClr val="FF00FF"/>
            </a:solidFill>
            <a:ln cap="flat" cmpd="sng" w="11100">
              <a:solidFill>
                <a:srgbClr val="FF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3238" y="2432"/>
              <a:ext cx="0" cy="0"/>
            </a:xfrm>
            <a:prstGeom prst="ellipse">
              <a:avLst/>
            </a:prstGeom>
            <a:solidFill>
              <a:srgbClr val="FF00FF"/>
            </a:solidFill>
            <a:ln cap="flat" cmpd="sng" w="11100">
              <a:solidFill>
                <a:srgbClr val="FF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4641" y="3282"/>
              <a:ext cx="0" cy="0"/>
            </a:xfrm>
            <a:prstGeom prst="ellipse">
              <a:avLst/>
            </a:prstGeom>
            <a:solidFill>
              <a:srgbClr val="FF00FF"/>
            </a:solidFill>
            <a:ln cap="flat" cmpd="sng" w="11100">
              <a:solidFill>
                <a:srgbClr val="FF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1836" y="1567"/>
              <a:ext cx="0" cy="0"/>
            </a:xfrm>
            <a:prstGeom prst="ellipse">
              <a:avLst/>
            </a:prstGeom>
            <a:solidFill>
              <a:srgbClr val="FFFF00"/>
            </a:solidFill>
            <a:ln cap="flat" cmpd="sng" w="111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3238" y="3304"/>
              <a:ext cx="0" cy="0"/>
            </a:xfrm>
            <a:prstGeom prst="ellipse">
              <a:avLst/>
            </a:prstGeom>
            <a:solidFill>
              <a:srgbClr val="FFFF00"/>
            </a:solidFill>
            <a:ln cap="flat" cmpd="sng" w="111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4641" y="2078"/>
              <a:ext cx="0" cy="0"/>
            </a:xfrm>
            <a:prstGeom prst="ellipse">
              <a:avLst/>
            </a:prstGeom>
            <a:solidFill>
              <a:srgbClr val="FFFF00"/>
            </a:solidFill>
            <a:ln cap="flat" cmpd="sng" w="111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1836" y="1927"/>
              <a:ext cx="0" cy="0"/>
            </a:xfrm>
            <a:prstGeom prst="ellipse">
              <a:avLst/>
            </a:prstGeom>
            <a:solidFill>
              <a:srgbClr val="00FFFF"/>
            </a:solidFill>
            <a:ln cap="flat" cmpd="sng" w="11100">
              <a:solidFill>
                <a:srgbClr val="00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3238" y="3470"/>
              <a:ext cx="0" cy="0"/>
            </a:xfrm>
            <a:prstGeom prst="ellipse">
              <a:avLst/>
            </a:prstGeom>
            <a:solidFill>
              <a:srgbClr val="00FFFF"/>
            </a:solidFill>
            <a:ln cap="flat" cmpd="sng" w="11100">
              <a:solidFill>
                <a:srgbClr val="00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4641" y="2497"/>
              <a:ext cx="0" cy="0"/>
            </a:xfrm>
            <a:prstGeom prst="ellipse">
              <a:avLst/>
            </a:prstGeom>
            <a:solidFill>
              <a:srgbClr val="00FFFF"/>
            </a:solidFill>
            <a:ln cap="flat" cmpd="sng" w="11100">
              <a:solidFill>
                <a:srgbClr val="00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1836" y="2201"/>
              <a:ext cx="0" cy="0"/>
            </a:xfrm>
            <a:prstGeom prst="ellipse">
              <a:avLst/>
            </a:prstGeom>
            <a:solidFill>
              <a:srgbClr val="FF0000"/>
            </a:solidFill>
            <a:ln cap="flat" cmpd="sng" w="11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3238" y="1783"/>
              <a:ext cx="0" cy="0"/>
            </a:xfrm>
            <a:prstGeom prst="ellipse">
              <a:avLst/>
            </a:prstGeom>
            <a:solidFill>
              <a:srgbClr val="FF0000"/>
            </a:solidFill>
            <a:ln cap="flat" cmpd="sng" w="11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4641" y="1740"/>
              <a:ext cx="0" cy="0"/>
            </a:xfrm>
            <a:prstGeom prst="ellipse">
              <a:avLst/>
            </a:prstGeom>
            <a:solidFill>
              <a:srgbClr val="FF0000"/>
            </a:solidFill>
            <a:ln cap="flat" cmpd="sng" w="11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1836" y="2266"/>
              <a:ext cx="0" cy="0"/>
            </a:xfrm>
            <a:prstGeom prst="ellipse">
              <a:avLst/>
            </a:prstGeom>
            <a:solidFill>
              <a:srgbClr val="0000FF"/>
            </a:solidFill>
            <a:ln cap="flat" cmpd="sng" w="111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3238" y="1668"/>
              <a:ext cx="0" cy="0"/>
            </a:xfrm>
            <a:prstGeom prst="ellipse">
              <a:avLst/>
            </a:prstGeom>
            <a:solidFill>
              <a:srgbClr val="0000FF"/>
            </a:solidFill>
            <a:ln cap="flat" cmpd="sng" w="111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641" y="1905"/>
              <a:ext cx="0" cy="0"/>
            </a:xfrm>
            <a:prstGeom prst="ellipse">
              <a:avLst/>
            </a:prstGeom>
            <a:solidFill>
              <a:srgbClr val="0000FF"/>
            </a:solidFill>
            <a:ln cap="flat" cmpd="sng" w="111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1459" y="2597"/>
              <a:ext cx="3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Refrescância                       Sabor                      Energia/saúde</a:t>
              </a:r>
              <a:endParaRPr/>
            </a:p>
          </p:txBody>
        </p:sp>
        <p:sp>
          <p:nvSpPr>
            <p:cNvPr id="216" name="Google Shape;216;p24"/>
            <p:cNvSpPr txBox="1"/>
            <p:nvPr/>
          </p:nvSpPr>
          <p:spPr>
            <a:xfrm>
              <a:off x="78" y="37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-1,50</a:t>
              </a:r>
              <a:endParaRPr/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78" y="328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-1,00</a:t>
              </a:r>
              <a:endParaRPr/>
            </a:p>
          </p:txBody>
        </p:sp>
        <p:sp>
          <p:nvSpPr>
            <p:cNvPr id="218" name="Google Shape;218;p24"/>
            <p:cNvSpPr txBox="1"/>
            <p:nvPr/>
          </p:nvSpPr>
          <p:spPr>
            <a:xfrm>
              <a:off x="78" y="284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-0,50</a:t>
              </a:r>
              <a:endParaRPr/>
            </a:p>
          </p:txBody>
        </p:sp>
        <p:sp>
          <p:nvSpPr>
            <p:cNvPr id="219" name="Google Shape;219;p24"/>
            <p:cNvSpPr txBox="1"/>
            <p:nvPr/>
          </p:nvSpPr>
          <p:spPr>
            <a:xfrm>
              <a:off x="119" y="238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0,00</a:t>
              </a:r>
              <a:endParaRPr/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119" y="19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0,50</a:t>
              </a:r>
              <a:endParaRPr/>
            </a:p>
          </p:txBody>
        </p:sp>
        <p:sp>
          <p:nvSpPr>
            <p:cNvPr id="221" name="Google Shape;221;p24"/>
            <p:cNvSpPr txBox="1"/>
            <p:nvPr/>
          </p:nvSpPr>
          <p:spPr>
            <a:xfrm>
              <a:off x="119" y="148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1,00</a:t>
              </a:r>
              <a:endParaRPr/>
            </a:p>
          </p:txBody>
        </p:sp>
        <p:sp>
          <p:nvSpPr>
            <p:cNvPr id="222" name="Google Shape;222;p24"/>
            <p:cNvSpPr txBox="1"/>
            <p:nvPr/>
          </p:nvSpPr>
          <p:spPr>
            <a:xfrm>
              <a:off x="119" y="103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1,50</a:t>
              </a:r>
              <a:endParaRPr/>
            </a:p>
          </p:txBody>
        </p:sp>
        <p:sp>
          <p:nvSpPr>
            <p:cNvPr id="223" name="Google Shape;223;p24"/>
            <p:cNvSpPr txBox="1"/>
            <p:nvPr/>
          </p:nvSpPr>
          <p:spPr>
            <a:xfrm>
              <a:off x="447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24" name="Google Shape;224;p24"/>
            <p:cNvSpPr txBox="1"/>
            <p:nvPr/>
          </p:nvSpPr>
          <p:spPr>
            <a:xfrm>
              <a:off x="1117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0,5</a:t>
              </a:r>
              <a:endParaRPr/>
            </a:p>
          </p:txBody>
        </p:sp>
        <p:sp>
          <p:nvSpPr>
            <p:cNvPr id="225" name="Google Shape;225;p24"/>
            <p:cNvSpPr txBox="1"/>
            <p:nvPr/>
          </p:nvSpPr>
          <p:spPr>
            <a:xfrm>
              <a:off x="1850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26" name="Google Shape;226;p24"/>
            <p:cNvSpPr txBox="1"/>
            <p:nvPr/>
          </p:nvSpPr>
          <p:spPr>
            <a:xfrm>
              <a:off x="2520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1,5</a:t>
              </a:r>
              <a:endParaRPr/>
            </a:p>
          </p:txBody>
        </p:sp>
        <p:sp>
          <p:nvSpPr>
            <p:cNvPr id="227" name="Google Shape;227;p24"/>
            <p:cNvSpPr txBox="1"/>
            <p:nvPr/>
          </p:nvSpPr>
          <p:spPr>
            <a:xfrm>
              <a:off x="3252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28" name="Google Shape;228;p24"/>
            <p:cNvSpPr txBox="1"/>
            <p:nvPr/>
          </p:nvSpPr>
          <p:spPr>
            <a:xfrm>
              <a:off x="3922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2,5</a:t>
              </a:r>
              <a:endParaRPr/>
            </a:p>
          </p:txBody>
        </p:sp>
        <p:sp>
          <p:nvSpPr>
            <p:cNvPr id="229" name="Google Shape;229;p24"/>
            <p:cNvSpPr txBox="1"/>
            <p:nvPr/>
          </p:nvSpPr>
          <p:spPr>
            <a:xfrm>
              <a:off x="4655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230" name="Google Shape;230;p24"/>
            <p:cNvSpPr txBox="1"/>
            <p:nvPr/>
          </p:nvSpPr>
          <p:spPr>
            <a:xfrm>
              <a:off x="5325" y="2525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C0C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C0C0C0"/>
                  </a:solidFill>
                  <a:latin typeface="Arial"/>
                  <a:ea typeface="Arial"/>
                  <a:cs typeface="Arial"/>
                  <a:sym typeface="Arial"/>
                </a:rPr>
                <a:t>3,5</a:t>
              </a:r>
              <a:endParaRPr/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440" y="2763"/>
              <a:ext cx="1200" cy="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510" y="2828"/>
              <a:ext cx="0" cy="0"/>
            </a:xfrm>
            <a:prstGeom prst="ellipse">
              <a:avLst/>
            </a:prstGeom>
            <a:solidFill>
              <a:srgbClr val="000080"/>
            </a:solidFill>
            <a:ln cap="flat" cmpd="sng" w="11100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4"/>
            <p:cNvSpPr txBox="1"/>
            <p:nvPr/>
          </p:nvSpPr>
          <p:spPr>
            <a:xfrm>
              <a:off x="622" y="277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Pepsi-Cola</a:t>
              </a: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510" y="2972"/>
              <a:ext cx="0" cy="0"/>
            </a:xfrm>
            <a:prstGeom prst="ellipse">
              <a:avLst/>
            </a:prstGeom>
            <a:solidFill>
              <a:srgbClr val="FF00FF"/>
            </a:solidFill>
            <a:ln cap="flat" cmpd="sng" w="11100">
              <a:solidFill>
                <a:srgbClr val="FF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622" y="292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Coca-Cola</a:t>
              </a: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510" y="3116"/>
              <a:ext cx="0" cy="0"/>
            </a:xfrm>
            <a:prstGeom prst="ellipse">
              <a:avLst/>
            </a:prstGeom>
            <a:solidFill>
              <a:srgbClr val="FFFF00"/>
            </a:solidFill>
            <a:ln cap="flat" cmpd="sng" w="111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4"/>
            <p:cNvSpPr txBox="1"/>
            <p:nvPr/>
          </p:nvSpPr>
          <p:spPr>
            <a:xfrm>
              <a:off x="622" y="306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Gatorage</a:t>
              </a: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510" y="3268"/>
              <a:ext cx="0" cy="0"/>
            </a:xfrm>
            <a:prstGeom prst="ellipse">
              <a:avLst/>
            </a:prstGeom>
            <a:solidFill>
              <a:srgbClr val="00FFFF"/>
            </a:solidFill>
            <a:ln cap="flat" cmpd="sng" w="11100">
              <a:solidFill>
                <a:srgbClr val="00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4"/>
            <p:cNvSpPr txBox="1"/>
            <p:nvPr/>
          </p:nvSpPr>
          <p:spPr>
            <a:xfrm>
              <a:off x="622" y="32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Allsport</a:t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510" y="3412"/>
              <a:ext cx="0" cy="0"/>
            </a:xfrm>
            <a:prstGeom prst="ellipse">
              <a:avLst/>
            </a:prstGeom>
            <a:solidFill>
              <a:srgbClr val="FF0000"/>
            </a:solidFill>
            <a:ln cap="flat" cmpd="sng" w="11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4"/>
            <p:cNvSpPr txBox="1"/>
            <p:nvPr/>
          </p:nvSpPr>
          <p:spPr>
            <a:xfrm>
              <a:off x="622" y="336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Lipton</a:t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510" y="3556"/>
              <a:ext cx="0" cy="0"/>
            </a:xfrm>
            <a:prstGeom prst="ellipse">
              <a:avLst/>
            </a:prstGeom>
            <a:solidFill>
              <a:srgbClr val="0000FF"/>
            </a:solidFill>
            <a:ln cap="flat" cmpd="sng" w="111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4"/>
            <p:cNvSpPr txBox="1"/>
            <p:nvPr/>
          </p:nvSpPr>
          <p:spPr>
            <a:xfrm>
              <a:off x="622" y="350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Nestea</a:t>
              </a:r>
              <a:endParaRPr/>
            </a:p>
          </p:txBody>
        </p:sp>
      </p:grpSp>
      <p:sp>
        <p:nvSpPr>
          <p:cNvPr id="244" name="Google Shape;244;p24"/>
          <p:cNvSpPr txBox="1"/>
          <p:nvPr/>
        </p:nvSpPr>
        <p:spPr>
          <a:xfrm>
            <a:off x="376237" y="1203325"/>
            <a:ext cx="85170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produto é o lugar que o produto ocupa na cabeça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consumidores em relação aos produtos concorrentes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Mapa Perceptual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71599"/>
            <a:ext cx="7515125" cy="24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250" y="3429000"/>
            <a:ext cx="4900974" cy="303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525" y="1147762"/>
            <a:ext cx="60769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idx="1" type="body"/>
          </p:nvPr>
        </p:nvSpPr>
        <p:spPr>
          <a:xfrm>
            <a:off x="685800" y="304800"/>
            <a:ext cx="8172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rPr b="0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Tentando medir Posicionamento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3175" y="-2413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63" y="1916113"/>
            <a:ext cx="8713789" cy="40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3419475" y="4484687"/>
            <a:ext cx="2236800" cy="4572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 de Likert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Escala diferencial semântico (HOTEL)</a:t>
            </a:r>
            <a:endParaRPr/>
          </a:p>
        </p:txBody>
      </p:sp>
      <p:graphicFrame>
        <p:nvGraphicFramePr>
          <p:cNvPr id="272" name="Google Shape;272;p28"/>
          <p:cNvGraphicFramePr/>
          <p:nvPr/>
        </p:nvGraphicFramePr>
        <p:xfrm>
          <a:off x="27305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{42B97B77-ED9A-44CC-A413-471AA7B5D3A5}</a:tableStyleId>
              </a:tblPr>
              <a:tblGrid>
                <a:gridCol w="3646475"/>
                <a:gridCol w="338125"/>
                <a:gridCol w="338125"/>
                <a:gridCol w="339725"/>
                <a:gridCol w="338125"/>
                <a:gridCol w="338125"/>
                <a:gridCol w="3424225"/>
              </a:tblGrid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Baixo preço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preço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Pouco conforto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Muito conforto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Promoções desinteressantes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Promoções interessantes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Baixa experiência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 experiência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Serviço de baixa qualidade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Serviço de alta qualidade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Funcionários pouco cordiais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Funcionários muito cordiais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Poucas cortesias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Muitas cortesias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Instalações ruins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Instalações boas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Localização ruim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Localização boa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Marketing Applications </a:t>
            </a:r>
            <a:b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of the Multiattribute Model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990600" y="1371600"/>
            <a:ext cx="7467600" cy="1200150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Aproveitar a vantagem relativa (dentre as marcas concorrentes)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990600" y="2914650"/>
            <a:ext cx="7467600" cy="1200150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Fortalecer percepções do atributo mais relevante (dentre todos os atributos)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990600" y="4495800"/>
            <a:ext cx="7467600" cy="830262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Acrescentar um novo atributo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998537" y="5638800"/>
            <a:ext cx="7467600" cy="830262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Influenciar as classificações dos concorrentes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grupos de 5 alunos - subir no eclass ate 14h25</a:t>
            </a:r>
            <a:endParaRPr/>
          </a:p>
        </p:txBody>
      </p:sp>
      <p:sp>
        <p:nvSpPr>
          <p:cNvPr id="288" name="Google Shape;288;p30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Fazer um mapa perceptual com pelo menos quatro atributos das festas universitárias. </a:t>
            </a:r>
            <a:endParaRPr/>
          </a:p>
        </p:txBody>
      </p:sp>
      <p:pic>
        <p:nvPicPr>
          <p:cNvPr id="289" name="Google Shape;2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038" y="2744863"/>
            <a:ext cx="298132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613" y="284036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038" y="4983488"/>
            <a:ext cx="29813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Multiatribute model - Undergrad parties</a:t>
            </a:r>
            <a:endParaRPr/>
          </a:p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25" y="1839350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971" y="1310273"/>
            <a:ext cx="4138129" cy="21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1350" y="3596275"/>
            <a:ext cx="2499175" cy="24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Multiatribute model - Smartphones</a:t>
            </a:r>
            <a:endParaRPr/>
          </a:p>
        </p:txBody>
      </p:sp>
      <p:sp>
        <p:nvSpPr>
          <p:cNvPr id="308" name="Google Shape;308;p32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50" y="2936575"/>
            <a:ext cx="2565375" cy="256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313" y="1371600"/>
            <a:ext cx="2565375" cy="256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4674" y="3353099"/>
            <a:ext cx="2351100" cy="23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How Do Marketers Change Attitudes? 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1752600" y="1752600"/>
            <a:ext cx="2638425" cy="73183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Reciprocidade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4876800" y="1752600"/>
            <a:ext cx="2638425" cy="731837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Escassez</a:t>
            </a:r>
            <a:endParaRPr/>
          </a:p>
        </p:txBody>
      </p:sp>
      <p:sp>
        <p:nvSpPr>
          <p:cNvPr id="319" name="Google Shape;319;p33"/>
          <p:cNvSpPr txBox="1"/>
          <p:nvPr/>
        </p:nvSpPr>
        <p:spPr>
          <a:xfrm>
            <a:off x="1752600" y="2895600"/>
            <a:ext cx="2638425" cy="731837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Autoridade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4876800" y="2895600"/>
            <a:ext cx="2638425" cy="731837"/>
          </a:xfrm>
          <a:prstGeom prst="rect">
            <a:avLst/>
          </a:prstGeom>
          <a:solidFill>
            <a:srgbClr val="996600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Coerência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1752600" y="4038600"/>
            <a:ext cx="2638425" cy="7318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Apreço</a:t>
            </a:r>
            <a:endParaRPr/>
          </a:p>
        </p:txBody>
      </p:sp>
      <p:sp>
        <p:nvSpPr>
          <p:cNvPr id="322" name="Google Shape;322;p33"/>
          <p:cNvSpPr txBox="1"/>
          <p:nvPr/>
        </p:nvSpPr>
        <p:spPr>
          <a:xfrm>
            <a:off x="4876800" y="4038600"/>
            <a:ext cx="2638425" cy="731837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Consenso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457200" y="0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Persuasão</a:t>
            </a:r>
            <a:endParaRPr/>
          </a:p>
        </p:txBody>
      </p:sp>
      <p:sp>
        <p:nvSpPr>
          <p:cNvPr id="328" name="Google Shape;328;p34"/>
          <p:cNvSpPr txBox="1"/>
          <p:nvPr>
            <p:ph idx="1" type="body"/>
          </p:nvPr>
        </p:nvSpPr>
        <p:spPr>
          <a:xfrm>
            <a:off x="457200" y="1184275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Reciprocidade: as pessoas são mais propensas a dar quando recebem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Escassez: os produtos ficam mais atraentes quando são escassos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Autoridade: acreditamos em fontes confiáveis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Coerência: as pessoas tentam não se contradizer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Afeição: concordamos com o que admiramos ou apreciamos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Consenso: levamos em consideração o que os outros estão fazendo antes de decidir o que fazer.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When Reference Groups Are Important</a:t>
            </a:r>
            <a:endParaRPr/>
          </a:p>
        </p:txBody>
      </p:sp>
      <p:sp>
        <p:nvSpPr>
          <p:cNvPr id="334" name="Google Shape;334;p35"/>
          <p:cNvSpPr txBox="1"/>
          <p:nvPr>
            <p:ph idx="1" type="body"/>
          </p:nvPr>
        </p:nvSpPr>
        <p:spPr>
          <a:xfrm>
            <a:off x="457200" y="1371600"/>
            <a:ext cx="82296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Social power: capacity to alter the actions of others</a:t>
            </a:r>
            <a:endParaRPr/>
          </a:p>
        </p:txBody>
      </p:sp>
      <p:sp>
        <p:nvSpPr>
          <p:cNvPr id="335" name="Google Shape;335;p35"/>
          <p:cNvSpPr txBox="1"/>
          <p:nvPr/>
        </p:nvSpPr>
        <p:spPr>
          <a:xfrm>
            <a:off x="1143000" y="2743200"/>
            <a:ext cx="3200400" cy="7620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de referência</a:t>
            </a:r>
            <a:endParaRPr/>
          </a:p>
        </p:txBody>
      </p:sp>
      <p:sp>
        <p:nvSpPr>
          <p:cNvPr id="336" name="Google Shape;336;p35"/>
          <p:cNvSpPr txBox="1"/>
          <p:nvPr/>
        </p:nvSpPr>
        <p:spPr>
          <a:xfrm>
            <a:off x="5029200" y="2743200"/>
            <a:ext cx="3200400" cy="7620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legítimo</a:t>
            </a:r>
            <a:endParaRPr/>
          </a:p>
        </p:txBody>
      </p:sp>
      <p:sp>
        <p:nvSpPr>
          <p:cNvPr id="337" name="Google Shape;337;p35"/>
          <p:cNvSpPr txBox="1"/>
          <p:nvPr/>
        </p:nvSpPr>
        <p:spPr>
          <a:xfrm>
            <a:off x="1143000" y="3810000"/>
            <a:ext cx="3200400" cy="762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de informação</a:t>
            </a:r>
            <a:endParaRPr/>
          </a:p>
        </p:txBody>
      </p:sp>
      <p:sp>
        <p:nvSpPr>
          <p:cNvPr id="338" name="Google Shape;338;p35"/>
          <p:cNvSpPr txBox="1"/>
          <p:nvPr/>
        </p:nvSpPr>
        <p:spPr>
          <a:xfrm>
            <a:off x="5029200" y="3810000"/>
            <a:ext cx="3200400" cy="7620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de expertise</a:t>
            </a:r>
            <a:endParaRPr/>
          </a:p>
        </p:txBody>
      </p:sp>
      <p:sp>
        <p:nvSpPr>
          <p:cNvPr id="339" name="Google Shape;339;p35"/>
          <p:cNvSpPr txBox="1"/>
          <p:nvPr/>
        </p:nvSpPr>
        <p:spPr>
          <a:xfrm>
            <a:off x="1143000" y="4876800"/>
            <a:ext cx="3200400" cy="762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de recompensa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5029200" y="4876800"/>
            <a:ext cx="32004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Poder coercitivo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Nudging (empurrãozinho)</a:t>
            </a:r>
            <a:endParaRPr/>
          </a:p>
        </p:txBody>
      </p:sp>
      <p:sp>
        <p:nvSpPr>
          <p:cNvPr id="346" name="Google Shape;346;p36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Nudge</a:t>
            </a: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any aspect of the choice architecture that alters people's behavior in a predictable way, without forbidding any options or significantly changing their economic incentives.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0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0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0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 nudge must preserve freedom of choice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0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If an intervention imposes material costs or incentives on choosers, it is not a nudge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0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Subsidy, tax, fine, jail sentence: are not nudges</a:t>
            </a:r>
            <a:endParaRPr/>
          </a:p>
          <a:p>
            <a:pPr indent="-10287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spcBef>
                <a:spcPts val="96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38200"/>
            <a:ext cx="8077200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7"/>
          <p:cNvSpPr txBox="1"/>
          <p:nvPr/>
        </p:nvSpPr>
        <p:spPr>
          <a:xfrm>
            <a:off x="1295400" y="1524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Nudging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/>
        </p:nvSpPr>
        <p:spPr>
          <a:xfrm>
            <a:off x="1295400" y="1524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Nudging</a:t>
            </a:r>
            <a:endParaRPr/>
          </a:p>
        </p:txBody>
      </p:sp>
      <p:pic>
        <p:nvPicPr>
          <p:cNvPr id="358" name="Google Shape;3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390650"/>
            <a:ext cx="6781800" cy="442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/>
          <p:nvPr/>
        </p:nvSpPr>
        <p:spPr>
          <a:xfrm>
            <a:off x="1295400" y="1524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Nudging</a:t>
            </a:r>
            <a:endParaRPr/>
          </a:p>
        </p:txBody>
      </p:sp>
      <p:pic>
        <p:nvPicPr>
          <p:cNvPr id="364" name="Google Shape;3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8800"/>
            <a:ext cx="7977187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