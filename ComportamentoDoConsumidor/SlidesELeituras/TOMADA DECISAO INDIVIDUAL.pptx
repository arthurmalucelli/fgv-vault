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5"/>
    <p:sldMasterId id="2147483653" r:id="rId6"/>
    <p:sldMasterId id="214748365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BE9E1F-5B3F-43AF-998B-728345D2F9F5}">
  <a:tblStyle styleId="{0FBE9E1F-5B3F-43AF-998B-728345D2F9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22" Type="http://schemas.openxmlformats.org/officeDocument/2006/relationships/slide" Target="slides/slide14.xml"/><Relationship Id="rId44" Type="http://schemas.openxmlformats.org/officeDocument/2006/relationships/slide" Target="slides/slide36.xml"/><Relationship Id="rId21" Type="http://schemas.openxmlformats.org/officeDocument/2006/relationships/slide" Target="slides/slide13.xml"/><Relationship Id="rId43" Type="http://schemas.openxmlformats.org/officeDocument/2006/relationships/slide" Target="slides/slide35.xml"/><Relationship Id="rId24" Type="http://schemas.openxmlformats.org/officeDocument/2006/relationships/slide" Target="slides/slide16.xml"/><Relationship Id="rId46" Type="http://schemas.openxmlformats.org/officeDocument/2006/relationships/slide" Target="slides/slide38.xml"/><Relationship Id="rId23" Type="http://schemas.openxmlformats.org/officeDocument/2006/relationships/slide" Target="slides/slide15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47" Type="http://schemas.openxmlformats.org/officeDocument/2006/relationships/slide" Target="slides/slide39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fb7d60e573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fb7d60e57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fb7d60e573_0_3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72d93673b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72d93673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172d93673ba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77d4a12d8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77d4a12d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177d4a12d8a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72d93673ba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72d93673b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172d93673ba_0_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72d93673ba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72d93673b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172d93673ba_0_1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72d93673ba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72d93673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172d93673ba_0_2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72d93673ba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72d93673b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172d93673ba_0_2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72d93673ba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72d93673b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172d93673ba_0_3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72d93673ba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72d93673b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172d93673ba_0_4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72d93673ba_0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72d93673b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172d93673ba_0_4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77d4a12d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177d4a12d8a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7a616a63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17a616a633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aea4cde31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aea4cde3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aea4cde31d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41960" lvl="0" marL="457200" algn="l">
              <a:spcBef>
                <a:spcPts val="112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1pPr>
            <a:lvl2pPr indent="-441960" lvl="1" marL="914400" algn="l">
              <a:spcBef>
                <a:spcPts val="56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2pPr>
            <a:lvl3pPr indent="-441960" lvl="2" marL="1371600" algn="l">
              <a:spcBef>
                <a:spcPts val="56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3pPr>
            <a:lvl4pPr indent="-365760" lvl="3" marL="18288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4pPr>
            <a:lvl5pPr indent="-365760" lvl="4" marL="22860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5pPr>
            <a:lvl6pPr indent="-365760" lvl="5" marL="27432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6pPr>
            <a:lvl7pPr indent="-365760" lvl="6" marL="32004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7pPr>
            <a:lvl8pPr indent="-365760" lvl="7" marL="3657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8pPr>
            <a:lvl9pPr indent="-365760" lvl="8" marL="41148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Verdana"/>
                <a:ea typeface="Verdana"/>
                <a:cs typeface="Verdana"/>
                <a:sym typeface="Verdan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16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92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680"/>
              <a:buFont typeface="Arial"/>
              <a:buNone/>
              <a:defRPr sz="1400"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38100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457200" y="1143000"/>
            <a:ext cx="8077200" cy="0"/>
          </a:xfrm>
          <a:prstGeom prst="straightConnector1">
            <a:avLst/>
          </a:prstGeom>
          <a:noFill/>
          <a:ln cap="flat" cmpd="sng" w="63500">
            <a:solidFill>
              <a:srgbClr val="6699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" name="Google Shape;11;p1"/>
          <p:cNvSpPr txBox="1"/>
          <p:nvPr/>
        </p:nvSpPr>
        <p:spPr>
          <a:xfrm>
            <a:off x="0" y="5486400"/>
            <a:ext cx="228600" cy="13716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0" y="4114800"/>
            <a:ext cx="228600" cy="1371600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371600"/>
            <a:ext cx="228600" cy="13716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14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14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148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148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148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148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148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148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4"/>
          <p:cNvCxnSpPr/>
          <p:nvPr/>
        </p:nvCxnSpPr>
        <p:spPr>
          <a:xfrm>
            <a:off x="457200" y="1143000"/>
            <a:ext cx="8077200" cy="0"/>
          </a:xfrm>
          <a:prstGeom prst="straightConnector1">
            <a:avLst/>
          </a:prstGeom>
          <a:noFill/>
          <a:ln cap="flat" cmpd="sng" w="63500">
            <a:solidFill>
              <a:srgbClr val="6699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" name="Google Shape;27;p4"/>
          <p:cNvSpPr txBox="1"/>
          <p:nvPr/>
        </p:nvSpPr>
        <p:spPr>
          <a:xfrm>
            <a:off x="0" y="5486400"/>
            <a:ext cx="228600" cy="13716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0" y="4114800"/>
            <a:ext cx="228600" cy="1371600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0" y="1371600"/>
            <a:ext cx="228600" cy="13716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533400" y="5715000"/>
            <a:ext cx="609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14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14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148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148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148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148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148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148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6"/>
          <p:cNvCxnSpPr/>
          <p:nvPr/>
        </p:nvCxnSpPr>
        <p:spPr>
          <a:xfrm>
            <a:off x="457200" y="1143000"/>
            <a:ext cx="8077200" cy="0"/>
          </a:xfrm>
          <a:prstGeom prst="straightConnector1">
            <a:avLst/>
          </a:prstGeom>
          <a:noFill/>
          <a:ln cap="flat" cmpd="sng" w="63500">
            <a:solidFill>
              <a:srgbClr val="6699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3" name="Google Shape;43;p6"/>
          <p:cNvSpPr txBox="1"/>
          <p:nvPr/>
        </p:nvSpPr>
        <p:spPr>
          <a:xfrm>
            <a:off x="0" y="5486400"/>
            <a:ext cx="228600" cy="13716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 txBox="1"/>
          <p:nvPr/>
        </p:nvSpPr>
        <p:spPr>
          <a:xfrm>
            <a:off x="0" y="4114800"/>
            <a:ext cx="228600" cy="1371600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0" y="1371600"/>
            <a:ext cx="228600" cy="13716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14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14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148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148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148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148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148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148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  <a:defRPr b="1" i="0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38100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Relationship Id="rId4" Type="http://schemas.openxmlformats.org/officeDocument/2006/relationships/image" Target="../media/image3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38.png"/><Relationship Id="rId5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46.png"/><Relationship Id="rId5" Type="http://schemas.openxmlformats.org/officeDocument/2006/relationships/image" Target="../media/image39.png"/><Relationship Id="rId6" Type="http://schemas.openxmlformats.org/officeDocument/2006/relationships/image" Target="../media/image3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Tipos de decisão dos consumidores</a:t>
            </a:r>
            <a:endParaRPr/>
          </a:p>
        </p:txBody>
      </p:sp>
      <p:pic>
        <p:nvPicPr>
          <p:cNvPr id="62" name="Google Shape;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085975"/>
            <a:ext cx="80772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Envolvimento</a:t>
            </a:r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11287"/>
            <a:ext cx="7772400" cy="491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Tabela 2.1 Escala para medir o envolvimento</a:t>
            </a:r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489075"/>
            <a:ext cx="6553200" cy="45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Papéis desempenhados</a:t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1295400" y="1752600"/>
            <a:ext cx="6629400" cy="909637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Iniciador</a:t>
            </a:r>
            <a:endParaRPr/>
          </a:p>
        </p:txBody>
      </p:sp>
      <p:sp>
        <p:nvSpPr>
          <p:cNvPr id="81" name="Google Shape;81;p11"/>
          <p:cNvSpPr txBox="1"/>
          <p:nvPr/>
        </p:nvSpPr>
        <p:spPr>
          <a:xfrm>
            <a:off x="1295400" y="2714625"/>
            <a:ext cx="6629400" cy="909637"/>
          </a:xfrm>
          <a:prstGeom prst="rect">
            <a:avLst/>
          </a:prstGeom>
          <a:solidFill>
            <a:srgbClr val="33CCCC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Guardião</a:t>
            </a:r>
            <a:endParaRPr/>
          </a:p>
        </p:txBody>
      </p:sp>
      <p:sp>
        <p:nvSpPr>
          <p:cNvPr id="82" name="Google Shape;82;p11"/>
          <p:cNvSpPr txBox="1"/>
          <p:nvPr/>
        </p:nvSpPr>
        <p:spPr>
          <a:xfrm>
            <a:off x="1295400" y="3665537"/>
            <a:ext cx="6629400" cy="909637"/>
          </a:xfrm>
          <a:prstGeom prst="rect">
            <a:avLst/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Influenciador</a:t>
            </a:r>
            <a:endParaRPr/>
          </a:p>
        </p:txBody>
      </p:sp>
      <p:sp>
        <p:nvSpPr>
          <p:cNvPr id="83" name="Google Shape;83;p11"/>
          <p:cNvSpPr txBox="1"/>
          <p:nvPr/>
        </p:nvSpPr>
        <p:spPr>
          <a:xfrm>
            <a:off x="1295400" y="5638800"/>
            <a:ext cx="6629400" cy="909637"/>
          </a:xfrm>
          <a:prstGeom prst="rect">
            <a:avLst/>
          </a:prstGeom>
          <a:solidFill>
            <a:srgbClr val="00B0F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/>
          </a:p>
        </p:txBody>
      </p:sp>
      <p:sp>
        <p:nvSpPr>
          <p:cNvPr id="84" name="Google Shape;84;p11"/>
          <p:cNvSpPr txBox="1"/>
          <p:nvPr/>
        </p:nvSpPr>
        <p:spPr>
          <a:xfrm>
            <a:off x="1295400" y="4648200"/>
            <a:ext cx="6629400" cy="909637"/>
          </a:xfrm>
          <a:prstGeom prst="rect">
            <a:avLst/>
          </a:prstGeom>
          <a:solidFill>
            <a:srgbClr val="92D05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Comprador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Exercicio em grupos</a:t>
            </a:r>
            <a:endParaRPr/>
          </a:p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1960" lvl="0" marL="457200" rtl="0" algn="l">
              <a:spcBef>
                <a:spcPts val="1120"/>
              </a:spcBef>
              <a:spcAft>
                <a:spcPts val="0"/>
              </a:spcAft>
              <a:buSzPts val="3360"/>
              <a:buChar char="•"/>
            </a:pPr>
            <a:r>
              <a:rPr lang="en-US"/>
              <a:t>Vamos mapear o processo de tomada de decisão de compra de uma viagem de férias</a:t>
            </a:r>
            <a:endParaRPr/>
          </a:p>
          <a:p>
            <a:pPr indent="-441960" lvl="0" marL="457200" rtl="0" algn="l">
              <a:spcBef>
                <a:spcPts val="0"/>
              </a:spcBef>
              <a:spcAft>
                <a:spcPts val="0"/>
              </a:spcAft>
              <a:buSzPts val="3360"/>
              <a:buChar char="•"/>
            </a:pPr>
            <a:r>
              <a:rPr lang="en-US"/>
              <a:t>Depois de mapear o processo de decisão, mapeie também os papéis de compra e em que etapa da decisão eles atuam</a:t>
            </a:r>
            <a:endParaRPr/>
          </a:p>
        </p:txBody>
      </p:sp>
      <p:pic>
        <p:nvPicPr>
          <p:cNvPr id="92" name="Google Shape;9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825" y="3933025"/>
            <a:ext cx="4213200" cy="280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Tomada de decisão cognitiva</a:t>
            </a:r>
            <a:endParaRPr/>
          </a:p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 compra realizada pelo consumidor é uma resposta a um problema</a:t>
            </a:r>
            <a:endParaRPr/>
          </a:p>
          <a:p>
            <a:pPr indent="-10287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20" lvl="0" marL="342900" rtl="0" algn="l">
              <a:spcBef>
                <a:spcPts val="960"/>
              </a:spcBef>
              <a:spcAft>
                <a:spcPts val="0"/>
              </a:spcAft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4225" y="1847850"/>
            <a:ext cx="3200400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Regras não compensatórias (decisões habituais ou emocionais)</a:t>
            </a:r>
            <a:endParaRPr/>
          </a:p>
        </p:txBody>
      </p:sp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Atalho para as escolhas:  pessoas que estão menos familiarizadas com uma categoria de produto ou não estão muito motivadas para processar informações complexas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b="1" i="0" lang="en-US" sz="2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Um produto com baixa posição em um atributo não consegue compensar esta posição sendo melhor em outro atributo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None/>
            </a:pPr>
            <a:r>
              <a:t/>
            </a:r>
            <a:endParaRPr b="1" i="0" sz="20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Regra lexicográfica: seleciona a marca que é a melhor no atributo mais importante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Eliminação por aspectos: seleciona a marca que é a melhor no atributo mais importante, mas impõe atalhos (restrições)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i="0" lang="en-US" sz="20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Regra conjuntiva (processamento por marca): a marca será escolhida se satisfizer todos os atalhos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14809" l="23859" r="18637" t="12279"/>
          <a:stretch/>
        </p:blipFill>
        <p:spPr>
          <a:xfrm>
            <a:off x="1298100" y="1049268"/>
            <a:ext cx="6886650" cy="4911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19948" l="18288" r="16768" t="14990"/>
          <a:stretch/>
        </p:blipFill>
        <p:spPr>
          <a:xfrm>
            <a:off x="746989" y="557925"/>
            <a:ext cx="6177111" cy="57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122400" y="2924975"/>
            <a:ext cx="1751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02124"/>
                </a:solidFill>
                <a:highlight>
                  <a:srgbClr val="FFFFFF"/>
                </a:highlight>
              </a:rPr>
              <a:t>Definition. The conjunctive rule suggests that </a:t>
            </a:r>
            <a:r>
              <a:rPr b="1" lang="en-US" sz="1200">
                <a:solidFill>
                  <a:srgbClr val="202124"/>
                </a:solidFill>
                <a:highlight>
                  <a:srgbClr val="FFFFFF"/>
                </a:highlight>
              </a:rPr>
              <a:t>consumers establish a minimum acceptable level for each choice criterion and accept an alternative only if it equals or exceeds the minimum cutoff level for every criterion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13683" l="23647" r="19699" t="9276"/>
          <a:stretch/>
        </p:blipFill>
        <p:spPr>
          <a:xfrm>
            <a:off x="752175" y="616650"/>
            <a:ext cx="6498250" cy="49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 b="12549" l="25123" r="19699" t="12802"/>
          <a:stretch/>
        </p:blipFill>
        <p:spPr>
          <a:xfrm>
            <a:off x="816600" y="747475"/>
            <a:ext cx="6433824" cy="489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 b="9223" l="22625" r="22620" t="7088"/>
          <a:stretch/>
        </p:blipFill>
        <p:spPr>
          <a:xfrm>
            <a:off x="1279695" y="838200"/>
            <a:ext cx="6026781" cy="518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20"/>
          <p:cNvPicPr preferRelativeResize="0"/>
          <p:nvPr/>
        </p:nvPicPr>
        <p:blipFill rotWithShape="1">
          <a:blip r:embed="rId3">
            <a:alphaModFix/>
          </a:blip>
          <a:srcRect b="13681" l="24069" r="20332" t="10401"/>
          <a:stretch/>
        </p:blipFill>
        <p:spPr>
          <a:xfrm>
            <a:off x="1386711" y="822200"/>
            <a:ext cx="6370576" cy="489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3">
            <a:alphaModFix/>
          </a:blip>
          <a:srcRect b="13716" l="24276" r="20122" t="13789"/>
          <a:stretch/>
        </p:blipFill>
        <p:spPr>
          <a:xfrm>
            <a:off x="1513826" y="1143000"/>
            <a:ext cx="6596176" cy="483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 b="14052" l="24069" r="21391" t="10403"/>
          <a:stretch/>
        </p:blipFill>
        <p:spPr>
          <a:xfrm>
            <a:off x="1623930" y="710075"/>
            <a:ext cx="6280547" cy="489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6553200" y="6477000"/>
            <a:ext cx="2133600" cy="2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16310" l="24700" r="20967" t="12282"/>
          <a:stretch/>
        </p:blipFill>
        <p:spPr>
          <a:xfrm>
            <a:off x="1505820" y="803525"/>
            <a:ext cx="6492054" cy="479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Alternativas hipóteticas para uma TV</a:t>
            </a:r>
            <a:endParaRPr/>
          </a:p>
        </p:txBody>
      </p:sp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675" y="1263300"/>
            <a:ext cx="4625375" cy="28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/>
        </p:nvSpPr>
        <p:spPr>
          <a:xfrm>
            <a:off x="6725800" y="1850825"/>
            <a:ext cx="2225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 seria a marca escolhida na regra: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Compensatória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Conjuntiva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Eliminação por aspectos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lexicogáfica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Disjuntiva</a:t>
            </a:r>
            <a:endParaRPr/>
          </a:p>
        </p:txBody>
      </p:sp>
      <p:graphicFrame>
        <p:nvGraphicFramePr>
          <p:cNvPr id="186" name="Google Shape;186;p24"/>
          <p:cNvGraphicFramePr/>
          <p:nvPr/>
        </p:nvGraphicFramePr>
        <p:xfrm>
          <a:off x="638525" y="440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{0FBE9E1F-5B3F-43AF-998B-728345D2F9F5}</a:tableStyleId>
              </a:tblPr>
              <a:tblGrid>
                <a:gridCol w="1843050"/>
                <a:gridCol w="1843050"/>
              </a:tblGrid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Ranking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Nota de Corte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Tamanho de Tela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Estéreo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Ruim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Reputação da Marca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Programação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Sinais a Cabo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Boa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Timer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Alternativas hipóteticas para uma TV</a:t>
            </a:r>
            <a:endParaRPr/>
          </a:p>
        </p:txBody>
      </p:sp>
      <p:pic>
        <p:nvPicPr>
          <p:cNvPr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675" y="1263300"/>
            <a:ext cx="4625375" cy="28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 txBox="1"/>
          <p:nvPr/>
        </p:nvSpPr>
        <p:spPr>
          <a:xfrm>
            <a:off x="6725800" y="1850825"/>
            <a:ext cx="2225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 seria a marca escolhida na regra: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Compensatória (precision)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Conjuntiva (prime wave))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Eliminação por aspectos (prime wave)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lexicogáfica (precision)</a:t>
            </a:r>
            <a:endParaRPr/>
          </a:p>
        </p:txBody>
      </p:sp>
      <p:graphicFrame>
        <p:nvGraphicFramePr>
          <p:cNvPr id="194" name="Google Shape;194;p25"/>
          <p:cNvGraphicFramePr/>
          <p:nvPr/>
        </p:nvGraphicFramePr>
        <p:xfrm>
          <a:off x="638525" y="440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{0FBE9E1F-5B3F-43AF-998B-728345D2F9F5}</a:tableStyleId>
              </a:tblPr>
              <a:tblGrid>
                <a:gridCol w="1843050"/>
                <a:gridCol w="1843050"/>
              </a:tblGrid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Ranking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Nota de Corte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Tamanho de Tela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Estéreo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Ruim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Reputação da Marca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Programação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Sinais a Cabo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Boa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Timer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Alternativas hipóteticas para uma TV</a:t>
            </a:r>
            <a:endParaRPr/>
          </a:p>
        </p:txBody>
      </p:sp>
      <p:pic>
        <p:nvPicPr>
          <p:cNvPr id="200" name="Google Shape;2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675" y="1263300"/>
            <a:ext cx="4625375" cy="28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6725800" y="1850825"/>
            <a:ext cx="2225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 seria a marca escolhida na regra: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Disjunitiva (Kamashita)</a:t>
            </a:r>
            <a:endParaRPr/>
          </a:p>
        </p:txBody>
      </p:sp>
      <p:graphicFrame>
        <p:nvGraphicFramePr>
          <p:cNvPr id="202" name="Google Shape;202;p26"/>
          <p:cNvGraphicFramePr/>
          <p:nvPr/>
        </p:nvGraphicFramePr>
        <p:xfrm>
          <a:off x="1760313" y="486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{0FBE9E1F-5B3F-43AF-998B-728345D2F9F5}</a:tableStyleId>
              </a:tblPr>
              <a:tblGrid>
                <a:gridCol w="1843050"/>
                <a:gridCol w="1843050"/>
              </a:tblGrid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Ranking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Minimo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Tamanho de Tela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Excelente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Estéreo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Boa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Timer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Boa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Cinco tipos de Risco Percebido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1752600" y="1295400"/>
            <a:ext cx="5943600" cy="892175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Risco Monetário</a:t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1752600" y="2286000"/>
            <a:ext cx="5943600" cy="892175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Risco Funcional</a:t>
            </a:r>
            <a:endParaRPr/>
          </a:p>
        </p:txBody>
      </p:sp>
      <p:sp>
        <p:nvSpPr>
          <p:cNvPr id="210" name="Google Shape;210;p27"/>
          <p:cNvSpPr txBox="1"/>
          <p:nvPr/>
        </p:nvSpPr>
        <p:spPr>
          <a:xfrm>
            <a:off x="1752600" y="3276600"/>
            <a:ext cx="5943600" cy="892175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Risco Físico</a:t>
            </a: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1752600" y="4267200"/>
            <a:ext cx="5943600" cy="892175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Risco Social</a:t>
            </a: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1752600" y="5257800"/>
            <a:ext cx="5943600" cy="892175"/>
          </a:xfrm>
          <a:prstGeom prst="rect">
            <a:avLst/>
          </a:prstGeom>
          <a:solidFill>
            <a:srgbClr val="91E5E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Risco Psicológico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Risco Monetário</a:t>
            </a:r>
            <a:endParaRPr/>
          </a:p>
        </p:txBody>
      </p:sp>
      <p:pic>
        <p:nvPicPr>
          <p:cNvPr id="218" name="Google Shape;2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438400"/>
            <a:ext cx="502920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Risco Funcional</a:t>
            </a:r>
            <a:endParaRPr/>
          </a:p>
        </p:txBody>
      </p:sp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752600"/>
            <a:ext cx="34861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2400300"/>
            <a:ext cx="28575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609600" y="314325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RISCO FÍSICO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722312" y="2906712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000"/>
          </a:p>
        </p:txBody>
      </p:sp>
      <p:pic>
        <p:nvPicPr>
          <p:cNvPr descr="http://s.glbimg.com/jo/g1/f/original/2012/01/24/barriga.jpg"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524000"/>
            <a:ext cx="28575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universofeminino.info/blog/wp-content/uploads/2011/05/cirurgias-plasticas-mal-sucedidas-1.jpg" id="233" name="Google Shape;23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828800"/>
            <a:ext cx="396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Risco Social</a:t>
            </a:r>
            <a:endParaRPr/>
          </a:p>
        </p:txBody>
      </p:sp>
      <p:pic>
        <p:nvPicPr>
          <p:cNvPr id="239" name="Google Shape;2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062" y="1833562"/>
            <a:ext cx="509587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Reconhecimento do problema</a:t>
            </a:r>
            <a:endParaRPr/>
          </a:p>
        </p:txBody>
      </p:sp>
      <p:pic>
        <p:nvPicPr>
          <p:cNvPr id="245" name="Google Shape;2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725" y="1752600"/>
            <a:ext cx="719455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Exercício</a:t>
            </a:r>
            <a:endParaRPr/>
          </a:p>
        </p:txBody>
      </p:sp>
      <p:sp>
        <p:nvSpPr>
          <p:cNvPr id="252" name="Google Shape;252;p33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rPr lang="en-US"/>
              <a:t>Descreva o processo de tomada de decisão para a escolha de um produto Antigripal infantil</a:t>
            </a:r>
            <a:endParaRPr/>
          </a:p>
        </p:txBody>
      </p:sp>
      <p:pic>
        <p:nvPicPr>
          <p:cNvPr id="253" name="Google Shape;2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3640538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0063" y="2809413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7325" y="3817213"/>
            <a:ext cx="30289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Avaliação de alternativas: Níveis de abstração em categorização de produtos</a:t>
            </a:r>
            <a:endParaRPr/>
          </a:p>
        </p:txBody>
      </p:sp>
      <p:pic>
        <p:nvPicPr>
          <p:cNvPr id="261" name="Google Shape;2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275" y="1981200"/>
            <a:ext cx="804545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Implicações da categorização de produtos</a:t>
            </a: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Posicionamento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Identificação dos concorrentes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Criação de exemplares da categoria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Localização de produtos na loja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2973387" cy="3062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0587" y="687387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3712" y="571500"/>
            <a:ext cx="20002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3962400"/>
            <a:ext cx="252412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06912" y="3956050"/>
            <a:ext cx="3927475" cy="2319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1014412"/>
            <a:ext cx="85725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Tomada de decisão habitual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Julgamento mental</a:t>
            </a:r>
            <a:endParaRPr/>
          </a:p>
        </p:txBody>
      </p:sp>
      <p:sp>
        <p:nvSpPr>
          <p:cNvPr id="292" name="Google Shape;292;p39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As decisões são influenciadas pelo modo como um problema é apresentado (estruturação ou framing)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Heurística – atalhos mentais</a:t>
            </a:r>
            <a:endParaRPr/>
          </a:p>
        </p:txBody>
      </p:sp>
      <p:sp>
        <p:nvSpPr>
          <p:cNvPr id="298" name="Google Shape;298;p40"/>
          <p:cNvSpPr txBox="1"/>
          <p:nvPr/>
        </p:nvSpPr>
        <p:spPr>
          <a:xfrm>
            <a:off x="593725" y="1073150"/>
            <a:ext cx="5199062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mentais que levam a uma decisão rápida</a:t>
            </a:r>
            <a:endParaRPr/>
          </a:p>
        </p:txBody>
      </p:sp>
      <p:sp>
        <p:nvSpPr>
          <p:cNvPr id="299" name="Google Shape;299;p40"/>
          <p:cNvSpPr txBox="1"/>
          <p:nvPr/>
        </p:nvSpPr>
        <p:spPr>
          <a:xfrm>
            <a:off x="1447800" y="2362200"/>
            <a:ext cx="5040312" cy="3108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Covariação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País de origem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Nomes de marcas familiares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Preços mais altos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Efeito país de origem</a:t>
            </a:r>
            <a:endParaRPr/>
          </a:p>
        </p:txBody>
      </p:sp>
      <p:sp>
        <p:nvSpPr>
          <p:cNvPr id="305" name="Google Shape;305;p41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9540" lvl="0" marL="342900" rtl="0" algn="l">
              <a:spcBef>
                <a:spcPts val="0"/>
              </a:spcBef>
              <a:spcAft>
                <a:spcPts val="0"/>
              </a:spcAft>
              <a:buSzPts val="3360"/>
              <a:buFont typeface="Arial"/>
              <a:buNone/>
            </a:pPr>
            <a:r>
              <a:t/>
            </a:r>
            <a:endParaRPr sz="2800"/>
          </a:p>
        </p:txBody>
      </p:sp>
      <p:pic>
        <p:nvPicPr>
          <p:cNvPr id="306" name="Google Shape;30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75260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752600"/>
            <a:ext cx="24765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1981200"/>
            <a:ext cx="2032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0386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200" y="396240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Busca por variedade</a:t>
            </a:r>
            <a:endParaRPr/>
          </a:p>
        </p:txBody>
      </p:sp>
      <p:sp>
        <p:nvSpPr>
          <p:cNvPr id="316" name="Google Shape;316;p4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9540" lvl="0" marL="342900" rtl="0" algn="l">
              <a:spcBef>
                <a:spcPts val="0"/>
              </a:spcBef>
              <a:spcAft>
                <a:spcPts val="0"/>
              </a:spcAft>
              <a:buSzPts val="3360"/>
              <a:buFont typeface="Arial"/>
              <a:buNone/>
            </a:pPr>
            <a:r>
              <a:t/>
            </a:r>
            <a:endParaRPr sz="2800"/>
          </a:p>
        </p:txBody>
      </p:sp>
      <p:pic>
        <p:nvPicPr>
          <p:cNvPr descr="http://static.freepik.com/fotos-gratis/excelente-variedade-de-carros-material-vetor--2_15-2101.jpg" id="317" name="Google Shape;31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371600"/>
            <a:ext cx="82296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Tomada de decisão afetiva</a:t>
            </a:r>
            <a:endParaRPr/>
          </a:p>
        </p:txBody>
      </p:sp>
      <p:pic>
        <p:nvPicPr>
          <p:cNvPr id="323" name="Google Shape;32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52600"/>
            <a:ext cx="3382962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1752600"/>
            <a:ext cx="3067050" cy="204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4343400"/>
            <a:ext cx="3249612" cy="21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7800" y="4319587"/>
            <a:ext cx="3195637" cy="21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Autorregulação</a:t>
            </a:r>
            <a:endParaRPr/>
          </a:p>
        </p:txBody>
      </p:sp>
      <p:pic>
        <p:nvPicPr>
          <p:cNvPr id="332" name="Google Shape;33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057400"/>
            <a:ext cx="6448425" cy="30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Viés de Omissão e do Presente (default and present bias)</a:t>
            </a:r>
            <a:endParaRPr/>
          </a:p>
        </p:txBody>
      </p:sp>
      <p:pic>
        <p:nvPicPr>
          <p:cNvPr id="338" name="Google Shape;33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43062"/>
            <a:ext cx="4945062" cy="216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4572000"/>
            <a:ext cx="4011612" cy="17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533400"/>
            <a:ext cx="8801100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4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