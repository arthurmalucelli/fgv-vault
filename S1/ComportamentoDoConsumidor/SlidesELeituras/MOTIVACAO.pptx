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a54811ee2d_0_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" name="Google Shape;23;ga54811ee2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ga54811ee2d_0_12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a54811ee2d_0_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" name="Google Shape;31;ga54811ee2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ga54811ee2d_0_19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ed93027c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ged93027c05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ed93027c0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ged93027c05_0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ed93027c05_0_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ed93027c0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https://scottbarrykaufman.com/sailboat-metaphor/</a:t>
            </a:r>
            <a:endParaRPr/>
          </a:p>
        </p:txBody>
      </p:sp>
      <p:sp>
        <p:nvSpPr>
          <p:cNvPr id="66" name="Google Shape;66;ged93027c05_0_16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ed93027c05_0_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ed93027c0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ed93027c05_0_23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ed93027c05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ged93027c05_0_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a54811ee2d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a54811ee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a54811ee2d_0_0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" type="body"/>
          </p:nvPr>
        </p:nvSpPr>
        <p:spPr>
          <a:xfrm>
            <a:off x="457200" y="1371600"/>
            <a:ext cx="8229600" cy="4759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41960" lvl="0" marL="457200" algn="l">
              <a:spcBef>
                <a:spcPts val="1120"/>
              </a:spcBef>
              <a:spcAft>
                <a:spcPts val="0"/>
              </a:spcAft>
              <a:buSzPts val="3360"/>
              <a:buFont typeface="Arial"/>
              <a:buChar char="•"/>
              <a:defRPr sz="2800"/>
            </a:lvl1pPr>
            <a:lvl2pPr indent="-441960" lvl="1" marL="914400" algn="l">
              <a:spcBef>
                <a:spcPts val="560"/>
              </a:spcBef>
              <a:spcAft>
                <a:spcPts val="0"/>
              </a:spcAft>
              <a:buSzPts val="3360"/>
              <a:buFont typeface="Arial"/>
              <a:buChar char="•"/>
              <a:defRPr sz="2800"/>
            </a:lvl2pPr>
            <a:lvl3pPr indent="-441960" lvl="2" marL="1371600" algn="l">
              <a:spcBef>
                <a:spcPts val="560"/>
              </a:spcBef>
              <a:spcAft>
                <a:spcPts val="0"/>
              </a:spcAft>
              <a:buSzPts val="3360"/>
              <a:buFont typeface="Arial"/>
              <a:buChar char="•"/>
              <a:defRPr sz="2800"/>
            </a:lvl3pPr>
            <a:lvl4pPr indent="-365760" lvl="3" marL="18288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4pPr>
            <a:lvl5pPr indent="-365760" lvl="4" marL="22860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5pPr>
            <a:lvl6pPr indent="-365760" lvl="5" marL="27432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6pPr>
            <a:lvl7pPr indent="-365760" lvl="6" marL="32004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7pPr>
            <a:lvl8pPr indent="-365760" lvl="7" marL="36576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8pPr>
            <a:lvl9pPr indent="-365760" lvl="8" marL="4114800" algn="l">
              <a:spcBef>
                <a:spcPts val="360"/>
              </a:spcBef>
              <a:spcAft>
                <a:spcPts val="0"/>
              </a:spcAft>
              <a:buSzPts val="2160"/>
              <a:buChar char="•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1"/>
          <p:cNvCxnSpPr/>
          <p:nvPr/>
        </p:nvCxnSpPr>
        <p:spPr>
          <a:xfrm>
            <a:off x="457200" y="1143000"/>
            <a:ext cx="8077200" cy="0"/>
          </a:xfrm>
          <a:prstGeom prst="straightConnector1">
            <a:avLst/>
          </a:prstGeom>
          <a:noFill/>
          <a:ln cap="flat" cmpd="sng" w="63500">
            <a:solidFill>
              <a:srgbClr val="6699FF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11" name="Google Shape;11;p1"/>
          <p:cNvSpPr txBox="1"/>
          <p:nvPr/>
        </p:nvSpPr>
        <p:spPr>
          <a:xfrm>
            <a:off x="0" y="5486400"/>
            <a:ext cx="228600" cy="1371600"/>
          </a:xfrm>
          <a:prstGeom prst="rect">
            <a:avLst/>
          </a:prstGeom>
          <a:solidFill>
            <a:srgbClr val="0000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0" y="4114800"/>
            <a:ext cx="228600" cy="1371600"/>
          </a:xfrm>
          <a:prstGeom prst="rect">
            <a:avLst/>
          </a:prstGeom>
          <a:solidFill>
            <a:srgbClr val="9966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0" y="2743200"/>
            <a:ext cx="228600" cy="13716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0" y="1371600"/>
            <a:ext cx="228600" cy="1371600"/>
          </a:xfrm>
          <a:prstGeom prst="rect">
            <a:avLst/>
          </a:prstGeom>
          <a:solidFill>
            <a:srgbClr val="CC00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"/>
          <p:cNvSpPr txBox="1"/>
          <p:nvPr/>
        </p:nvSpPr>
        <p:spPr>
          <a:xfrm>
            <a:off x="0" y="0"/>
            <a:ext cx="228600" cy="1371600"/>
          </a:xfrm>
          <a:prstGeom prst="rect">
            <a:avLst/>
          </a:prstGeom>
          <a:solidFill>
            <a:srgbClr val="808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200" u="none" cap="none" strike="noStrik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1"/>
          <p:cNvSpPr txBox="1"/>
          <p:nvPr>
            <p:ph idx="1" type="body"/>
          </p:nvPr>
        </p:nvSpPr>
        <p:spPr>
          <a:xfrm>
            <a:off x="457200" y="1371600"/>
            <a:ext cx="8229600" cy="4759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1480" lvl="0" marL="457200" marR="0" rtl="0" algn="l">
              <a:spcBef>
                <a:spcPts val="96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1148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4114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411480" lvl="3" marL="18288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411480" lvl="4" marL="22860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411480" lvl="5" marL="27432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411480" lvl="6" marL="32004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411480" lvl="7" marL="36576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411480" lvl="8" marL="4114800" marR="0" rtl="0" algn="l"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  <a:defRPr b="1" i="0" sz="24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transition spd="slow"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www.youtube.com/watch?v=EuTX9j17kBs" TargetMode="External"/><Relationship Id="rId4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"/>
          <p:cNvSpPr txBox="1"/>
          <p:nvPr>
            <p:ph type="title"/>
          </p:nvPr>
        </p:nvSpPr>
        <p:spPr>
          <a:xfrm>
            <a:off x="457200" y="277812"/>
            <a:ext cx="8229600" cy="865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Jornada do Consumidor</a:t>
            </a:r>
            <a:endParaRPr/>
          </a:p>
        </p:txBody>
      </p:sp>
      <p:sp>
        <p:nvSpPr>
          <p:cNvPr id="27" name="Google Shape;27;p3"/>
          <p:cNvSpPr txBox="1"/>
          <p:nvPr>
            <p:ph idx="1" type="body"/>
          </p:nvPr>
        </p:nvSpPr>
        <p:spPr>
          <a:xfrm>
            <a:off x="457200" y="1371600"/>
            <a:ext cx="8229600" cy="475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12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" name="Google Shape;2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3624" y="1371600"/>
            <a:ext cx="7067626" cy="541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type="title"/>
          </p:nvPr>
        </p:nvSpPr>
        <p:spPr>
          <a:xfrm>
            <a:off x="457200" y="277812"/>
            <a:ext cx="8229600" cy="865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Processo Motivacional</a:t>
            </a:r>
            <a:endParaRPr/>
          </a:p>
        </p:txBody>
      </p:sp>
      <p:sp>
        <p:nvSpPr>
          <p:cNvPr id="35" name="Google Shape;35;p4"/>
          <p:cNvSpPr txBox="1"/>
          <p:nvPr>
            <p:ph idx="1" type="body"/>
          </p:nvPr>
        </p:nvSpPr>
        <p:spPr>
          <a:xfrm>
            <a:off x="457200" y="1371600"/>
            <a:ext cx="8229600" cy="475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12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" name="Google Shape;36;p4" title="Buyer Behaviour - case The Big Bang Theory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0" y="1714500"/>
            <a:ext cx="5502175" cy="412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Motivação</a:t>
            </a:r>
            <a:endParaRPr/>
          </a:p>
        </p:txBody>
      </p:sp>
      <p:sp>
        <p:nvSpPr>
          <p:cNvPr id="42" name="Google Shape;42;p5"/>
          <p:cNvSpPr txBox="1"/>
          <p:nvPr>
            <p:ph idx="1" type="body"/>
          </p:nvPr>
        </p:nvSpPr>
        <p:spPr>
          <a:xfrm>
            <a:off x="457200" y="1371600"/>
            <a:ext cx="8229600" cy="4759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3360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A motivação refere-se aos processos que fazem com que as pessoas se comportem do jeito que se comportam. Ela ocorre quando uma necessidade é despertada e o consumidor deseja satisfazê-la.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folHlink"/>
              </a:buClr>
              <a:buSzPts val="3360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Assim que uma necessidade é ativada, um estado de tensão impulsiona o consumidor a tentar reduzir ou eliminar essa necessidade. </a:t>
            </a:r>
            <a:endParaRPr/>
          </a:p>
        </p:txBody>
      </p:sp>
      <p:sp>
        <p:nvSpPr>
          <p:cNvPr id="43" name="Google Shape;43;p5"/>
          <p:cNvSpPr txBox="1"/>
          <p:nvPr/>
        </p:nvSpPr>
        <p:spPr>
          <a:xfrm>
            <a:off x="70104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2-</a:t>
            </a:r>
            <a:fld id="{00000000-1234-1234-1234-123412341234}" type="slidenum">
              <a:rPr b="1" i="0" lang="en-US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44" name="Google Shape;44;p5"/>
          <p:cNvSpPr txBox="1"/>
          <p:nvPr/>
        </p:nvSpPr>
        <p:spPr>
          <a:xfrm>
            <a:off x="0" y="6324600"/>
            <a:ext cx="5791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r>
              <a:rPr b="0" i="0" lang="en-US" sz="1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r>
              <a:rPr b="0" i="0" lang="en-US" sz="1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Copyright © 2011 Pearson Education, Inc. publishing as Prentice Hall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457200" y="277812"/>
            <a:ext cx="8229600" cy="8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What Do We Need?</a:t>
            </a:r>
            <a:endParaRPr/>
          </a:p>
        </p:txBody>
      </p:sp>
      <p:sp>
        <p:nvSpPr>
          <p:cNvPr id="50" name="Google Shape;50;p6"/>
          <p:cNvSpPr txBox="1"/>
          <p:nvPr/>
        </p:nvSpPr>
        <p:spPr>
          <a:xfrm>
            <a:off x="1371600" y="1371600"/>
            <a:ext cx="6477000" cy="892200"/>
          </a:xfrm>
          <a:prstGeom prst="rect">
            <a:avLst/>
          </a:prstGeom>
          <a:solidFill>
            <a:srgbClr val="FFF6E5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8600" lIns="91425" spcFirstLastPara="1" rIns="91425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Biogenic Needs</a:t>
            </a:r>
            <a:endParaRPr/>
          </a:p>
        </p:txBody>
      </p:sp>
      <p:sp>
        <p:nvSpPr>
          <p:cNvPr id="51" name="Google Shape;51;p6"/>
          <p:cNvSpPr txBox="1"/>
          <p:nvPr/>
        </p:nvSpPr>
        <p:spPr>
          <a:xfrm>
            <a:off x="1371600" y="2438400"/>
            <a:ext cx="6477000" cy="892200"/>
          </a:xfrm>
          <a:prstGeom prst="rect">
            <a:avLst/>
          </a:prstGeom>
          <a:solidFill>
            <a:srgbClr val="FFF6E5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8600" lIns="91425" spcFirstLastPara="1" rIns="91425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Psychogenic Needs</a:t>
            </a:r>
            <a:endParaRPr/>
          </a:p>
        </p:txBody>
      </p:sp>
      <p:sp>
        <p:nvSpPr>
          <p:cNvPr id="52" name="Google Shape;52;p6"/>
          <p:cNvSpPr txBox="1"/>
          <p:nvPr/>
        </p:nvSpPr>
        <p:spPr>
          <a:xfrm>
            <a:off x="1371600" y="3505200"/>
            <a:ext cx="6477000" cy="892200"/>
          </a:xfrm>
          <a:prstGeom prst="rect">
            <a:avLst/>
          </a:prstGeom>
          <a:solidFill>
            <a:srgbClr val="FFF6E5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8600" lIns="91425" spcFirstLastPara="1" rIns="91425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Utilitarian Needs</a:t>
            </a:r>
            <a:endParaRPr/>
          </a:p>
        </p:txBody>
      </p:sp>
      <p:sp>
        <p:nvSpPr>
          <p:cNvPr id="53" name="Google Shape;53;p6"/>
          <p:cNvSpPr txBox="1"/>
          <p:nvPr/>
        </p:nvSpPr>
        <p:spPr>
          <a:xfrm>
            <a:off x="1371600" y="4572000"/>
            <a:ext cx="6477000" cy="892200"/>
          </a:xfrm>
          <a:prstGeom prst="rect">
            <a:avLst/>
          </a:prstGeom>
          <a:solidFill>
            <a:srgbClr val="FFF6E5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28600" lIns="91425" spcFirstLastPara="1" rIns="91425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Hedonic Needs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/>
          <p:nvPr>
            <p:ph type="title"/>
          </p:nvPr>
        </p:nvSpPr>
        <p:spPr>
          <a:xfrm>
            <a:off x="457200" y="277812"/>
            <a:ext cx="8229600" cy="8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Necessidades na hierarquia de Maslow</a:t>
            </a:r>
            <a:endParaRPr/>
          </a:p>
        </p:txBody>
      </p:sp>
      <p:sp>
        <p:nvSpPr>
          <p:cNvPr id="59" name="Google Shape;59;p7"/>
          <p:cNvSpPr txBox="1"/>
          <p:nvPr/>
        </p:nvSpPr>
        <p:spPr>
          <a:xfrm>
            <a:off x="503237" y="6156325"/>
            <a:ext cx="7235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600" lIns="91425" spcFirstLastPara="1" rIns="91425" wrap="square" tIns="228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Indivíduos diferem na prioridade com que classificam as necessidades</a:t>
            </a:r>
            <a:endParaRPr/>
          </a:p>
        </p:txBody>
      </p:sp>
      <p:pic>
        <p:nvPicPr>
          <p:cNvPr id="60" name="Google Shape;6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1628775"/>
            <a:ext cx="8372474" cy="44069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7"/>
          <p:cNvSpPr txBox="1"/>
          <p:nvPr/>
        </p:nvSpPr>
        <p:spPr>
          <a:xfrm>
            <a:off x="6248400" y="2438400"/>
            <a:ext cx="852600" cy="207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228600" lIns="91425" spcFirstLastPara="1" rIns="91425" wrap="square" tIns="228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7"/>
          <p:cNvSpPr txBox="1"/>
          <p:nvPr/>
        </p:nvSpPr>
        <p:spPr>
          <a:xfrm>
            <a:off x="6907212" y="5319712"/>
            <a:ext cx="1709700" cy="277800"/>
          </a:xfrm>
          <a:prstGeom prst="rect">
            <a:avLst/>
          </a:prstGeom>
          <a:solidFill>
            <a:srgbClr val="FFCCFF"/>
          </a:solidFill>
          <a:ln>
            <a:noFill/>
          </a:ln>
        </p:spPr>
        <p:txBody>
          <a:bodyPr anchorCtr="0" anchor="t" bIns="228600" lIns="91425" spcFirstLastPara="1" rIns="91425" wrap="square" tIns="228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 txBox="1"/>
          <p:nvPr>
            <p:ph type="title"/>
          </p:nvPr>
        </p:nvSpPr>
        <p:spPr>
          <a:xfrm>
            <a:off x="457200" y="277812"/>
            <a:ext cx="8229600" cy="865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Maslow revisited</a:t>
            </a:r>
            <a:endParaRPr/>
          </a:p>
        </p:txBody>
      </p:sp>
      <p:sp>
        <p:nvSpPr>
          <p:cNvPr id="69" name="Google Shape;69;p8"/>
          <p:cNvSpPr txBox="1"/>
          <p:nvPr>
            <p:ph idx="1" type="body"/>
          </p:nvPr>
        </p:nvSpPr>
        <p:spPr>
          <a:xfrm>
            <a:off x="5431250" y="1371600"/>
            <a:ext cx="3255600" cy="475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120"/>
              </a:spcBef>
              <a:spcAft>
                <a:spcPts val="0"/>
              </a:spcAft>
              <a:buNone/>
            </a:pPr>
            <a:r>
              <a:rPr lang="en-US"/>
              <a:t>Proposta de Scott Barry Kaufman</a:t>
            </a:r>
            <a:endParaRPr/>
          </a:p>
        </p:txBody>
      </p:sp>
      <p:pic>
        <p:nvPicPr>
          <p:cNvPr id="70" name="Google Shape;7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7126" y="1402900"/>
            <a:ext cx="4536076" cy="4696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457200" y="277812"/>
            <a:ext cx="8229600" cy="865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Maslow</a:t>
            </a:r>
            <a:endParaRPr/>
          </a:p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457200" y="1371600"/>
            <a:ext cx="8229600" cy="475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120"/>
              </a:spcBef>
              <a:spcAft>
                <a:spcPts val="0"/>
              </a:spcAft>
              <a:buNone/>
            </a:pPr>
            <a:r>
              <a:rPr lang="en-US"/>
              <a:t>Use a nova proposta da hierarquia de Maslow e dê exemplos de comportamentos que explicam cada um dos temas da hierarquia.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0"/>
          <p:cNvSpPr txBox="1"/>
          <p:nvPr>
            <p:ph type="title"/>
          </p:nvPr>
        </p:nvSpPr>
        <p:spPr>
          <a:xfrm>
            <a:off x="457200" y="277812"/>
            <a:ext cx="8229600" cy="8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Hierarquia de Maslow (Críticas)</a:t>
            </a:r>
            <a:endParaRPr/>
          </a:p>
        </p:txBody>
      </p:sp>
      <p:sp>
        <p:nvSpPr>
          <p:cNvPr id="83" name="Google Shape;83;p10"/>
          <p:cNvSpPr txBox="1"/>
          <p:nvPr>
            <p:ph idx="1" type="body"/>
          </p:nvPr>
        </p:nvSpPr>
        <p:spPr>
          <a:xfrm>
            <a:off x="457200" y="1371600"/>
            <a:ext cx="8229600" cy="4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</a:pPr>
            <a:r>
              <a:rPr b="1" i="0" lang="en-US" sz="24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Um produto pode satisfazer várias necessidades</a:t>
            </a:r>
            <a:endParaRPr/>
          </a:p>
          <a:p>
            <a:pPr indent="-160020" lvl="0" marL="3429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None/>
            </a:pPr>
            <a:r>
              <a:t/>
            </a:r>
            <a:endParaRPr b="1" i="0" sz="24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</a:pPr>
            <a:r>
              <a:rPr b="1" i="0" lang="en-US" sz="24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É limitada pela cultura (ordem das necessidades)</a:t>
            </a:r>
            <a:endParaRPr b="1" i="0" sz="24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429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12420" lvl="0" marL="3429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Faltam replicações e testes empíricos: correspondem à realidade? Em todas as sociedades humanas?</a:t>
            </a:r>
            <a:endParaRPr sz="2400"/>
          </a:p>
          <a:p>
            <a:pPr indent="-160020" lvl="0" marL="342900" rtl="0" algn="l">
              <a:spcBef>
                <a:spcPts val="960"/>
              </a:spcBef>
              <a:spcAft>
                <a:spcPts val="0"/>
              </a:spcAft>
              <a:buSzPts val="2880"/>
              <a:buFont typeface="Arial"/>
              <a:buNone/>
            </a:pPr>
            <a:r>
              <a:t/>
            </a:r>
            <a:endParaRPr b="1" i="0" sz="24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1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Motivação</a:t>
            </a:r>
            <a:endParaRPr/>
          </a:p>
        </p:txBody>
      </p:sp>
      <p:sp>
        <p:nvSpPr>
          <p:cNvPr id="89" name="Google Shape;89;p11"/>
          <p:cNvSpPr txBox="1"/>
          <p:nvPr>
            <p:ph idx="1" type="body"/>
          </p:nvPr>
        </p:nvSpPr>
        <p:spPr>
          <a:xfrm>
            <a:off x="457200" y="1371600"/>
            <a:ext cx="8229600" cy="4759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3360"/>
              <a:buFont typeface="Arial"/>
              <a:buChar char="•"/>
            </a:pPr>
            <a:r>
              <a:rPr b="1" i="0" lang="en-US" sz="2800" u="none" cap="none" strike="noStrik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A necessidade pode ser utilitária ou hedônica. A necessidade utilitária é um desejo de obter algum benefício funcional ou prático, como quando uma pessoa come legumes por razões nutricionais. A necessidade hedônica é aquela que envolve respostas ou fantasias emocionais, como quando uma pessoa pensa em comer um belo Sundae de chocolate com cobertura de chantilly.</a:t>
            </a:r>
            <a:endParaRPr/>
          </a:p>
          <a:p>
            <a:pPr indent="-129540" lvl="0" marL="342900" marR="0" rtl="0" algn="l">
              <a:spcBef>
                <a:spcPts val="1120"/>
              </a:spcBef>
              <a:spcAft>
                <a:spcPts val="0"/>
              </a:spcAft>
              <a:buClr>
                <a:schemeClr val="folHlink"/>
              </a:buClr>
              <a:buSzPts val="3360"/>
              <a:buFont typeface="Arial"/>
              <a:buNone/>
            </a:pPr>
            <a:r>
              <a:t/>
            </a:r>
            <a:endParaRPr b="1" i="0" sz="28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1"/>
          <p:cNvSpPr txBox="1"/>
          <p:nvPr/>
        </p:nvSpPr>
        <p:spPr>
          <a:xfrm>
            <a:off x="7010400" y="66294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2-</a:t>
            </a:r>
            <a:fld id="{00000000-1234-1234-1234-123412341234}" type="slidenum">
              <a:rPr b="1" i="0" lang="en-US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91" name="Google Shape;91;p11"/>
          <p:cNvSpPr txBox="1"/>
          <p:nvPr/>
        </p:nvSpPr>
        <p:spPr>
          <a:xfrm>
            <a:off x="0" y="6324600"/>
            <a:ext cx="5791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r>
              <a:rPr b="0" i="0" lang="en-US" sz="1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r>
              <a:rPr b="0" i="0" lang="en-US" sz="1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Copyright © 2011 Pearson Education, Inc. publishing as Prentice Hall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2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Motivação</a:t>
            </a:r>
            <a:endParaRPr/>
          </a:p>
        </p:txBody>
      </p:sp>
      <p:sp>
        <p:nvSpPr>
          <p:cNvPr id="97" name="Google Shape;97;p12"/>
          <p:cNvSpPr txBox="1"/>
          <p:nvPr>
            <p:ph idx="1" type="body"/>
          </p:nvPr>
        </p:nvSpPr>
        <p:spPr>
          <a:xfrm>
            <a:off x="457200" y="1371600"/>
            <a:ext cx="8229600" cy="4759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3360"/>
              <a:buFont typeface="Arial"/>
              <a:buChar char="•"/>
            </a:pPr>
            <a:r>
              <a:rPr b="1" i="0" lang="en-US" sz="28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Seja qual for a necessidade, existe uma discrepância entre o estado presente do consumidor e algum estado ideal. Essa discrepância gera um estado de tensão. A magnitude da tensão determina a urgência que o consumidor sente para reduzi-la. Esse grau de tensão é chamado de impulso.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folHlink"/>
              </a:buClr>
              <a:buSzPts val="3360"/>
              <a:buFont typeface="Arial"/>
              <a:buChar char="•"/>
            </a:pPr>
            <a:r>
              <a:rPr b="1" i="0" lang="en-US" sz="28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Os fatores pessoais e culturais combinam-se para formar um desejo, que é a manifestação de uma necessidade.</a:t>
            </a:r>
            <a:endParaRPr/>
          </a:p>
          <a:p>
            <a:pPr indent="-129540" lvl="0" marL="342900" marR="0" rtl="0" algn="l">
              <a:spcBef>
                <a:spcPts val="1120"/>
              </a:spcBef>
              <a:spcAft>
                <a:spcPts val="0"/>
              </a:spcAft>
              <a:buClr>
                <a:schemeClr val="folHlink"/>
              </a:buClr>
              <a:buSzPts val="3360"/>
              <a:buFont typeface="Arial"/>
              <a:buNone/>
            </a:pPr>
            <a:r>
              <a:t/>
            </a:r>
            <a:endParaRPr b="1" i="0" sz="28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70104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2-</a:t>
            </a:r>
            <a:fld id="{00000000-1234-1234-1234-123412341234}" type="slidenum">
              <a:rPr b="1" i="0" lang="en-US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99" name="Google Shape;99;p12"/>
          <p:cNvSpPr txBox="1"/>
          <p:nvPr/>
        </p:nvSpPr>
        <p:spPr>
          <a:xfrm>
            <a:off x="0" y="6324600"/>
            <a:ext cx="5791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r>
              <a:rPr b="0" i="0" lang="en-US" sz="1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r>
              <a:rPr b="0" i="0" lang="en-US" sz="1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Copyright © 2011 Pearson Education, Inc. publishing as Prentice Hall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3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Motivação</a:t>
            </a:r>
            <a:endParaRPr/>
          </a:p>
        </p:txBody>
      </p:sp>
      <p:sp>
        <p:nvSpPr>
          <p:cNvPr id="105" name="Google Shape;105;p13"/>
          <p:cNvSpPr txBox="1"/>
          <p:nvPr>
            <p:ph idx="1" type="body"/>
          </p:nvPr>
        </p:nvSpPr>
        <p:spPr>
          <a:xfrm>
            <a:off x="457200" y="1371600"/>
            <a:ext cx="8229600" cy="4759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3360"/>
              <a:buFont typeface="Arial"/>
              <a:buChar char="•"/>
            </a:pPr>
            <a:r>
              <a:rPr b="1" i="0" lang="en-US" sz="28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Teoria do Impulso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folHlink"/>
              </a:buClr>
              <a:buSzPts val="3360"/>
              <a:buFont typeface="Arial"/>
              <a:buChar char="•"/>
            </a:pPr>
            <a:r>
              <a:rPr b="1" i="0" lang="en-US" sz="28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Essa teoria concentra-se nas necessidades biológicas que produzem estados desagradáveis de agitação. Somos motivados a reduzir a tensão por causa desta agitação.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120"/>
              </a:spcBef>
              <a:spcAft>
                <a:spcPts val="0"/>
              </a:spcAft>
              <a:buClr>
                <a:schemeClr val="folHlink"/>
              </a:buClr>
              <a:buSzPts val="3360"/>
              <a:buFont typeface="Arial"/>
              <a:buChar char="•"/>
            </a:pPr>
            <a:r>
              <a:rPr b="1" i="0" lang="en-US" sz="28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 Em um contexto de marketing, a tensão refere-se ao estado desagradável que existe se as necessidades de uma pessoa não são satisfeitas. </a:t>
            </a:r>
            <a:endParaRPr/>
          </a:p>
          <a:p>
            <a:pPr indent="-129540" lvl="0" marL="342900" marR="0" rtl="0" algn="l">
              <a:spcBef>
                <a:spcPts val="1120"/>
              </a:spcBef>
              <a:spcAft>
                <a:spcPts val="0"/>
              </a:spcAft>
              <a:buClr>
                <a:schemeClr val="folHlink"/>
              </a:buClr>
              <a:buSzPts val="3360"/>
              <a:buFont typeface="Arial"/>
              <a:buNone/>
            </a:pPr>
            <a:r>
              <a:t/>
            </a:r>
            <a:endParaRPr b="1" i="0" sz="28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70104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2-</a:t>
            </a:r>
            <a:fld id="{00000000-1234-1234-1234-123412341234}" type="slidenum">
              <a:rPr b="1" i="0" lang="en-US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0" y="6324600"/>
            <a:ext cx="5791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r>
              <a:rPr b="0" i="0" lang="en-US" sz="1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r>
              <a:rPr b="0" i="0" lang="en-US" sz="1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Copyright © 2011 Pearson Education, Inc. publishing as Prentice Hall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4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Motivação</a:t>
            </a:r>
            <a:endParaRPr/>
          </a:p>
        </p:txBody>
      </p:sp>
      <p:sp>
        <p:nvSpPr>
          <p:cNvPr id="113" name="Google Shape;113;p14"/>
          <p:cNvSpPr txBox="1"/>
          <p:nvPr>
            <p:ph idx="1" type="body"/>
          </p:nvPr>
        </p:nvSpPr>
        <p:spPr>
          <a:xfrm>
            <a:off x="656625" y="1430338"/>
            <a:ext cx="8229600" cy="47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3120"/>
              <a:buFont typeface="Arial"/>
              <a:buChar char="•"/>
            </a:pPr>
            <a:r>
              <a:rPr b="1" i="0" lang="en-US" sz="26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Teoria da Expectativa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chemeClr val="folHlink"/>
              </a:buClr>
              <a:buSzPts val="3120"/>
              <a:buFont typeface="Arial"/>
              <a:buChar char="•"/>
            </a:pPr>
            <a:r>
              <a:rPr b="1" i="0" lang="en-US" sz="26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Sugere que o comportamento é amplamente impulsionado por expectativas de atingir resultados desejáveis – incentivos positivos -  em vez de ter uma origem interna.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chemeClr val="folHlink"/>
              </a:buClr>
              <a:buSzPts val="3120"/>
              <a:buFont typeface="Arial"/>
              <a:buChar char="•"/>
            </a:pPr>
            <a:r>
              <a:rPr b="1" i="0" lang="en-US" sz="26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Direção Motivacional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Clr>
                <a:schemeClr val="folHlink"/>
              </a:buClr>
              <a:buSzPts val="3120"/>
              <a:buFont typeface="Arial"/>
              <a:buChar char="•"/>
            </a:pPr>
            <a:r>
              <a:rPr b="1" i="0" lang="en-US" sz="26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Os motivos têm direção e força; a maioria das metas pode ser alcançada por uma série de caminhos, e o objetivo dos profissionais de marketing é convencer os consumidores de que a alternativa que eles lhes fornecem é a melhor oportunidade para alcançarem suas metas.</a:t>
            </a:r>
            <a:endParaRPr/>
          </a:p>
          <a:p>
            <a:pPr indent="-144780" lvl="0" marL="342900" marR="0" rtl="0" algn="l">
              <a:spcBef>
                <a:spcPts val="1040"/>
              </a:spcBef>
              <a:spcAft>
                <a:spcPts val="0"/>
              </a:spcAft>
              <a:buClr>
                <a:schemeClr val="folHlink"/>
              </a:buClr>
              <a:buSzPts val="3120"/>
              <a:buFont typeface="Arial"/>
              <a:buNone/>
            </a:pPr>
            <a:r>
              <a:t/>
            </a:r>
            <a:endParaRPr b="1" i="0" sz="26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70104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2-</a:t>
            </a:r>
            <a:fld id="{00000000-1234-1234-1234-123412341234}" type="slidenum">
              <a:rPr b="1" i="0" lang="en-US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0" y="6324600"/>
            <a:ext cx="5791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r>
              <a:rPr b="0" i="0" lang="en-US" sz="1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r>
              <a:rPr b="0" i="0" lang="en-US" sz="1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Copyright © 2011 Pearson Education, Inc. publishing as Prentice Hall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5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Motivação</a:t>
            </a:r>
            <a:endParaRPr/>
          </a:p>
        </p:txBody>
      </p:sp>
      <p:sp>
        <p:nvSpPr>
          <p:cNvPr id="121" name="Google Shape;121;p15"/>
          <p:cNvSpPr txBox="1"/>
          <p:nvPr>
            <p:ph idx="1" type="body"/>
          </p:nvPr>
        </p:nvSpPr>
        <p:spPr>
          <a:xfrm>
            <a:off x="457200" y="1371600"/>
            <a:ext cx="8229600" cy="4759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</a:pPr>
            <a:r>
              <a:rPr b="1" i="0" lang="en-US" sz="24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Conflitos motivacionais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</a:pPr>
            <a:r>
              <a:rPr b="1" i="0" lang="en-US" sz="24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Uma meta tem valência, o que significa que pode ser positiva ou negativa. Uma meta com valência positiva é aquela para qual os consumidores dirigem seu comportamento; eles estão motivados a alcançar a meta e procurarão produtos que sejam instrumentos para atingi-la. Quando uma meta tem valência negativa, os consumidores desejam evitar um resultado negativo. Eles estruturarão suas atividades de consumo para reduzirem as chances de chegarem a tal resultado.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</a:pPr>
            <a:r>
              <a:rPr b="1" i="0" lang="en-US" sz="24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  <a:p>
            <a:pPr indent="-160020" lvl="0" marL="342900" marR="0" rtl="0" algn="l">
              <a:spcBef>
                <a:spcPts val="96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None/>
            </a:pPr>
            <a:r>
              <a:t/>
            </a:r>
            <a:endParaRPr b="1" i="0" sz="24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70104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2-</a:t>
            </a:r>
            <a:fld id="{00000000-1234-1234-1234-123412341234}" type="slidenum">
              <a:rPr b="1" i="0" lang="en-US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0" y="6324600"/>
            <a:ext cx="5791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r>
              <a:rPr b="0" i="0" lang="en-US" sz="1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r>
              <a:rPr b="0" i="0" lang="en-US" sz="1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Copyright © 2011 Pearson Education, Inc. publishing as Prentice Hall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Motivação</a:t>
            </a:r>
            <a:endParaRPr/>
          </a:p>
        </p:txBody>
      </p:sp>
      <p:sp>
        <p:nvSpPr>
          <p:cNvPr id="129" name="Google Shape;129;p16"/>
          <p:cNvSpPr txBox="1"/>
          <p:nvPr>
            <p:ph idx="1" type="body"/>
          </p:nvPr>
        </p:nvSpPr>
        <p:spPr>
          <a:xfrm>
            <a:off x="457200" y="1371600"/>
            <a:ext cx="8229600" cy="4759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•"/>
            </a:pPr>
            <a:r>
              <a:rPr b="1" i="0" lang="en-US" sz="16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Conflito aproximação-aproximação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•"/>
            </a:pPr>
            <a:r>
              <a:rPr b="1" i="0" lang="en-US" sz="16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A pessoa deve escolher entre duas alternativas desejáveis. Uma pessoa pode ter que escolher entre passar férias na praia ou no campo. A teoria da dissonância cognitiva fundamenta-se na premissa de que as pessoas têm uma necessidade de ordem e coerência em suas vidas e de que um estado de tensão se cria quando crenças e comportamentos estão em conflito. O conflito que surge durante a escolha entre duas alternativas pode ser resolvido mediante um processo de redução de dissonância cognitiva, em que as pessoas se sentem motivadas a reduzir esta incoerência de modo a eliminar uma tensão desagradável.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•"/>
            </a:pPr>
            <a:r>
              <a:rPr b="1" i="0" lang="en-US" sz="16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Conflito aproximação-evitação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•"/>
            </a:pPr>
            <a:r>
              <a:rPr b="1" i="0" lang="en-US" sz="16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Muitos dos produtos e serviços que desejamos têm consequências negativas também. Podemos nos sentir culpados ao consumir aquele delicioso Sundae de chocolate. Quando desejamos uma meta, mas queremos evita-la ao mesmo tempo, há um conflito aproximação-evitação. 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•"/>
            </a:pPr>
            <a:r>
              <a:rPr b="1" i="0" lang="en-US" sz="16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Conflito evitação-evitação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•"/>
            </a:pPr>
            <a:r>
              <a:rPr b="1" i="0" lang="en-US" sz="16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Às vezes, os consumidores encontram-se entre a cruz e a espada. Podem encarar uma escolha entre duas opções indesejáveis, como gastar mais dinheiro para mais uma vez consertar seu carro velho ou comprar um carro novo e se comprometer com o pagamento de 60 prestações. </a:t>
            </a:r>
            <a:endParaRPr/>
          </a:p>
          <a:p>
            <a:pPr indent="-22098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None/>
            </a:pPr>
            <a:r>
              <a:t/>
            </a:r>
            <a:endParaRPr b="1" i="0" sz="16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70104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2-</a:t>
            </a:r>
            <a:fld id="{00000000-1234-1234-1234-123412341234}" type="slidenum">
              <a:rPr b="1" i="0" lang="en-US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0" y="6324600"/>
            <a:ext cx="5791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r>
              <a:rPr b="0" i="0" lang="en-US" sz="1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r>
              <a:rPr b="0" i="0" lang="en-US" sz="1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Copyright © 2011 Pearson Education, Inc. publishing as Prentice Hall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7"/>
          <p:cNvSpPr txBox="1"/>
          <p:nvPr>
            <p:ph type="title"/>
          </p:nvPr>
        </p:nvSpPr>
        <p:spPr>
          <a:xfrm>
            <a:off x="457200" y="277812"/>
            <a:ext cx="8229600" cy="865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Exercício em Grupos</a:t>
            </a:r>
            <a:endParaRPr/>
          </a:p>
        </p:txBody>
      </p:sp>
      <p:sp>
        <p:nvSpPr>
          <p:cNvPr id="138" name="Google Shape;138;p17"/>
          <p:cNvSpPr txBox="1"/>
          <p:nvPr>
            <p:ph idx="1" type="body"/>
          </p:nvPr>
        </p:nvSpPr>
        <p:spPr>
          <a:xfrm>
            <a:off x="457200" y="1371600"/>
            <a:ext cx="8229600" cy="4759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120"/>
              </a:spcBef>
              <a:spcAft>
                <a:spcPts val="0"/>
              </a:spcAft>
              <a:buNone/>
            </a:pPr>
            <a:r>
              <a:rPr lang="en-US"/>
              <a:t>Deem pelo menos um exemplo, em comportamento do consumidor, para cada 1 dos conflitos motivacionais:</a:t>
            </a:r>
            <a:endParaRPr/>
          </a:p>
          <a:p>
            <a:pPr indent="-441960" lvl="0" marL="457200" rtl="0" algn="l">
              <a:spcBef>
                <a:spcPts val="1120"/>
              </a:spcBef>
              <a:spcAft>
                <a:spcPts val="0"/>
              </a:spcAft>
              <a:buSzPts val="3360"/>
              <a:buChar char="•"/>
            </a:pPr>
            <a:r>
              <a:rPr lang="en-US"/>
              <a:t>aproximação - aproximação</a:t>
            </a:r>
            <a:endParaRPr/>
          </a:p>
          <a:p>
            <a:pPr indent="-441960" lvl="0" marL="457200" rtl="0" algn="l">
              <a:spcBef>
                <a:spcPts val="0"/>
              </a:spcBef>
              <a:spcAft>
                <a:spcPts val="0"/>
              </a:spcAft>
              <a:buSzPts val="3360"/>
              <a:buChar char="•"/>
            </a:pPr>
            <a:r>
              <a:rPr lang="en-US"/>
              <a:t>aproximação - evitação</a:t>
            </a:r>
            <a:endParaRPr/>
          </a:p>
          <a:p>
            <a:pPr indent="-441960" lvl="0" marL="457200" rtl="0" algn="l">
              <a:spcBef>
                <a:spcPts val="0"/>
              </a:spcBef>
              <a:spcAft>
                <a:spcPts val="0"/>
              </a:spcAft>
              <a:buSzPts val="3360"/>
              <a:buChar char="•"/>
            </a:pPr>
            <a:r>
              <a:rPr lang="en-US"/>
              <a:t>evitação - evitação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/>
          <p:nvPr>
            <p:ph type="title"/>
          </p:nvPr>
        </p:nvSpPr>
        <p:spPr>
          <a:xfrm>
            <a:off x="457200" y="228600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Motivação</a:t>
            </a:r>
            <a:endParaRPr/>
          </a:p>
        </p:txBody>
      </p:sp>
      <p:sp>
        <p:nvSpPr>
          <p:cNvPr id="144" name="Google Shape;144;p18"/>
          <p:cNvSpPr txBox="1"/>
          <p:nvPr>
            <p:ph idx="1" type="body"/>
          </p:nvPr>
        </p:nvSpPr>
        <p:spPr>
          <a:xfrm>
            <a:off x="457200" y="1371600"/>
            <a:ext cx="8229600" cy="4759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Arial"/>
              <a:buChar char="•"/>
            </a:pPr>
            <a:r>
              <a:rPr b="1" i="0" lang="en-US" sz="18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Entender a motivação é entender porque os consumidores fazem o que fazem. </a:t>
            </a:r>
            <a:endParaRPr/>
          </a:p>
          <a:p>
            <a:pPr indent="-205740" lvl="0" marL="342900" rtl="0" algn="l">
              <a:lnSpc>
                <a:spcPct val="80000"/>
              </a:lnSpc>
              <a:spcBef>
                <a:spcPts val="72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Arial"/>
              <a:buNone/>
            </a:pPr>
            <a:r>
              <a:t/>
            </a:r>
            <a:endParaRPr b="1" i="0" sz="18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72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Arial"/>
              <a:buChar char="•"/>
            </a:pPr>
            <a:r>
              <a:rPr b="1" i="0" lang="en-US" sz="18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Motivação: definida como um “estado de agitação/excitação interna”, com a energia direcionada para a concretização de uma meta</a:t>
            </a:r>
            <a:endParaRPr/>
          </a:p>
          <a:p>
            <a:pPr indent="-205740" lvl="0" marL="342900" rtl="0" algn="l">
              <a:lnSpc>
                <a:spcPct val="80000"/>
              </a:lnSpc>
              <a:spcBef>
                <a:spcPts val="72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Arial"/>
              <a:buNone/>
            </a:pPr>
            <a:r>
              <a:t/>
            </a:r>
            <a:endParaRPr b="1" i="0" sz="18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72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Arial"/>
              <a:buChar char="•"/>
            </a:pPr>
            <a:r>
              <a:rPr b="1" i="0" lang="en-US" sz="18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Impulso: grau de agitação/excitação para reduzir a tensão e atingir a </a:t>
            </a:r>
            <a:r>
              <a:rPr b="1" i="0" lang="en-US" sz="1800" u="sng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homeostase</a:t>
            </a:r>
            <a:endParaRPr b="1" i="0" sz="18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Arial"/>
              <a:buChar char="•"/>
            </a:pPr>
            <a:r>
              <a:rPr b="1" i="0" lang="en-US" sz="18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Rota específica para reduzir o impulso é cultural e individualmente determinada</a:t>
            </a:r>
            <a:endParaRPr/>
          </a:p>
          <a:p>
            <a:pPr indent="-205740" lvl="0" marL="342900" rtl="0" algn="l">
              <a:lnSpc>
                <a:spcPct val="80000"/>
              </a:lnSpc>
              <a:spcBef>
                <a:spcPts val="72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Arial"/>
              <a:buNone/>
            </a:pPr>
            <a:r>
              <a:t/>
            </a:r>
            <a:endParaRPr b="1" i="0" sz="18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342900" rtl="0" algn="l">
              <a:lnSpc>
                <a:spcPct val="80000"/>
              </a:lnSpc>
              <a:spcBef>
                <a:spcPts val="72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Arial"/>
              <a:buNone/>
            </a:pPr>
            <a:r>
              <a:t/>
            </a:r>
            <a:endParaRPr b="1" i="0" sz="18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72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Arial"/>
              <a:buChar char="•"/>
            </a:pPr>
            <a:r>
              <a:rPr b="1" i="0" lang="en-US" sz="18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Tensão: discrepância entre o estado presente e o estado ideal</a:t>
            </a:r>
            <a:endParaRPr/>
          </a:p>
          <a:p>
            <a:pPr indent="-205740" lvl="0" marL="342900" rtl="0" algn="l">
              <a:lnSpc>
                <a:spcPct val="80000"/>
              </a:lnSpc>
              <a:spcBef>
                <a:spcPts val="72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Arial"/>
              <a:buNone/>
            </a:pPr>
            <a:r>
              <a:t/>
            </a:r>
            <a:endParaRPr b="1" i="0" sz="18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80000"/>
              </a:lnSpc>
              <a:spcBef>
                <a:spcPts val="72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Arial"/>
              <a:buChar char="•"/>
            </a:pPr>
            <a:r>
              <a:rPr b="1" i="0" lang="en-US" sz="18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O grau de motivação de alguém depende da distância entre o estado presente e a meta ou objetivo (estado ideal)</a:t>
            </a:r>
            <a:endParaRPr/>
          </a:p>
          <a:p>
            <a:pPr indent="-205740" lvl="0" marL="342900" rtl="0" algn="l">
              <a:lnSpc>
                <a:spcPct val="80000"/>
              </a:lnSpc>
              <a:spcBef>
                <a:spcPts val="720"/>
              </a:spcBef>
              <a:spcAft>
                <a:spcPts val="0"/>
              </a:spcAft>
              <a:buClr>
                <a:schemeClr val="folHlink"/>
              </a:buClr>
              <a:buSzPts val="2160"/>
              <a:buFont typeface="Arial"/>
              <a:buNone/>
            </a:pPr>
            <a:r>
              <a:t/>
            </a:r>
            <a:endParaRPr b="1" i="0" sz="18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740" lvl="0" marL="342900" rtl="0" algn="l">
              <a:spcBef>
                <a:spcPts val="720"/>
              </a:spcBef>
              <a:spcAft>
                <a:spcPts val="0"/>
              </a:spcAft>
              <a:buSzPts val="2160"/>
              <a:buFont typeface="Arial"/>
              <a:buNone/>
            </a:pPr>
            <a:r>
              <a:t/>
            </a:r>
            <a:endParaRPr b="1" i="0" sz="18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Motivação</a:t>
            </a:r>
            <a:endParaRPr/>
          </a:p>
        </p:txBody>
      </p:sp>
      <p:sp>
        <p:nvSpPr>
          <p:cNvPr id="150" name="Google Shape;150;p19"/>
          <p:cNvSpPr txBox="1"/>
          <p:nvPr>
            <p:ph idx="1" type="body"/>
          </p:nvPr>
        </p:nvSpPr>
        <p:spPr>
          <a:xfrm>
            <a:off x="457200" y="1371600"/>
            <a:ext cx="8229600" cy="4759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</a:pPr>
            <a:r>
              <a:rPr b="1" i="0" lang="en-US" sz="24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Teoria do impulso (fatores biológicos)  X Teoria da expectativa (fatores cognitivos – expectativas de se atingir resultados desejáveis)</a:t>
            </a:r>
            <a:endParaRPr/>
          </a:p>
          <a:p>
            <a:pPr indent="-160020" lvl="0" marL="3429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None/>
            </a:pPr>
            <a:r>
              <a:t/>
            </a:r>
            <a:endParaRPr b="1" i="0" sz="24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</a:pPr>
            <a:r>
              <a:rPr b="1" i="0" lang="en-US" sz="24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Termo impulso refere-se aos processos físicos e cognitivos.</a:t>
            </a:r>
            <a:endParaRPr/>
          </a:p>
          <a:p>
            <a:pPr indent="-160020" lvl="0" marL="3429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None/>
            </a:pPr>
            <a:r>
              <a:t/>
            </a:r>
            <a:endParaRPr b="1" i="0" sz="24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Char char="•"/>
            </a:pPr>
            <a:r>
              <a:rPr b="1" i="0" lang="en-US" sz="2400" u="none">
                <a:solidFill>
                  <a:srgbClr val="000066"/>
                </a:solidFill>
                <a:latin typeface="Arial"/>
                <a:ea typeface="Arial"/>
                <a:cs typeface="Arial"/>
                <a:sym typeface="Arial"/>
              </a:rPr>
              <a:t>Desejo: manifestação de uma necessidade</a:t>
            </a:r>
            <a:endParaRPr/>
          </a:p>
          <a:p>
            <a:pPr indent="-160020" lvl="0" marL="3429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None/>
            </a:pPr>
            <a:r>
              <a:t/>
            </a:r>
            <a:endParaRPr b="1" i="0" sz="24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2880"/>
              <a:buFont typeface="Arial"/>
              <a:buNone/>
            </a:pPr>
            <a:r>
              <a:t/>
            </a:r>
            <a:endParaRPr b="1" i="0" sz="24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0020" lvl="0" marL="3429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folHlink"/>
              </a:buClr>
              <a:buSzPts val="2880"/>
              <a:buFont typeface="Arial"/>
              <a:buNone/>
            </a:pPr>
            <a:r>
              <a:t/>
            </a:r>
            <a:endParaRPr b="1" i="0" sz="24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0020" lvl="0" marL="342900" rtl="0" algn="l">
              <a:spcBef>
                <a:spcPts val="960"/>
              </a:spcBef>
              <a:spcAft>
                <a:spcPts val="0"/>
              </a:spcAft>
              <a:buSzPts val="2880"/>
              <a:buFont typeface="Arial"/>
              <a:buNone/>
            </a:pPr>
            <a:r>
              <a:t/>
            </a:r>
            <a:endParaRPr b="1" i="0" sz="2400" u="none">
              <a:solidFill>
                <a:srgbClr val="00006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>
            <p:ph type="title"/>
          </p:nvPr>
        </p:nvSpPr>
        <p:spPr>
          <a:xfrm>
            <a:off x="457200" y="277812"/>
            <a:ext cx="8229600" cy="865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66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0066"/>
                </a:solidFill>
                <a:latin typeface="Arial"/>
                <a:ea typeface="Arial"/>
                <a:cs typeface="Arial"/>
                <a:sym typeface="Arial"/>
              </a:rPr>
              <a:t>Teoria do Envolvimento</a:t>
            </a:r>
            <a:endParaRPr/>
          </a:p>
        </p:txBody>
      </p:sp>
      <p:sp>
        <p:nvSpPr>
          <p:cNvPr id="156" name="Google Shape;156;p20"/>
          <p:cNvSpPr txBox="1"/>
          <p:nvPr/>
        </p:nvSpPr>
        <p:spPr>
          <a:xfrm>
            <a:off x="7010400" y="6477000"/>
            <a:ext cx="213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300"/>
              </a:buClr>
              <a:buSzPts val="1200"/>
              <a:buFont typeface="Arial"/>
              <a:buNone/>
            </a:pPr>
            <a:r>
              <a:rPr b="1" i="0" lang="en-US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2-</a:t>
            </a:r>
            <a:fld id="{00000000-1234-1234-1234-123412341234}" type="slidenum">
              <a:rPr b="1" i="0" lang="en-US" sz="1200" u="none">
                <a:solidFill>
                  <a:srgbClr val="CC33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  <p:sp>
        <p:nvSpPr>
          <p:cNvPr id="157" name="Google Shape;157;p20"/>
          <p:cNvSpPr txBox="1"/>
          <p:nvPr/>
        </p:nvSpPr>
        <p:spPr>
          <a:xfrm>
            <a:off x="0" y="6324600"/>
            <a:ext cx="57912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r>
              <a:rPr b="0" i="0" lang="en-US" sz="1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*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Verdana"/>
              <a:buNone/>
            </a:pPr>
            <a:r>
              <a:rPr b="0" i="0" lang="en-US" sz="1000" u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Copyright © 2011 Pearson Education, Inc. publishing as Prentice Hall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58" name="Google Shape;158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2388" r="2388" t="0"/>
          <a:stretch/>
        </p:blipFill>
        <p:spPr>
          <a:xfrm>
            <a:off x="457200" y="1371600"/>
            <a:ext cx="8229600" cy="4759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5_Level">
  <a:themeElements>
    <a:clrScheme name="Level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